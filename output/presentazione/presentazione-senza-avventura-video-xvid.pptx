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26.xml" ContentType="application/vnd.openxmlformats-officedocument.presentationml.slide+xml"/>
  <Override PartName="/ppt/slides/slide27.xml" ContentType="application/vnd.openxmlformats-officedocument.presentationml.slide+xml"/>
  <Default Extension="avi" ContentType="video/x-msvideo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30"/>
    <p:sldId id="282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Relationship Id="rId30" Type="http://schemas.openxmlformats.org/officeDocument/2006/relationships/slide" Target="slides/slide26.xml"/><Relationship Id="rId31" Type="http://schemas.openxmlformats.org/officeDocument/2006/relationships/slide" Target="slides/slide27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2A305C3-1FB4-4641-9364-8B26DE22FA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6E091C-A285-44C5-8FEB-FAFEB9397A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DB0971-BF3E-48F3-90FD-0C042F838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037ED4-D98D-429B-8069-0B5E70F6A8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26245C-C4C8-4881-BBE5-B6196CA53F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95C78-B797-4326-A0C4-A8D19C9BC3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34C5D4-7496-4A5D-B41A-6CB683A389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AA86252-3A46-4D4C-A787-B38AD9C679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6D6DB9-943D-47AA-9473-F97EF3792C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F39EE-EC42-4589-BB61-CD78BE0FF1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5EB668-BF8A-4452-BCAB-10A88A5ABA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0E0A91-8CDB-43C7-8B16-9150F68771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32B280-C913-486D-B5B7-3EA460D85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88868D-F148-468B-82BE-9EF3A48638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5B0A1A-AEF0-4200-8E6C-2FA1927E3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A371560-35EB-45A5-B55E-D3FA39B348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93FA6C2-44B4-48B5-9AE4-A2E9EAFC57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172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5724698-E416-46F5-A0E8-5E509E32C1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3A5E3ED-AA9D-4A5F-9B0F-5A490A477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55BE53-3718-467E-AAF8-1A7A705EB9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846F7B-F066-4EC9-9769-177D51E42E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2595240"/>
            <a:ext cx="53539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5A2C39-83CA-4C2E-A480-BD9ED7704D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3353040" y="160452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3353040" y="2595240"/>
            <a:ext cx="261252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CF2791-B49C-4478-BDFA-6CB2B20FDB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241956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4230000" y="160452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241956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4230000" y="2595240"/>
            <a:ext cx="1723680" cy="90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6000"/>
          </a:bodyPr>
          <a:p>
            <a:pPr indent="0">
              <a:spcBef>
                <a:spcPts val="1417"/>
              </a:spcBef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029197-CD97-41DC-A7DF-1D9AB5E7D89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324494-871C-4805-B651-E617E1C21BF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87474B-9CEE-4205-97EA-25A488FF951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microsoft.com/office/2007/relationships/media" Target="../media/avventura-slideshow.avi"/><Relationship Id="rId3" Type="http://schemas.openxmlformats.org/officeDocument/2006/relationships/video" Target="../media/avventura-slideshow.avi"/><Relationship Id="rId4" Type="http://schemas.openxmlformats.org/officeDocument/2006/relationships/image" Target="../media/avventura-poster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7772400" y="0"/>
            <a:ext cx="4418640" cy="6857280"/>
          </a:xfrm>
          <a:prstGeom prst="rect">
            <a:avLst/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85" name="Connector 2"/>
          <p:cNvCxnSpPr/>
          <p:nvPr/>
        </p:nvCxnSpPr>
        <p:spPr>
          <a:xfrm>
            <a:off x="731520" y="65808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86" name="Connector 3"/>
          <p:cNvCxnSpPr/>
          <p:nvPr/>
        </p:nvCxnSpPr>
        <p:spPr>
          <a:xfrm>
            <a:off x="731520" y="6217920"/>
            <a:ext cx="1065348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87" name="TextBox 4"/>
          <p:cNvSpPr/>
          <p:nvPr/>
        </p:nvSpPr>
        <p:spPr>
          <a:xfrm>
            <a:off x="804600" y="987480"/>
            <a:ext cx="62172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UN'AVVENTURA DI RUOLO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749880" y="1572840"/>
            <a:ext cx="704016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46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</a:t>
            </a:r>
            <a:endParaRPr b="0" lang="it-IT" sz="46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9" name="Connector 6"/>
          <p:cNvCxnSpPr/>
          <p:nvPr/>
        </p:nvCxnSpPr>
        <p:spPr>
          <a:xfrm>
            <a:off x="822960" y="2953440"/>
            <a:ext cx="4847040" cy="720"/>
          </a:xfrm>
          <a:prstGeom prst="straightConnector1">
            <a:avLst/>
          </a:prstGeom>
          <a:ln w="17780">
            <a:solidFill>
              <a:srgbClr val="d1a35d"/>
            </a:solidFill>
            <a:round/>
          </a:ln>
        </p:spPr>
      </p:cxnSp>
      <p:sp>
        <p:nvSpPr>
          <p:cNvPr id="90" name="TextBox 7"/>
          <p:cNvSpPr/>
          <p:nvPr/>
        </p:nvSpPr>
        <p:spPr>
          <a:xfrm>
            <a:off x="804600" y="3200400"/>
            <a:ext cx="658296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L'Eredità di Daven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831960" y="4069080"/>
            <a:ext cx="603432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Le vostre scelte. Un mondo vivo.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storia ancora da scrivere.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822960" y="5257800"/>
            <a:ext cx="12978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877680" y="5355000"/>
            <a:ext cx="11880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879985"/>
                </a:solidFill>
                <a:latin typeface="DejaVu Sans"/>
                <a:ea typeface="DejaVu Sans"/>
              </a:rPr>
              <a:t>FANTASY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2240280" y="5257800"/>
            <a:ext cx="118800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TextBox 12"/>
          <p:cNvSpPr/>
          <p:nvPr/>
        </p:nvSpPr>
        <p:spPr>
          <a:xfrm>
            <a:off x="2295000" y="5355000"/>
            <a:ext cx="107820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SURVIVAL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3547800" y="5257800"/>
            <a:ext cx="1142280" cy="38340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TextBox 14"/>
          <p:cNvSpPr/>
          <p:nvPr/>
        </p:nvSpPr>
        <p:spPr>
          <a:xfrm>
            <a:off x="3602880" y="5355000"/>
            <a:ext cx="1032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000" spc="-1" strike="noStrike">
                <a:solidFill>
                  <a:srgbClr val="bd7868"/>
                </a:solidFill>
                <a:latin typeface="DejaVu Sans"/>
                <a:ea typeface="DejaVu Sans"/>
              </a:rPr>
              <a:t>INTRIGHI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Oval 15"/>
          <p:cNvSpPr/>
          <p:nvPr/>
        </p:nvSpPr>
        <p:spPr>
          <a:xfrm>
            <a:off x="8266320" y="1801440"/>
            <a:ext cx="2522880" cy="2522880"/>
          </a:xfrm>
          <a:prstGeom prst="ellipse">
            <a:avLst/>
          </a:prstGeom>
          <a:noFill/>
          <a:ln w="17780">
            <a:solidFill>
              <a:srgbClr val="d1a35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cxnSp>
        <p:nvCxnSpPr>
          <p:cNvPr id="99" name="Connector 16"/>
          <p:cNvCxnSpPr/>
          <p:nvPr/>
        </p:nvCxnSpPr>
        <p:spPr>
          <a:xfrm>
            <a:off x="10881360" y="3063240"/>
            <a:ext cx="15588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0" name="Connector 17"/>
          <p:cNvCxnSpPr/>
          <p:nvPr/>
        </p:nvCxnSpPr>
        <p:spPr>
          <a:xfrm>
            <a:off x="10484640" y="402012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1" name="Connector 18"/>
          <p:cNvCxnSpPr/>
          <p:nvPr/>
        </p:nvCxnSpPr>
        <p:spPr>
          <a:xfrm>
            <a:off x="9527760" y="4416480"/>
            <a:ext cx="720" cy="15624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2" name="Connector 19"/>
          <p:cNvCxnSpPr/>
          <p:nvPr/>
        </p:nvCxnSpPr>
        <p:spPr>
          <a:xfrm flipH="1">
            <a:off x="8461080" y="402012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3" name="Connector 20"/>
          <p:cNvCxnSpPr/>
          <p:nvPr/>
        </p:nvCxnSpPr>
        <p:spPr>
          <a:xfrm flipH="1">
            <a:off x="8019000" y="3063240"/>
            <a:ext cx="156240" cy="7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4" name="Connector 21"/>
          <p:cNvCxnSpPr/>
          <p:nvPr/>
        </p:nvCxnSpPr>
        <p:spPr>
          <a:xfrm flipH="1" flipV="1">
            <a:off x="8461080" y="1996200"/>
            <a:ext cx="11052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5" name="Connector 22"/>
          <p:cNvCxnSpPr/>
          <p:nvPr/>
        </p:nvCxnSpPr>
        <p:spPr>
          <a:xfrm flipV="1">
            <a:off x="9527760" y="1554480"/>
            <a:ext cx="720" cy="15588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6" name="Connector 23"/>
          <p:cNvCxnSpPr/>
          <p:nvPr/>
        </p:nvCxnSpPr>
        <p:spPr>
          <a:xfrm flipV="1">
            <a:off x="10484640" y="1996200"/>
            <a:ext cx="110880" cy="110520"/>
          </a:xfrm>
          <a:prstGeom prst="straightConnector1">
            <a:avLst/>
          </a:prstGeom>
          <a:ln w="13970">
            <a:solidFill>
              <a:srgbClr val="d1a35d"/>
            </a:solidFill>
            <a:round/>
          </a:ln>
        </p:spPr>
      </p:cxnSp>
      <p:cxnSp>
        <p:nvCxnSpPr>
          <p:cNvPr id="107" name="Connector 24"/>
          <p:cNvCxnSpPr/>
          <p:nvPr/>
        </p:nvCxnSpPr>
        <p:spPr>
          <a:xfrm>
            <a:off x="9527760" y="2185200"/>
            <a:ext cx="720" cy="175644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8" name="Connector 25"/>
          <p:cNvCxnSpPr/>
          <p:nvPr/>
        </p:nvCxnSpPr>
        <p:spPr>
          <a:xfrm>
            <a:off x="8650080" y="3063240"/>
            <a:ext cx="1756440" cy="720"/>
          </a:xfrm>
          <a:prstGeom prst="straightConnector1">
            <a:avLst/>
          </a:prstGeom>
          <a:ln w="10160">
            <a:solidFill>
              <a:srgbClr val="7f8c7c"/>
            </a:solidFill>
            <a:round/>
          </a:ln>
        </p:spPr>
      </p:cxnSp>
      <p:cxnSp>
        <p:nvCxnSpPr>
          <p:cNvPr id="109" name="Connector 26"/>
          <p:cNvCxnSpPr/>
          <p:nvPr/>
        </p:nvCxnSpPr>
        <p:spPr>
          <a:xfrm flipV="1">
            <a:off x="8814600" y="2788920"/>
            <a:ext cx="513000" cy="7138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0" name="Connector 27"/>
          <p:cNvCxnSpPr/>
          <p:nvPr/>
        </p:nvCxnSpPr>
        <p:spPr>
          <a:xfrm>
            <a:off x="9326880" y="2788920"/>
            <a:ext cx="366480" cy="38448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1" name="Connector 28"/>
          <p:cNvCxnSpPr/>
          <p:nvPr/>
        </p:nvCxnSpPr>
        <p:spPr>
          <a:xfrm flipV="1">
            <a:off x="9692640" y="2532600"/>
            <a:ext cx="439560" cy="6408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cxnSp>
        <p:nvCxnSpPr>
          <p:cNvPr id="112" name="Connector 29"/>
          <p:cNvCxnSpPr/>
          <p:nvPr/>
        </p:nvCxnSpPr>
        <p:spPr>
          <a:xfrm>
            <a:off x="10131480" y="2532600"/>
            <a:ext cx="146880" cy="970200"/>
          </a:xfrm>
          <a:prstGeom prst="straightConnector1">
            <a:avLst/>
          </a:prstGeom>
          <a:ln w="0">
            <a:solidFill>
              <a:srgbClr val="d1a35d"/>
            </a:solidFill>
          </a:ln>
        </p:spPr>
      </p:cxnSp>
      <p:sp>
        <p:nvSpPr>
          <p:cNvPr id="113" name="TextBox 30"/>
          <p:cNvSpPr/>
          <p:nvPr/>
        </p:nvSpPr>
        <p:spPr>
          <a:xfrm>
            <a:off x="7863840" y="4827960"/>
            <a:ext cx="3336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REAGISCE.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Box 31"/>
          <p:cNvSpPr/>
          <p:nvPr/>
        </p:nvSpPr>
        <p:spPr>
          <a:xfrm>
            <a:off x="822960" y="6437520"/>
            <a:ext cx="64000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PRESENTAZIONE DELLA CAMPAGNA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01  /  LA CAMPAGNA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di scelte e conseguenze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L'Eredità di Daven si svolge nel mondo di Skarheim, tra mito, rischio e politica.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1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2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7131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9"/>
          <p:cNvSpPr/>
          <p:nvPr/>
        </p:nvSpPr>
        <p:spPr>
          <a:xfrm>
            <a:off x="877680" y="2432160"/>
            <a:ext cx="49680" cy="141660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10789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Fantasy medievale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10789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mondo originale ispirato all'immaginario e alle leggende norrene.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43707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7" name="Rectangle 13"/>
          <p:cNvSpPr/>
          <p:nvPr/>
        </p:nvSpPr>
        <p:spPr>
          <a:xfrm>
            <a:off x="4535280" y="2432160"/>
            <a:ext cx="49680" cy="141660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47365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Ombre e sopravvivenza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Horror, risorse da gestire e decisioni che possono avere un costo.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8028360" y="2212920"/>
            <a:ext cx="3455640" cy="18554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1" name="Rectangle 17"/>
          <p:cNvSpPr/>
          <p:nvPr/>
        </p:nvSpPr>
        <p:spPr>
          <a:xfrm>
            <a:off x="8192880" y="2432160"/>
            <a:ext cx="49680" cy="141660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8394120" y="2441520"/>
            <a:ext cx="28339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Intrighi e libertà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scelte dei personaggi guidano la trama e ne determinano gli sviluppi.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960120" y="4880520"/>
            <a:ext cx="1024056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f3ebdd"/>
                </a:solidFill>
                <a:latin typeface="DejaVu Serif"/>
                <a:ea typeface="DejaVu Sans"/>
              </a:rPr>
              <a:t>Non siete qui per seguire una trama già scritta: siete qui per darle forma.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02  /  PRIMA DI INIZIARE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Temi e tono della campagna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affronta contenuti che potrebbero risultare intensi o delicati.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3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4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Rounded Rectangle 8"/>
          <p:cNvSpPr/>
          <p:nvPr/>
        </p:nvSpPr>
        <p:spPr>
          <a:xfrm>
            <a:off x="731520" y="2176200"/>
            <a:ext cx="3976920" cy="3400920"/>
          </a:xfrm>
          <a:prstGeom prst="roundRect">
            <a:avLst>
              <a:gd name="adj" fmla="val 16667"/>
            </a:avLst>
          </a:prstGeom>
          <a:solidFill>
            <a:srgbClr val="332a2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43" name="TextBox 9"/>
          <p:cNvSpPr/>
          <p:nvPr/>
        </p:nvSpPr>
        <p:spPr>
          <a:xfrm>
            <a:off x="1051560" y="2487240"/>
            <a:ext cx="3382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bd7868"/>
                </a:solidFill>
                <a:latin typeface="DejaVu Sans"/>
                <a:ea typeface="DejaVu Sans"/>
              </a:rPr>
              <a:t>AVVISO CONTENUTI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1051560" y="3035880"/>
            <a:ext cx="329112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Violenza fisica, mentale, sessuale e verbale; horror; intrighi politici; situazioni moralmente complesse.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Box 11"/>
          <p:cNvSpPr/>
          <p:nvPr/>
        </p:nvSpPr>
        <p:spPr>
          <a:xfrm>
            <a:off x="5166360" y="2331720"/>
            <a:ext cx="61714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SENZA RISPOSTE SEMPLICI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Box 12"/>
          <p:cNvSpPr/>
          <p:nvPr/>
        </p:nvSpPr>
        <p:spPr>
          <a:xfrm>
            <a:off x="5166360" y="2853000"/>
            <a:ext cx="617148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decisioni potrebbero non avere una soluzione giusta o sbagliata e le conseguenze non saranno sempre prevedibili.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7" name="Connector 13"/>
          <p:cNvCxnSpPr/>
          <p:nvPr/>
        </p:nvCxnSpPr>
        <p:spPr>
          <a:xfrm>
            <a:off x="5166360" y="4279320"/>
            <a:ext cx="599004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148" name="TextBox 14"/>
          <p:cNvSpPr/>
          <p:nvPr/>
        </p:nvSpPr>
        <p:spPr>
          <a:xfrm>
            <a:off x="5166360" y="4599360"/>
            <a:ext cx="5988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fantasy medievale è personalizzato per il tema della campagna, insieme a elementi survival e gestionali.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e spazio per tutti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semplici per proteggere l'esperienza condivisa.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2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53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54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58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durante il roleplay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schernire né deridere chi interpreta o interagisce con il mondo.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2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Ascoltare senza interrompere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Aspetta che il master o gli altri giocatori concludano la descrizione o l'interazione.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5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Partecipazione per tutti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Alza la mano se vuoi intervenire senza interrompere: il master ti darà spazio.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69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70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Scherzare, senza rovinare la scena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battute sono benvenute, finché non compromettono la sessione o il divertimento altrui.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03  /  AL TAVOLO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Fiducia, salute e correttezza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collaborazione viene prima della competizione tra giocatori.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1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05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0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Dubbi 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Per regole e situazioni, chiedi al master: a lui spettano approvazioni, interpretazioni e veti.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4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5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Rispetto delle decisioni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del master vanno rispettate, anche quando non coincidono con le aspettative.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vita privata viene prima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Se ti ammali, dai priorità alla salute e alla guarigione. Il gioco può aspettare.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2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Tiri di dado trasparenti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vietato falsificare, alterare o modificare il risultato di un tiro.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04  /  I GIOCATORI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personaggio è più della scheda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passato e le scelte dei personaggi avranno un peso nella storia.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19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0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3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vostre azioni muovono la trama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Le decisioni dei giocatori influenzeranno in larga parte lo sviluppo della campagna.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7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08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 è al centro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di ruolo è incoraggiato. Le statistiche sono linee guida, non l'unico modo di leggere il personaggio.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1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2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regole si imparano giocando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serve conoscere il sistema a memoria: giocatori esperti saranno disponibili ad aiutare.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5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Costruire un background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È richiesto per ogni personaggio; può essere individuale o condiviso, sempre coinvolgendo il master.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05  /  IL MASTER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master gioca con voi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è un avversario: il suo ruolo è far vivere un'esperienza coinvolgente.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2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2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ounded Rectangle 8"/>
          <p:cNvSpPr/>
          <p:nvPr/>
        </p:nvSpPr>
        <p:spPr>
          <a:xfrm>
            <a:off x="7315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6" name="Rectangle 9"/>
          <p:cNvSpPr/>
          <p:nvPr/>
        </p:nvSpPr>
        <p:spPr>
          <a:xfrm>
            <a:off x="896040" y="2395800"/>
            <a:ext cx="49680" cy="913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0972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Sfide, non una gara a eliminare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10972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mette i personaggi davanti a situazioni significative: non ha come obiettivo ucciderli.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Rounded Rectangle 12"/>
          <p:cNvSpPr/>
          <p:nvPr/>
        </p:nvSpPr>
        <p:spPr>
          <a:xfrm>
            <a:off x="6217920" y="21762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0" name="Rectangle 13"/>
          <p:cNvSpPr/>
          <p:nvPr/>
        </p:nvSpPr>
        <p:spPr>
          <a:xfrm>
            <a:off x="6382440" y="2395800"/>
            <a:ext cx="49680" cy="913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6583680" y="24048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Una storia condivisa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6583680" y="29808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mondo reagisce alle vostre azioni; il master non impone una trama prestabilita.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ounded Rectangle 16"/>
          <p:cNvSpPr/>
          <p:nvPr/>
        </p:nvSpPr>
        <p:spPr>
          <a:xfrm>
            <a:off x="7315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4" name="Rectangle 17"/>
          <p:cNvSpPr/>
          <p:nvPr/>
        </p:nvSpPr>
        <p:spPr>
          <a:xfrm>
            <a:off x="8960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10972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Spazio e ascolto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Box 19"/>
          <p:cNvSpPr/>
          <p:nvPr/>
        </p:nvSpPr>
        <p:spPr>
          <a:xfrm>
            <a:off x="10972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Tutti avranno l'opportunità di esprimersi e di approfondire il proprio background.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Rounded Rectangle 20"/>
          <p:cNvSpPr/>
          <p:nvPr/>
        </p:nvSpPr>
        <p:spPr>
          <a:xfrm>
            <a:off x="6217920" y="3767400"/>
            <a:ext cx="5229720" cy="1352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8" name="Rectangle 21"/>
          <p:cNvSpPr/>
          <p:nvPr/>
        </p:nvSpPr>
        <p:spPr>
          <a:xfrm>
            <a:off x="6382440" y="3986640"/>
            <a:ext cx="49680" cy="913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6583680" y="3996000"/>
            <a:ext cx="46080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Disponibilità e presenza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Box 23"/>
          <p:cNvSpPr/>
          <p:nvPr/>
        </p:nvSpPr>
        <p:spPr>
          <a:xfrm>
            <a:off x="6583680" y="4572000"/>
            <a:ext cx="460800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master è disponibile per dubbi e chiarimenti e sarà presente alle sessioni, salvo imprevisti.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06  /  IL MONDO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è un mondo vivo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scelta può lasciare traccia, anche quando sembra irrilevante.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4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45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46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868680" y="2286000"/>
            <a:ext cx="4754160" cy="146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persone incontrate, i conflitti affrontati e le decisioni prese cambieranno ciò che accadrà.</a:t>
            </a:r>
            <a:endParaRPr b="0" lang="it-IT" sz="24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9" name="Connector 9"/>
          <p:cNvCxnSpPr/>
          <p:nvPr/>
        </p:nvCxnSpPr>
        <p:spPr>
          <a:xfrm>
            <a:off x="5989320" y="2267640"/>
            <a:ext cx="720" cy="3036600"/>
          </a:xfrm>
          <a:prstGeom prst="straightConnector1">
            <a:avLst/>
          </a:prstGeom>
          <a:ln w="12700">
            <a:solidFill>
              <a:srgbClr val="3b4a4c"/>
            </a:solidFill>
            <a:round/>
          </a:ln>
        </p:spPr>
      </p:cxnSp>
      <p:sp>
        <p:nvSpPr>
          <p:cNvPr id="250" name="TextBox 10"/>
          <p:cNvSpPr/>
          <p:nvPr/>
        </p:nvSpPr>
        <p:spPr>
          <a:xfrm>
            <a:off x="6400800" y="235908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UNA STORIA GIÀ IN MOVIMENTO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Box 11"/>
          <p:cNvSpPr/>
          <p:nvPr/>
        </p:nvSpPr>
        <p:spPr>
          <a:xfrm>
            <a:off x="6400800" y="285300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è anche conseguenza di avventure già vissute a Skarheim.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Box 12"/>
          <p:cNvSpPr/>
          <p:nvPr/>
        </p:nvSpPr>
        <p:spPr>
          <a:xfrm>
            <a:off x="6400800" y="3913560"/>
            <a:ext cx="4571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ISPIRAZIONE, NON COPIA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13"/>
          <p:cNvSpPr/>
          <p:nvPr/>
        </p:nvSpPr>
        <p:spPr>
          <a:xfrm>
            <a:off x="6400800" y="4407480"/>
            <a:ext cx="466272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Miti e leggende norrene sono un punto di partenza: questa è una reinterpretazione.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14"/>
          <p:cNvSpPr/>
          <p:nvPr/>
        </p:nvSpPr>
        <p:spPr>
          <a:xfrm>
            <a:off x="868680" y="5139000"/>
            <a:ext cx="102862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i="1" lang="en-US" sz="1700" spc="-1" strike="noStrike">
                <a:solidFill>
                  <a:srgbClr val="d1a35d"/>
                </a:solidFill>
                <a:latin typeface="DejaVu Serif"/>
                <a:ea typeface="DejaVu Sans"/>
              </a:rPr>
              <a:t>La nostra storia non è una riproduzione delle leggende.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07  /  PERSONAGGI E RISORSE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Interpretare. Scegliere. Amministrare.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gioco può mettere alla prova sia le convinzioni sia le risorse dei personaggi.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59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60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09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Rounded Rectangle 8"/>
          <p:cNvSpPr/>
          <p:nvPr/>
        </p:nvSpPr>
        <p:spPr>
          <a:xfrm>
            <a:off x="7315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3" name="Rectangle 9"/>
          <p:cNvSpPr/>
          <p:nvPr/>
        </p:nvSpPr>
        <p:spPr>
          <a:xfrm>
            <a:off x="896040" y="2414160"/>
            <a:ext cx="49680" cy="14990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10972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Gioca qualcuno di diverso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1097280" y="2999160"/>
            <a:ext cx="46080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Non aver paura di interpretare caratteristiche, convinzioni e personalità lontane dalle tue: immedesimarsi fa parte del gioco.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ounded Rectangle 12"/>
          <p:cNvSpPr/>
          <p:nvPr/>
        </p:nvSpPr>
        <p:spPr>
          <a:xfrm>
            <a:off x="6217920" y="2194560"/>
            <a:ext cx="5229720" cy="19378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7" name="Rectangle 13"/>
          <p:cNvSpPr/>
          <p:nvPr/>
        </p:nvSpPr>
        <p:spPr>
          <a:xfrm>
            <a:off x="6382440" y="2414160"/>
            <a:ext cx="49680" cy="14990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6583680" y="2423160"/>
            <a:ext cx="460800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Le risorse non sono infinite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6583680" y="2999160"/>
            <a:ext cx="46080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Ricchezze e approvvigionamenti potrebbero essere limitati: gestirli farà parte dell'esperienza.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Rounded Rectangle 16"/>
          <p:cNvSpPr/>
          <p:nvPr/>
        </p:nvSpPr>
        <p:spPr>
          <a:xfrm>
            <a:off x="2971800" y="4572000"/>
            <a:ext cx="6235560" cy="74916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71" name="TextBox 17"/>
          <p:cNvSpPr/>
          <p:nvPr/>
        </p:nvSpPr>
        <p:spPr>
          <a:xfrm>
            <a:off x="3154680" y="4783320"/>
            <a:ext cx="58698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900" spc="-1" strike="noStrike">
                <a:solidFill>
                  <a:srgbClr val="d1a35d"/>
                </a:solidFill>
                <a:latin typeface="DejaVu Serif"/>
                <a:ea typeface="DejaVu Sans"/>
              </a:rPr>
              <a:t>1 MONETA D'ORO (MO)  =  1 PASTO</a:t>
            </a:r>
            <a:endParaRPr b="0" lang="it-IT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08  /  CONFLITTO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Il combattimento non è la risposta automatica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Gli scontri non sono il fulcro dell'avventura e molti saranno evitabili.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5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76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77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896040" y="2267640"/>
            <a:ext cx="498276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f3ebdd"/>
                </a:solidFill>
                <a:latin typeface="DejaVu Serif"/>
                <a:ea typeface="DejaVu Sans"/>
              </a:rPr>
              <a:t>Se cerchi una campagna in cui si combatte a ogni sessione, questa potrebbe non fare per te.</a:t>
            </a:r>
            <a:endParaRPr b="0" lang="it-IT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896040" y="4041720"/>
            <a:ext cx="4708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d1a35d"/>
                </a:solidFill>
                <a:latin typeface="DejaVu Sans"/>
                <a:ea typeface="DejaVu Sans"/>
              </a:rPr>
              <a:t>Le vostre scelte possono portare allo scontro — oppure evitarlo.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Rounded Rectangle 10"/>
          <p:cNvSpPr/>
          <p:nvPr/>
        </p:nvSpPr>
        <p:spPr>
          <a:xfrm>
            <a:off x="6263640" y="2286000"/>
            <a:ext cx="5119920" cy="7736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2" name="Rectangle 11"/>
          <p:cNvSpPr/>
          <p:nvPr/>
        </p:nvSpPr>
        <p:spPr>
          <a:xfrm>
            <a:off x="6428160" y="2505600"/>
            <a:ext cx="49680" cy="34668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3" name="TextBox 12"/>
          <p:cNvSpPr/>
          <p:nvPr/>
        </p:nvSpPr>
        <p:spPr>
          <a:xfrm>
            <a:off x="6629400" y="251460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Dialogo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Box 13"/>
          <p:cNvSpPr/>
          <p:nvPr/>
        </p:nvSpPr>
        <p:spPr>
          <a:xfrm>
            <a:off x="6629400" y="281772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Capire le ragioni degli altri.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ounded Rectangle 14"/>
          <p:cNvSpPr/>
          <p:nvPr/>
        </p:nvSpPr>
        <p:spPr>
          <a:xfrm>
            <a:off x="6263640" y="327348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6" name="Rectangle 15"/>
          <p:cNvSpPr/>
          <p:nvPr/>
        </p:nvSpPr>
        <p:spPr>
          <a:xfrm>
            <a:off x="6428160" y="3493080"/>
            <a:ext cx="49680" cy="34668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6629400" y="350208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Diplomazia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17"/>
          <p:cNvSpPr/>
          <p:nvPr/>
        </p:nvSpPr>
        <p:spPr>
          <a:xfrm>
            <a:off x="6629400" y="380520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Cercare un accordo.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ounded Rectangle 18"/>
          <p:cNvSpPr/>
          <p:nvPr/>
        </p:nvSpPr>
        <p:spPr>
          <a:xfrm>
            <a:off x="6263640" y="4260960"/>
            <a:ext cx="5119920" cy="7855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6428160" y="4480560"/>
            <a:ext cx="49680" cy="34668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291" name="TextBox 20"/>
          <p:cNvSpPr/>
          <p:nvPr/>
        </p:nvSpPr>
        <p:spPr>
          <a:xfrm>
            <a:off x="6629400" y="4489560"/>
            <a:ext cx="4498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3ebdd"/>
                </a:solidFill>
                <a:latin typeface="DejaVu Serif"/>
                <a:ea typeface="DejaVu Sans"/>
              </a:rPr>
              <a:t>Inganno e altre vie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6629400" y="4793040"/>
            <a:ext cx="44982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8b7a9"/>
                </a:solidFill>
                <a:latin typeface="DejaVu Sans"/>
                <a:ea typeface="DejaVu Sans"/>
              </a:rPr>
              <a:t>Un conflitto può avere più soluzioni.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09  /  SISTEMA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3.5, con regole su misura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La campagna usa una versione personalizzata e collaudata nel tempo.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96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297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298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ounded Rectangle 8"/>
          <p:cNvSpPr/>
          <p:nvPr/>
        </p:nvSpPr>
        <p:spPr>
          <a:xfrm>
            <a:off x="73152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896040" y="2432160"/>
            <a:ext cx="49680" cy="134352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2" name="TextBox 10"/>
          <p:cNvSpPr/>
          <p:nvPr/>
        </p:nvSpPr>
        <p:spPr>
          <a:xfrm>
            <a:off x="109728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 System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Box 11"/>
          <p:cNvSpPr/>
          <p:nvPr/>
        </p:nvSpPr>
        <p:spPr>
          <a:xfrm>
            <a:off x="1097280" y="3017520"/>
            <a:ext cx="28339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Il sistema di gioco di riferimento.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Rounded Rectangle 12"/>
          <p:cNvSpPr/>
          <p:nvPr/>
        </p:nvSpPr>
        <p:spPr>
          <a:xfrm>
            <a:off x="43707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5" name="Rectangle 13"/>
          <p:cNvSpPr/>
          <p:nvPr/>
        </p:nvSpPr>
        <p:spPr>
          <a:xfrm>
            <a:off x="4535280" y="2432160"/>
            <a:ext cx="49680" cy="134352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6" name="TextBox 14"/>
          <p:cNvSpPr/>
          <p:nvPr/>
        </p:nvSpPr>
        <p:spPr>
          <a:xfrm>
            <a:off x="47365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Regole homebrew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Box 15"/>
          <p:cNvSpPr/>
          <p:nvPr/>
        </p:nvSpPr>
        <p:spPr>
          <a:xfrm>
            <a:off x="47365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Regole personalizzate saranno presentate durante la campagna.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Rounded Rectangle 16"/>
          <p:cNvSpPr/>
          <p:nvPr/>
        </p:nvSpPr>
        <p:spPr>
          <a:xfrm>
            <a:off x="8028360" y="2212920"/>
            <a:ext cx="3455640" cy="17823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09" name="Rectangle 17"/>
          <p:cNvSpPr/>
          <p:nvPr/>
        </p:nvSpPr>
        <p:spPr>
          <a:xfrm>
            <a:off x="8192880" y="2432160"/>
            <a:ext cx="49680" cy="1343520"/>
          </a:xfrm>
          <a:prstGeom prst="rect">
            <a:avLst/>
          </a:prstGeom>
          <a:solidFill>
            <a:srgbClr val="bd786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0" name="TextBox 18"/>
          <p:cNvSpPr/>
          <p:nvPr/>
        </p:nvSpPr>
        <p:spPr>
          <a:xfrm>
            <a:off x="8394120" y="2441520"/>
            <a:ext cx="28339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come guida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Box 19"/>
          <p:cNvSpPr/>
          <p:nvPr/>
        </p:nvSpPr>
        <p:spPr>
          <a:xfrm>
            <a:off x="8394120" y="3017520"/>
            <a:ext cx="2833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Le regole ufficiali non sono intoccabili: conta l'approvazione del master.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Rounded Rectangle 20"/>
          <p:cNvSpPr/>
          <p:nvPr/>
        </p:nvSpPr>
        <p:spPr>
          <a:xfrm>
            <a:off x="1188720" y="4480560"/>
            <a:ext cx="9829080" cy="7855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13" name="TextBox 21"/>
          <p:cNvSpPr/>
          <p:nvPr/>
        </p:nvSpPr>
        <p:spPr>
          <a:xfrm>
            <a:off x="1417320" y="4748040"/>
            <a:ext cx="93718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Power play fortemente sconsigliato: l'obiettivo è giocare insieme.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10  /  MATERIALI DI GIOCO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Manuali consentiti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Il materiale ufficiale è disponibile: non serve acquistare manuali.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17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18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19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Rounded Rectangle 8"/>
          <p:cNvSpPr/>
          <p:nvPr/>
        </p:nvSpPr>
        <p:spPr>
          <a:xfrm>
            <a:off x="777240" y="2240280"/>
            <a:ext cx="507420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2" name="TextBox 9"/>
          <p:cNvSpPr/>
          <p:nvPr/>
        </p:nvSpPr>
        <p:spPr>
          <a:xfrm>
            <a:off x="1143000" y="2560320"/>
            <a:ext cx="438840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SISTEMI AMMESSI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1170360" y="3063240"/>
            <a:ext cx="438840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D&amp;D 3.5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f3ebdd"/>
                </a:solidFill>
                <a:latin typeface="DejaVu Serif"/>
                <a:ea typeface="DejaVu Sans"/>
              </a:rPr>
              <a:t>Pathfinder</a:t>
            </a:r>
            <a:endParaRPr b="0" lang="it-IT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Rounded Rectangle 11"/>
          <p:cNvSpPr/>
          <p:nvPr/>
        </p:nvSpPr>
        <p:spPr>
          <a:xfrm>
            <a:off x="6172200" y="2240280"/>
            <a:ext cx="5211360" cy="2285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25" name="TextBox 12"/>
          <p:cNvSpPr/>
          <p:nvPr/>
        </p:nvSpPr>
        <p:spPr>
          <a:xfrm>
            <a:off x="6537960" y="2560320"/>
            <a:ext cx="44798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879985"/>
                </a:solidFill>
                <a:latin typeface="DejaVu Sans"/>
                <a:ea typeface="DejaVu Sans"/>
              </a:rPr>
              <a:t>PRIMA DI USARLI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Box 13"/>
          <p:cNvSpPr/>
          <p:nvPr/>
        </p:nvSpPr>
        <p:spPr>
          <a:xfrm>
            <a:off x="6537960" y="3063240"/>
            <a:ext cx="44341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b8b7a9"/>
                </a:solidFill>
                <a:latin typeface="DejaVu Sans"/>
                <a:ea typeface="DejaVu Sans"/>
              </a:rPr>
              <a:t>Ogni opzione va approvata dal master, soprattutto se entra in conflitto con le regole personalizzate.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1005840" y="4983480"/>
            <a:ext cx="1019484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d1a35d"/>
                </a:solidFill>
                <a:latin typeface="DejaVu Serif"/>
                <a:ea typeface="DejaVu Sans"/>
              </a:rPr>
              <a:t>I manuali sono già in possesso del master.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11  /  OCCORRENTE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Cosa portare alla sessione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Poche cose pratiche per essere pronti a giocare.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1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32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33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Rounded Rectangle 8"/>
          <p:cNvSpPr/>
          <p:nvPr/>
        </p:nvSpPr>
        <p:spPr>
          <a:xfrm>
            <a:off x="749880" y="2212920"/>
            <a:ext cx="333684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6" name="Rectangle 9"/>
          <p:cNvSpPr/>
          <p:nvPr/>
        </p:nvSpPr>
        <p:spPr>
          <a:xfrm>
            <a:off x="914400" y="2432160"/>
            <a:ext cx="49680" cy="143496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37" name="TextBox 10"/>
          <p:cNvSpPr/>
          <p:nvPr/>
        </p:nvSpPr>
        <p:spPr>
          <a:xfrm>
            <a:off x="1115640" y="2441520"/>
            <a:ext cx="2715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700" spc="-1" strike="noStrike">
                <a:solidFill>
                  <a:srgbClr val="f3ebdd"/>
                </a:solidFill>
                <a:latin typeface="DejaVu Serif"/>
                <a:ea typeface="DejaVu Sans"/>
              </a:rPr>
              <a:t>Scrivere e correggere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Box 11"/>
          <p:cNvSpPr/>
          <p:nvPr/>
        </p:nvSpPr>
        <p:spPr>
          <a:xfrm>
            <a:off x="1115640" y="3017520"/>
            <a:ext cx="271512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matita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Una gomma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Un quaderno o un dispositivo per gli appunti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Rounded Rectangle 12"/>
          <p:cNvSpPr/>
          <p:nvPr/>
        </p:nvSpPr>
        <p:spPr>
          <a:xfrm>
            <a:off x="4370760" y="2212920"/>
            <a:ext cx="7040160" cy="18738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0" name="TextBox 13"/>
          <p:cNvSpPr/>
          <p:nvPr/>
        </p:nvSpPr>
        <p:spPr>
          <a:xfrm>
            <a:off x="4709160" y="2487240"/>
            <a:ext cx="63086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SET DI DADI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Rounded Rectangle 14"/>
          <p:cNvSpPr/>
          <p:nvPr/>
        </p:nvSpPr>
        <p:spPr>
          <a:xfrm>
            <a:off x="46634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2" name="TextBox 15"/>
          <p:cNvSpPr/>
          <p:nvPr/>
        </p:nvSpPr>
        <p:spPr>
          <a:xfrm>
            <a:off x="47001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d20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Rounded Rectangle 16"/>
          <p:cNvSpPr/>
          <p:nvPr/>
        </p:nvSpPr>
        <p:spPr>
          <a:xfrm>
            <a:off x="555948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4" name="TextBox 17"/>
          <p:cNvSpPr/>
          <p:nvPr/>
        </p:nvSpPr>
        <p:spPr>
          <a:xfrm>
            <a:off x="559620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Rounded Rectangle 18"/>
          <p:cNvSpPr/>
          <p:nvPr/>
        </p:nvSpPr>
        <p:spPr>
          <a:xfrm>
            <a:off x="64555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6" name="TextBox 19"/>
          <p:cNvSpPr/>
          <p:nvPr/>
        </p:nvSpPr>
        <p:spPr>
          <a:xfrm>
            <a:off x="649224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d12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Rounded Rectangle 20"/>
          <p:cNvSpPr/>
          <p:nvPr/>
        </p:nvSpPr>
        <p:spPr>
          <a:xfrm>
            <a:off x="735192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48" name="TextBox 21"/>
          <p:cNvSpPr/>
          <p:nvPr/>
        </p:nvSpPr>
        <p:spPr>
          <a:xfrm>
            <a:off x="738828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d10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Rounded Rectangle 22"/>
          <p:cNvSpPr/>
          <p:nvPr/>
        </p:nvSpPr>
        <p:spPr>
          <a:xfrm>
            <a:off x="824796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0" name="TextBox 23"/>
          <p:cNvSpPr/>
          <p:nvPr/>
        </p:nvSpPr>
        <p:spPr>
          <a:xfrm>
            <a:off x="82843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d8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Rounded Rectangle 24"/>
          <p:cNvSpPr/>
          <p:nvPr/>
        </p:nvSpPr>
        <p:spPr>
          <a:xfrm>
            <a:off x="914400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2" name="TextBox 25"/>
          <p:cNvSpPr/>
          <p:nvPr/>
        </p:nvSpPr>
        <p:spPr>
          <a:xfrm>
            <a:off x="918072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d6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Rounded Rectangle 26"/>
          <p:cNvSpPr/>
          <p:nvPr/>
        </p:nvSpPr>
        <p:spPr>
          <a:xfrm>
            <a:off x="10040040" y="3063240"/>
            <a:ext cx="758160" cy="65772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54" name="TextBox 27"/>
          <p:cNvSpPr/>
          <p:nvPr/>
        </p:nvSpPr>
        <p:spPr>
          <a:xfrm>
            <a:off x="10076760" y="3260880"/>
            <a:ext cx="6850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d4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Box 28"/>
          <p:cNvSpPr/>
          <p:nvPr/>
        </p:nvSpPr>
        <p:spPr>
          <a:xfrm>
            <a:off x="4480560" y="4526280"/>
            <a:ext cx="672012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d1a35d"/>
                </a:solidFill>
                <a:latin typeface="DejaVu Serif"/>
                <a:ea typeface="DejaVu Sans"/>
              </a:rPr>
              <a:t>Totale: 7 dadi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658440" y="393120"/>
            <a:ext cx="804600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d1a35d"/>
                </a:solidFill>
                <a:latin typeface="DejaVu Sans"/>
                <a:ea typeface="DejaVu Sans"/>
              </a:rPr>
              <a:t>12  /  PUNTI E COSTI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658440" y="749880"/>
            <a:ext cx="10880640" cy="44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2900" spc="-1" strike="noStrike">
                <a:solidFill>
                  <a:srgbClr val="f3ebdd"/>
                </a:solidFill>
                <a:latin typeface="DejaVu Serif"/>
                <a:ea typeface="DejaVu Sans"/>
              </a:rPr>
              <a:t>La classifica e la cassa comune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685800" y="1389960"/>
            <a:ext cx="1069776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b8b7a9"/>
                </a:solidFill>
                <a:latin typeface="DejaVu Sans"/>
                <a:ea typeface="DejaVu Sans"/>
              </a:rPr>
              <a:t>Due aspetti pratici da conoscere prima dell'inizio.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9" name="Connector 4"/>
          <p:cNvCxnSpPr/>
          <p:nvPr/>
        </p:nvCxnSpPr>
        <p:spPr>
          <a:xfrm>
            <a:off x="658080" y="1938240"/>
            <a:ext cx="10864080" cy="720"/>
          </a:xfrm>
          <a:prstGeom prst="straightConnector1">
            <a:avLst/>
          </a:prstGeom>
          <a:ln w="10160">
            <a:solidFill>
              <a:srgbClr val="3b4a4c"/>
            </a:solidFill>
            <a:round/>
          </a:ln>
        </p:spPr>
      </p:cxnSp>
      <p:cxnSp>
        <p:nvCxnSpPr>
          <p:cNvPr id="360" name="Connector 5"/>
          <p:cNvCxnSpPr/>
          <p:nvPr/>
        </p:nvCxnSpPr>
        <p:spPr>
          <a:xfrm>
            <a:off x="658080" y="6473880"/>
            <a:ext cx="10864080" cy="720"/>
          </a:xfrm>
          <a:prstGeom prst="straightConnector1">
            <a:avLst/>
          </a:prstGeom>
          <a:ln w="8890">
            <a:solidFill>
              <a:srgbClr val="3b4a4c"/>
            </a:solidFill>
            <a:round/>
          </a:ln>
        </p:spPr>
      </p:cxnSp>
      <p:sp>
        <p:nvSpPr>
          <p:cNvPr id="361" name="TextBox 6"/>
          <p:cNvSpPr/>
          <p:nvPr/>
        </p:nvSpPr>
        <p:spPr>
          <a:xfrm>
            <a:off x="676800" y="6528960"/>
            <a:ext cx="777168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10881360" y="6510600"/>
            <a:ext cx="59364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900" spc="-1" strike="noStrike">
                <a:solidFill>
                  <a:srgbClr val="d1a35d"/>
                </a:solidFill>
                <a:latin typeface="DejaVu Sans"/>
                <a:ea typeface="DejaVu Sans"/>
              </a:rPr>
              <a:t>14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ounded Rectangle 8"/>
          <p:cNvSpPr/>
          <p:nvPr/>
        </p:nvSpPr>
        <p:spPr>
          <a:xfrm>
            <a:off x="777240" y="2240280"/>
            <a:ext cx="507420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4" name="Rectangle 9"/>
          <p:cNvSpPr/>
          <p:nvPr/>
        </p:nvSpPr>
        <p:spPr>
          <a:xfrm>
            <a:off x="941760" y="2459880"/>
            <a:ext cx="49680" cy="1617840"/>
          </a:xfrm>
          <a:prstGeom prst="rect">
            <a:avLst/>
          </a:prstGeom>
          <a:solidFill>
            <a:srgbClr val="d1a35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1143000" y="2468880"/>
            <a:ext cx="44524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1 punto a sessione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1143000" y="3044880"/>
            <a:ext cx="445248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A fine sessione, ogni giocatore assegna 1 punto a chi, secondo lui, ha interpretato meglio il proprio personaggio. I punti formeranno la classifica finale.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Rounded Rectangle 12"/>
          <p:cNvSpPr/>
          <p:nvPr/>
        </p:nvSpPr>
        <p:spPr>
          <a:xfrm>
            <a:off x="6172200" y="22402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8" name="Rectangle 13"/>
          <p:cNvSpPr/>
          <p:nvPr/>
        </p:nvSpPr>
        <p:spPr>
          <a:xfrm>
            <a:off x="6336720" y="2459880"/>
            <a:ext cx="49680" cy="1617840"/>
          </a:xfrm>
          <a:prstGeom prst="rect">
            <a:avLst/>
          </a:prstGeom>
          <a:solidFill>
            <a:srgbClr val="8799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6537960" y="2468880"/>
            <a:ext cx="4589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3ebdd"/>
                </a:solidFill>
                <a:latin typeface="DejaVu Serif"/>
                <a:ea typeface="DejaVu Sans"/>
              </a:rPr>
              <a:t>Contributo di 1 €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6537960" y="3044880"/>
            <a:ext cx="4589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b8b7a9"/>
                </a:solidFill>
                <a:latin typeface="DejaVu Sans"/>
                <a:ea typeface="DejaVu Sans"/>
              </a:rPr>
              <a:t>Oltre al pagamento della sala, si verserà 1 € per sessione in una cassa comune.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Rounded Rectangle 16"/>
          <p:cNvSpPr/>
          <p:nvPr/>
        </p:nvSpPr>
        <p:spPr>
          <a:xfrm>
            <a:off x="1325880" y="4645080"/>
            <a:ext cx="9554760" cy="712440"/>
          </a:xfrm>
          <a:prstGeom prst="roundRect">
            <a:avLst>
              <a:gd name="adj" fmla="val 16667"/>
            </a:avLst>
          </a:prstGeom>
          <a:solidFill>
            <a:srgbClr val="243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1554480" y="4861080"/>
            <a:ext cx="9097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f3ebdd"/>
                </a:solidFill>
                <a:latin typeface="DejaVu Serif"/>
                <a:ea typeface="DejaVu Sans"/>
              </a:rPr>
              <a:t>A fine campagna: buoni negozio distribuiti secondo la classifica.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Connector 1"/>
          <p:cNvCxnSpPr/>
          <p:nvPr/>
        </p:nvCxnSpPr>
        <p:spPr>
          <a:xfrm>
            <a:off x="731520" y="68580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cxnSp>
        <p:nvCxnSpPr>
          <p:cNvPr id="374" name="Connector 2"/>
          <p:cNvCxnSpPr/>
          <p:nvPr/>
        </p:nvCxnSpPr>
        <p:spPr>
          <a:xfrm>
            <a:off x="731520" y="6235920"/>
            <a:ext cx="10699200" cy="720"/>
          </a:xfrm>
          <a:prstGeom prst="straightConnector1">
            <a:avLst/>
          </a:prstGeom>
          <a:ln w="11430">
            <a:solidFill>
              <a:srgbClr val="3b4a4c"/>
            </a:solidFill>
            <a:round/>
          </a:ln>
        </p:spPr>
      </p:cxnSp>
      <p:sp>
        <p:nvSpPr>
          <p:cNvPr id="375" name="TextBox 3"/>
          <p:cNvSpPr/>
          <p:nvPr/>
        </p:nvSpPr>
        <p:spPr>
          <a:xfrm>
            <a:off x="1005840" y="1124640"/>
            <a:ext cx="10149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1100" spc="-1" strike="noStrike">
                <a:solidFill>
                  <a:srgbClr val="d1a35d"/>
                </a:solidFill>
                <a:latin typeface="DejaVu Sans"/>
                <a:ea typeface="DejaVu Sans"/>
              </a:rPr>
              <a:t>IL MONDO VI ASPETTA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1097280" y="1874520"/>
            <a:ext cx="996624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3100" spc="-1" strike="noStrike">
                <a:solidFill>
                  <a:srgbClr val="f3ebdd"/>
                </a:solidFill>
                <a:latin typeface="DejaVu Serif"/>
                <a:ea typeface="DejaVu Sans"/>
              </a:rPr>
              <a:t>Skarheim reagirà alle vostre scelte.</a:t>
            </a:r>
            <a:endParaRPr b="0" lang="it-IT" sz="3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2011680" y="3246120"/>
            <a:ext cx="813744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b8b7a9"/>
                </a:solidFill>
                <a:latin typeface="DejaVu Serif"/>
                <a:ea typeface="DejaVu Sans"/>
              </a:rPr>
              <a:t>Il master fornirà il mondo.</a:t>
            </a:r>
            <a:endParaRPr b="0" lang="it-IT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2011680" y="4160520"/>
            <a:ext cx="813744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2500" spc="-1" strike="noStrike">
                <a:solidFill>
                  <a:srgbClr val="d1a35d"/>
                </a:solidFill>
                <a:latin typeface="DejaVu Serif"/>
                <a:ea typeface="DejaVu Sans"/>
              </a:rPr>
              <a:t>Voi deciderete cosa farne.</a:t>
            </a:r>
            <a:endParaRPr b="0" lang="it-IT" sz="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1005840" y="6446520"/>
            <a:ext cx="1014912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800" spc="-1" strike="noStrike">
                <a:solidFill>
                  <a:srgbClr val="b8b7a9"/>
                </a:solidFill>
                <a:latin typeface="DejaVu Sans"/>
                <a:ea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13  /  IL CONTINENTE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città di Skarheim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Un continente segnato da città con storie e destini diversi.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7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388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389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16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1" name="Picture 12" descr="mappa-del-mondo.png"/>
          <p:cNvPicPr/>
          <p:nvPr/>
        </p:nvPicPr>
        <p:blipFill>
          <a:blip r:embed="rId1"/>
          <a:stretch/>
        </p:blipFill>
        <p:spPr>
          <a:xfrm>
            <a:off x="777240" y="2011680"/>
            <a:ext cx="5851800" cy="4388760"/>
          </a:xfrm>
          <a:prstGeom prst="rect">
            <a:avLst/>
          </a:prstGeom>
          <a:ln w="0">
            <a:noFill/>
          </a:ln>
        </p:spPr>
      </p:pic>
      <p:sp>
        <p:nvSpPr>
          <p:cNvPr id="392" name="Rectangle 13"/>
          <p:cNvSpPr/>
          <p:nvPr/>
        </p:nvSpPr>
        <p:spPr>
          <a:xfrm>
            <a:off x="777240" y="2011680"/>
            <a:ext cx="5851800" cy="4388760"/>
          </a:xfrm>
          <a:prstGeom prst="rect">
            <a:avLst/>
          </a:prstGeom>
          <a:noFill/>
          <a:ln w="12700">
            <a:solidFill>
              <a:srgbClr val="d1a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3" name="Rounded Rectangle 14"/>
          <p:cNvSpPr/>
          <p:nvPr/>
        </p:nvSpPr>
        <p:spPr>
          <a:xfrm>
            <a:off x="6995160" y="2011680"/>
            <a:ext cx="4407120" cy="438876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394" name="TextBox 15"/>
          <p:cNvSpPr/>
          <p:nvPr/>
        </p:nvSpPr>
        <p:spPr>
          <a:xfrm>
            <a:off x="7315200" y="23317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100" spc="-1" strike="noStrike">
                <a:solidFill>
                  <a:srgbClr val="d1a35d"/>
                </a:solidFill>
                <a:latin typeface="DejaVu Sans"/>
              </a:rPr>
              <a:t>CITTÀ PRINCIPALI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Box 16"/>
          <p:cNvSpPr/>
          <p:nvPr/>
        </p:nvSpPr>
        <p:spPr>
          <a:xfrm>
            <a:off x="7315200" y="27889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Meridion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Box 17"/>
          <p:cNvSpPr/>
          <p:nvPr/>
        </p:nvSpPr>
        <p:spPr>
          <a:xfrm>
            <a:off x="7333560" y="30816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Il potere imperiale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18"/>
          <p:cNvSpPr/>
          <p:nvPr/>
        </p:nvSpPr>
        <p:spPr>
          <a:xfrm>
            <a:off x="7315200" y="34473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Kagen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Box 19"/>
          <p:cNvSpPr/>
          <p:nvPr/>
        </p:nvSpPr>
        <p:spPr>
          <a:xfrm>
            <a:off x="7333560" y="374004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città ricostruita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Box 20"/>
          <p:cNvSpPr/>
          <p:nvPr/>
        </p:nvSpPr>
        <p:spPr>
          <a:xfrm>
            <a:off x="7315200" y="410580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Hartak-Kar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Box 21"/>
          <p:cNvSpPr/>
          <p:nvPr/>
        </p:nvSpPr>
        <p:spPr>
          <a:xfrm>
            <a:off x="7333560" y="439812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La più grande del continente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Box 22"/>
          <p:cNvSpPr/>
          <p:nvPr/>
        </p:nvSpPr>
        <p:spPr>
          <a:xfrm>
            <a:off x="7315200" y="476388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Box 23"/>
          <p:cNvSpPr/>
          <p:nvPr/>
        </p:nvSpPr>
        <p:spPr>
          <a:xfrm>
            <a:off x="7333560" y="505656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Oltre i Denti di Drago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24"/>
          <p:cNvSpPr/>
          <p:nvPr/>
        </p:nvSpPr>
        <p:spPr>
          <a:xfrm>
            <a:off x="7315200" y="542232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Box 25"/>
          <p:cNvSpPr/>
          <p:nvPr/>
        </p:nvSpPr>
        <p:spPr>
          <a:xfrm>
            <a:off x="7333560" y="5715000"/>
            <a:ext cx="3748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100" spc="-1" strike="noStrike">
                <a:solidFill>
                  <a:srgbClr val="b8b7a9"/>
                </a:solidFill>
                <a:latin typeface="DejaVu Sans"/>
              </a:rPr>
              <a:t>Protetta da Astrid</a:t>
            </a:r>
            <a:endParaRPr b="0" lang="it-IT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Meridion: imperi e reggenze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Da monarchia dei Rúnar a potenza guidata dalla Regina Nera.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1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1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17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Rounded Rectangle 12"/>
          <p:cNvSpPr/>
          <p:nvPr/>
        </p:nvSpPr>
        <p:spPr>
          <a:xfrm>
            <a:off x="74988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7" name="Rectangle 13"/>
          <p:cNvSpPr/>
          <p:nvPr/>
        </p:nvSpPr>
        <p:spPr>
          <a:xfrm>
            <a:off x="914400" y="2331720"/>
            <a:ext cx="50040" cy="12340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18" name="TextBox 14"/>
          <p:cNvSpPr/>
          <p:nvPr/>
        </p:nvSpPr>
        <p:spPr>
          <a:xfrm>
            <a:off x="111564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La monarchia dei Rúnar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Box 15"/>
          <p:cNvSpPr/>
          <p:nvPr/>
        </p:nvSpPr>
        <p:spPr>
          <a:xfrm>
            <a:off x="111564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Meridion nacque come monarchia assoluta. Le città del continente, tranne Tar-Kees, erano regni vassalli. Divenne celebre per la forza militare e per i numerosi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Rounded Rectangle 16"/>
          <p:cNvSpPr/>
          <p:nvPr/>
        </p:nvSpPr>
        <p:spPr>
          <a:xfrm>
            <a:off x="6217920" y="214884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1" name="Rectangle 17"/>
          <p:cNvSpPr/>
          <p:nvPr/>
        </p:nvSpPr>
        <p:spPr>
          <a:xfrm>
            <a:off x="6382440" y="2331720"/>
            <a:ext cx="50040" cy="12340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2" name="TextBox 18"/>
          <p:cNvSpPr/>
          <p:nvPr/>
        </p:nvSpPr>
        <p:spPr>
          <a:xfrm>
            <a:off x="6583680" y="23317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Gray, il vampiro millenario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Box 19"/>
          <p:cNvSpPr/>
          <p:nvPr/>
        </p:nvSpPr>
        <p:spPr>
          <a:xfrm>
            <a:off x="6583680" y="2871360"/>
            <a:ext cx="460836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Circa 300 anni fa caddero i Rúnar. Gray instaurò una tirannia durata dieci anni, sconvolgendo gli equilibri politici e geografici. Un gruppo di eroi lo sconfisse dopo una lunga battaglia.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Rounded Rectangle 20"/>
          <p:cNvSpPr/>
          <p:nvPr/>
        </p:nvSpPr>
        <p:spPr>
          <a:xfrm>
            <a:off x="74988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5" name="Rectangle 21"/>
          <p:cNvSpPr/>
          <p:nvPr/>
        </p:nvSpPr>
        <p:spPr>
          <a:xfrm>
            <a:off x="91440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6" name="TextBox 22"/>
          <p:cNvSpPr/>
          <p:nvPr/>
        </p:nvSpPr>
        <p:spPr>
          <a:xfrm>
            <a:off x="111564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Ottant’anni di reggenza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Box 23"/>
          <p:cNvSpPr/>
          <p:nvPr/>
        </p:nvSpPr>
        <p:spPr>
          <a:xfrm>
            <a:off x="1115640" y="47458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Dopo la sconfitta di Gray, Meridion rimase una monarchia sotto un regime di reggenza, che lentamente fallì.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Rounded Rectangle 24"/>
          <p:cNvSpPr/>
          <p:nvPr/>
        </p:nvSpPr>
        <p:spPr>
          <a:xfrm>
            <a:off x="6217920" y="4023360"/>
            <a:ext cx="5230080" cy="15998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29" name="Rectangle 25"/>
          <p:cNvSpPr/>
          <p:nvPr/>
        </p:nvSpPr>
        <p:spPr>
          <a:xfrm>
            <a:off x="6382440" y="4206240"/>
            <a:ext cx="50040" cy="12340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30" name="TextBox 26"/>
          <p:cNvSpPr/>
          <p:nvPr/>
        </p:nvSpPr>
        <p:spPr>
          <a:xfrm>
            <a:off x="6583680" y="42062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Brunilda, la Regina Nera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Box 27"/>
          <p:cNvSpPr/>
          <p:nvPr/>
        </p:nvSpPr>
        <p:spPr>
          <a:xfrm>
            <a:off x="6583680" y="474588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Brunilda instaurò un regime neutrale e riportò Meridion agli antichi splendori. È salita al trono 200 anni fa.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Kagen: presagi, gemme e rovine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L’antica rivale di Meridion porta ancora i segni di una catastrofe.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4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4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18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Rounded Rectangle 12"/>
          <p:cNvSpPr/>
          <p:nvPr/>
        </p:nvSpPr>
        <p:spPr>
          <a:xfrm>
            <a:off x="74988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4" name="Rectangle 13"/>
          <p:cNvSpPr/>
          <p:nvPr/>
        </p:nvSpPr>
        <p:spPr>
          <a:xfrm>
            <a:off x="914400" y="2377440"/>
            <a:ext cx="50040" cy="111528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5" name="TextBox 14"/>
          <p:cNvSpPr/>
          <p:nvPr/>
        </p:nvSpPr>
        <p:spPr>
          <a:xfrm>
            <a:off x="111564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Una città capace di opporsi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Box 15"/>
          <p:cNvSpPr/>
          <p:nvPr/>
        </p:nvSpPr>
        <p:spPr>
          <a:xfrm>
            <a:off x="111564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Kagen fu l’unica a contrastare Meridion sotto i Rúnar. I suoi Vǫlva predissero la fine del mondo per mano degli incantatori arcani.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Rounded Rectangle 16"/>
          <p:cNvSpPr/>
          <p:nvPr/>
        </p:nvSpPr>
        <p:spPr>
          <a:xfrm>
            <a:off x="6217920" y="219456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8" name="Rectangle 17"/>
          <p:cNvSpPr/>
          <p:nvPr/>
        </p:nvSpPr>
        <p:spPr>
          <a:xfrm>
            <a:off x="6382440" y="237744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49" name="TextBox 18"/>
          <p:cNvSpPr/>
          <p:nvPr/>
        </p:nvSpPr>
        <p:spPr>
          <a:xfrm>
            <a:off x="6583680" y="237744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Le gemme viola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Box 19"/>
          <p:cNvSpPr/>
          <p:nvPr/>
        </p:nvSpPr>
        <p:spPr>
          <a:xfrm>
            <a:off x="6583680" y="2917080"/>
            <a:ext cx="460836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Nel sottosuolo furono scoperte pietre capaci di annullare magia e incantesimi. Si narra che gli incantatori morissero prima ancora di avvicinarsi.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Rounded Rectangle 20"/>
          <p:cNvSpPr/>
          <p:nvPr/>
        </p:nvSpPr>
        <p:spPr>
          <a:xfrm>
            <a:off x="749880" y="3977640"/>
            <a:ext cx="10698120" cy="15541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2" name="Rectangle 21"/>
          <p:cNvSpPr/>
          <p:nvPr/>
        </p:nvSpPr>
        <p:spPr>
          <a:xfrm>
            <a:off x="914400" y="4160520"/>
            <a:ext cx="50040" cy="118836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53" name="TextBox 22"/>
          <p:cNvSpPr/>
          <p:nvPr/>
        </p:nvSpPr>
        <p:spPr>
          <a:xfrm>
            <a:off x="1115640" y="4160520"/>
            <a:ext cx="10076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distruzione e la ricostruzione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Box 23"/>
          <p:cNvSpPr/>
          <p:nvPr/>
        </p:nvSpPr>
        <p:spPr>
          <a:xfrm>
            <a:off x="1115640" y="4700160"/>
            <a:ext cx="10076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Circa 300 anni fa una catastrofe annientò la città e lasciò un enorme cratere. La leggenda attribuisce la distruzione a un incantesimo potentissimo, non a un evento naturale. Da circa 100 anni Kagen è in lenta ricostruzione.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Hartak-Kar: dalla città satellite alla repubblica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La città più grande del continente ha cambiato più volte il proprio rapporto con il potere.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19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Rounded Rectangle 12"/>
          <p:cNvSpPr/>
          <p:nvPr/>
        </p:nvSpPr>
        <p:spPr>
          <a:xfrm>
            <a:off x="74988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7" name="Rectangle 13"/>
          <p:cNvSpPr/>
          <p:nvPr/>
        </p:nvSpPr>
        <p:spPr>
          <a:xfrm>
            <a:off x="914400" y="2395800"/>
            <a:ext cx="50040" cy="132552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68" name="TextBox 14"/>
          <p:cNvSpPr/>
          <p:nvPr/>
        </p:nvSpPr>
        <p:spPr>
          <a:xfrm>
            <a:off x="111564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Una città sotto l’imperatore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Box 15"/>
          <p:cNvSpPr/>
          <p:nvPr/>
        </p:nvSpPr>
        <p:spPr>
          <a:xfrm>
            <a:off x="111564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Fondata dai Rúnar come satellite di Meridion, era governata da un Granduca nominato direttamente dall’imperatore.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Rounded Rectangle 16"/>
          <p:cNvSpPr/>
          <p:nvPr/>
        </p:nvSpPr>
        <p:spPr>
          <a:xfrm>
            <a:off x="6217920" y="2212920"/>
            <a:ext cx="5230080" cy="1691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1" name="Rectangle 17"/>
          <p:cNvSpPr/>
          <p:nvPr/>
        </p:nvSpPr>
        <p:spPr>
          <a:xfrm>
            <a:off x="6382440" y="2395800"/>
            <a:ext cx="50040" cy="132552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2" name="TextBox 18"/>
          <p:cNvSpPr/>
          <p:nvPr/>
        </p:nvSpPr>
        <p:spPr>
          <a:xfrm>
            <a:off x="6583680" y="2395800"/>
            <a:ext cx="460836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f3ebdd"/>
                </a:solidFill>
                <a:latin typeface="DejaVu Serif"/>
              </a:rPr>
              <a:t>La rivendicazione d’indipendenza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Box 19"/>
          <p:cNvSpPr/>
          <p:nvPr/>
        </p:nvSpPr>
        <p:spPr>
          <a:xfrm>
            <a:off x="6583680" y="2935080"/>
            <a:ext cx="460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b8b7a9"/>
                </a:solidFill>
                <a:latin typeface="DejaVu Sans"/>
              </a:rPr>
              <a:t>Durante l’assenza del vero imperatore si allontanò dal ruolo di città satellite e rivendicò la propria indipendenza.</a:t>
            </a:r>
            <a:endParaRPr b="0" lang="it-IT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Rounded Rectangle 20"/>
          <p:cNvSpPr/>
          <p:nvPr/>
        </p:nvSpPr>
        <p:spPr>
          <a:xfrm>
            <a:off x="74988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5" name="Rectangle 21"/>
          <p:cNvSpPr/>
          <p:nvPr/>
        </p:nvSpPr>
        <p:spPr>
          <a:xfrm>
            <a:off x="914400" y="4279320"/>
            <a:ext cx="50040" cy="111528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6" name="TextBox 22"/>
          <p:cNvSpPr/>
          <p:nvPr/>
        </p:nvSpPr>
        <p:spPr>
          <a:xfrm>
            <a:off x="111564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Il ritorno sotto Brunilda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Box 23"/>
          <p:cNvSpPr/>
          <p:nvPr/>
        </p:nvSpPr>
        <p:spPr>
          <a:xfrm>
            <a:off x="111564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Duecento anni fa riconobbe Brunilda come unica e vera imperatrice e tornò a essere sua sottoposta.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Rounded Rectangle 24"/>
          <p:cNvSpPr/>
          <p:nvPr/>
        </p:nvSpPr>
        <p:spPr>
          <a:xfrm>
            <a:off x="6217920" y="4096440"/>
            <a:ext cx="5230080" cy="14810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79" name="Rectangle 25"/>
          <p:cNvSpPr/>
          <p:nvPr/>
        </p:nvSpPr>
        <p:spPr>
          <a:xfrm>
            <a:off x="6382440" y="4279320"/>
            <a:ext cx="50040" cy="1115280"/>
          </a:xfrm>
          <a:prstGeom prst="rect">
            <a:avLst/>
          </a:prstGeom>
          <a:solidFill>
            <a:srgbClr val="bd7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80" name="TextBox 26"/>
          <p:cNvSpPr/>
          <p:nvPr/>
        </p:nvSpPr>
        <p:spPr>
          <a:xfrm>
            <a:off x="6583680" y="4279320"/>
            <a:ext cx="460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erif"/>
              </a:rPr>
              <a:t>L’ordinamento attuale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Box 27"/>
          <p:cNvSpPr/>
          <p:nvPr/>
        </p:nvSpPr>
        <p:spPr>
          <a:xfrm>
            <a:off x="6583680" y="4818960"/>
            <a:ext cx="460836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Oggi è una repubblica: San Cuthberth non riconosce Brunilda come legittima imperatrice.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14  /  LE CITTÀ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Tradizione e fede: Tar-Kees e Juvas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Due città con identità forti, ma radicate in storie molto diverse.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89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490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491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20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Rounded Rectangle 12"/>
          <p:cNvSpPr/>
          <p:nvPr/>
        </p:nvSpPr>
        <p:spPr>
          <a:xfrm>
            <a:off x="74988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4" name="Rectangle 13"/>
          <p:cNvSpPr/>
          <p:nvPr/>
        </p:nvSpPr>
        <p:spPr>
          <a:xfrm>
            <a:off x="914400" y="2331720"/>
            <a:ext cx="50040" cy="3017160"/>
          </a:xfrm>
          <a:prstGeom prst="rect">
            <a:avLst/>
          </a:prstGeom>
          <a:solidFill>
            <a:srgbClr val="d1a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5" name="TextBox 14"/>
          <p:cNvSpPr/>
          <p:nvPr/>
        </p:nvSpPr>
        <p:spPr>
          <a:xfrm>
            <a:off x="111564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Tar-Kees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111564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l’unica città oltre i Denti di Drago. Non ha mai abbandonato il culto degli Dei Antichi e le proprie usanze.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Il re viene ancora scelto attraverso un combattimento. Tar-Kees è rimasta estranea agli intrighi politici e alle grandi guerre.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I suoi guerrieri, i Kees, sono celebri navigatori e razziatori.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Rounded Rectangle 16"/>
          <p:cNvSpPr/>
          <p:nvPr/>
        </p:nvSpPr>
        <p:spPr>
          <a:xfrm>
            <a:off x="6217920" y="2148840"/>
            <a:ext cx="5230080" cy="338292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8" name="Rectangle 17"/>
          <p:cNvSpPr/>
          <p:nvPr/>
        </p:nvSpPr>
        <p:spPr>
          <a:xfrm>
            <a:off x="6382440" y="2331720"/>
            <a:ext cx="50040" cy="3017160"/>
          </a:xfrm>
          <a:prstGeom prst="rect">
            <a:avLst/>
          </a:prstGeom>
          <a:solidFill>
            <a:srgbClr val="879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499" name="TextBox 18"/>
          <p:cNvSpPr/>
          <p:nvPr/>
        </p:nvSpPr>
        <p:spPr>
          <a:xfrm>
            <a:off x="6583680" y="2331720"/>
            <a:ext cx="4608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800" spc="-1" strike="noStrike">
                <a:solidFill>
                  <a:srgbClr val="f3ebdd"/>
                </a:solidFill>
                <a:latin typeface="DejaVu Serif"/>
              </a:rPr>
              <a:t>Juvas</a:t>
            </a: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6583680" y="2871360"/>
            <a:ext cx="4608360" cy="22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Nata come piccola città in una vasta valle sotto i Rúnar, crebbe quando la dea Astrid vi fondò la propria chiesa e le accordò protezione.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È diventata uno dei centri più importanti, sviluppati e ricchi del mondo conosciuto.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endParaRPr b="0" lang="it-IT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b8b7a9"/>
                </a:solidFill>
                <a:latin typeface="DejaVu Sans"/>
              </a:rPr>
              <a:t>Non riconosce Brunilda come sovrana legittima per le leggi di Astrid, ma le due potenze non sono in conflitto.</a:t>
            </a:r>
            <a:endParaRPr b="0" lang="it-IT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15  /  FAZIONI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Le forze che muovono il continente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Circoli druidici, reti criminali, mercenari e culti competono nell’ombra.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8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09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10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21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Rounded Rectangle 12"/>
          <p:cNvSpPr/>
          <p:nvPr/>
        </p:nvSpPr>
        <p:spPr>
          <a:xfrm>
            <a:off x="74988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3" name="TextBox 13"/>
          <p:cNvSpPr/>
          <p:nvPr/>
        </p:nvSpPr>
        <p:spPr>
          <a:xfrm>
            <a:off x="93276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Lupo Bianco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14"/>
          <p:cNvSpPr/>
          <p:nvPr/>
        </p:nvSpPr>
        <p:spPr>
          <a:xfrm>
            <a:off x="93276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Luogo sconosciuto, nelle regioni settentrionali.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Rounded Rectangle 15"/>
          <p:cNvSpPr/>
          <p:nvPr/>
        </p:nvSpPr>
        <p:spPr>
          <a:xfrm>
            <a:off x="6217920" y="210312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6" name="TextBox 16"/>
          <p:cNvSpPr/>
          <p:nvPr/>
        </p:nvSpPr>
        <p:spPr>
          <a:xfrm>
            <a:off x="6400800" y="218556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Cervo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6400800" y="245988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Oltre la catena dei Denti di Drago.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Rounded Rectangle 18"/>
          <p:cNvSpPr/>
          <p:nvPr/>
        </p:nvSpPr>
        <p:spPr>
          <a:xfrm>
            <a:off x="74988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19" name="TextBox 19"/>
          <p:cNvSpPr/>
          <p:nvPr/>
        </p:nvSpPr>
        <p:spPr>
          <a:xfrm>
            <a:off x="93276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Circolo del Corvo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Box 20"/>
          <p:cNvSpPr/>
          <p:nvPr/>
        </p:nvSpPr>
        <p:spPr>
          <a:xfrm>
            <a:off x="932760" y="340164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Nelle foreste nei pressi di Hartak-Kar.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Rounded Rectangle 21"/>
          <p:cNvSpPr/>
          <p:nvPr/>
        </p:nvSpPr>
        <p:spPr>
          <a:xfrm>
            <a:off x="6217920" y="304488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2" name="TextBox 22"/>
          <p:cNvSpPr/>
          <p:nvPr/>
        </p:nvSpPr>
        <p:spPr>
          <a:xfrm>
            <a:off x="6400800" y="312732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Mano Nera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Box 23"/>
          <p:cNvSpPr/>
          <p:nvPr/>
        </p:nvSpPr>
        <p:spPr>
          <a:xfrm>
            <a:off x="6400800" y="340164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criminale a cellule, presente nelle città principali.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Rounded Rectangle 24"/>
          <p:cNvSpPr/>
          <p:nvPr/>
        </p:nvSpPr>
        <p:spPr>
          <a:xfrm>
            <a:off x="74988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5" name="TextBox 25"/>
          <p:cNvSpPr/>
          <p:nvPr/>
        </p:nvSpPr>
        <p:spPr>
          <a:xfrm>
            <a:off x="93276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bd7868"/>
                </a:solidFill>
                <a:latin typeface="DejaVu Sans"/>
              </a:rPr>
              <a:t>La Legione Perduta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Box 26"/>
          <p:cNvSpPr/>
          <p:nvPr/>
        </p:nvSpPr>
        <p:spPr>
          <a:xfrm>
            <a:off x="93276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Pirati e mercenari senza affiliazione politica, spietati e assetati di sangue.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Rounded Rectangle 27"/>
          <p:cNvSpPr/>
          <p:nvPr/>
        </p:nvSpPr>
        <p:spPr>
          <a:xfrm>
            <a:off x="6217920" y="398664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28" name="TextBox 28"/>
          <p:cNvSpPr/>
          <p:nvPr/>
        </p:nvSpPr>
        <p:spPr>
          <a:xfrm>
            <a:off x="6400800" y="406908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 Cavalieri del Vuoto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Box 29"/>
          <p:cNvSpPr/>
          <p:nvPr/>
        </p:nvSpPr>
        <p:spPr>
          <a:xfrm>
            <a:off x="6400800" y="43434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Discendenti del primo regno di Kagen, tramandano l’odio per la magia arcana.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Rounded Rectangle 30"/>
          <p:cNvSpPr/>
          <p:nvPr/>
        </p:nvSpPr>
        <p:spPr>
          <a:xfrm>
            <a:off x="74988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1" name="TextBox 31"/>
          <p:cNvSpPr/>
          <p:nvPr/>
        </p:nvSpPr>
        <p:spPr>
          <a:xfrm>
            <a:off x="93276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879985"/>
                </a:solidFill>
                <a:latin typeface="DejaVu Sans"/>
              </a:rPr>
              <a:t>Le Sciarpe Verdi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Box 32"/>
          <p:cNvSpPr/>
          <p:nvPr/>
        </p:nvSpPr>
        <p:spPr>
          <a:xfrm>
            <a:off x="932760" y="5285160"/>
            <a:ext cx="4864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Organizzazione secolare di spie e infiltratori.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Rounded Rectangle 33"/>
          <p:cNvSpPr/>
          <p:nvPr/>
        </p:nvSpPr>
        <p:spPr>
          <a:xfrm>
            <a:off x="6217920" y="4928760"/>
            <a:ext cx="5230080" cy="80424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34" name="TextBox 34"/>
          <p:cNvSpPr/>
          <p:nvPr/>
        </p:nvSpPr>
        <p:spPr>
          <a:xfrm>
            <a:off x="6400800" y="5010840"/>
            <a:ext cx="48643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d1a35d"/>
                </a:solidFill>
                <a:latin typeface="DejaVu Sans"/>
              </a:rPr>
              <a:t>Il Culto dei Gamall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Box 35"/>
          <p:cNvSpPr/>
          <p:nvPr/>
        </p:nvSpPr>
        <p:spPr>
          <a:xfrm>
            <a:off x="6400800" y="528516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200" spc="-1" strike="noStrike">
                <a:solidFill>
                  <a:srgbClr val="b8b7a9"/>
                </a:solidFill>
                <a:latin typeface="DejaVu Sans"/>
              </a:rPr>
              <a:t>Culto nomade degli Dei Antichi, in contrasto con il culto dei Nuovi Dei.</a:t>
            </a:r>
            <a:endParaRPr b="0" lang="it-I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I Nuovi Dei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Le divinità che hanno ridefinito fede e potere nel continente.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3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44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45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22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48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Astrid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 bene, della luce e della vita.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Kelsie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natura e degli elementi.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Daven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luna, delle ombre e dei sussurri.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San Cuthberth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legge.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Brunilda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morte.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Grunilda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Protettrice della natura e figlia di Kelsie.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Gli Dei Antichi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Divinità di potere, conoscenza, magia e inganno.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2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63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64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23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Rounded Rectangle 12"/>
          <p:cNvSpPr/>
          <p:nvPr/>
        </p:nvSpPr>
        <p:spPr>
          <a:xfrm>
            <a:off x="777240" y="2148840"/>
            <a:ext cx="10652400" cy="397728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67" name="TextBox 13"/>
          <p:cNvSpPr/>
          <p:nvPr/>
        </p:nvSpPr>
        <p:spPr>
          <a:xfrm>
            <a:off x="1033200" y="2350080"/>
            <a:ext cx="101404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879985"/>
                </a:solidFill>
                <a:latin typeface="DejaVu Serif"/>
              </a:rPr>
              <a:t>Le divinità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Box 14"/>
          <p:cNvSpPr/>
          <p:nvPr/>
        </p:nvSpPr>
        <p:spPr>
          <a:xfrm>
            <a:off x="1051560" y="28620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Thor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dei fulmini e della guerra.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Box 15"/>
          <p:cNvSpPr/>
          <p:nvPr/>
        </p:nvSpPr>
        <p:spPr>
          <a:xfrm>
            <a:off x="1051560" y="33757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Odino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Padre degli Dei.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Box 16"/>
          <p:cNvSpPr/>
          <p:nvPr/>
        </p:nvSpPr>
        <p:spPr>
          <a:xfrm>
            <a:off x="1051560" y="38890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Freya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della magia e protettrice di Midgard.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Box 17"/>
          <p:cNvSpPr/>
          <p:nvPr/>
        </p:nvSpPr>
        <p:spPr>
          <a:xfrm>
            <a:off x="1051560" y="440280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Loki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delle malefatte e degli inganni.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Box 18"/>
          <p:cNvSpPr/>
          <p:nvPr/>
        </p:nvSpPr>
        <p:spPr>
          <a:xfrm>
            <a:off x="1051560" y="491652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Hela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Dea degli inferi e custode di Helheim.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Box 19"/>
          <p:cNvSpPr/>
          <p:nvPr/>
        </p:nvSpPr>
        <p:spPr>
          <a:xfrm>
            <a:off x="1051560" y="5429880"/>
            <a:ext cx="101037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600" spc="-1" strike="noStrike">
                <a:solidFill>
                  <a:srgbClr val="f3ebdd"/>
                </a:solidFill>
                <a:latin typeface="DejaVu Sans"/>
              </a:rPr>
              <a:t>Mimir — </a:t>
            </a:r>
            <a:r>
              <a:rPr b="0" lang="it-IT" sz="1600" spc="-1" strike="noStrike">
                <a:solidFill>
                  <a:srgbClr val="b8b7a9"/>
                </a:solidFill>
                <a:latin typeface="DejaVu Sans"/>
              </a:rPr>
              <a:t>Dio della conoscenza e degli artigiani.</a:t>
            </a:r>
            <a:endParaRPr b="0" lang="it-IT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it-I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Box 5"/>
          <p:cNvSpPr/>
          <p:nvPr/>
        </p:nvSpPr>
        <p:spPr>
          <a:xfrm>
            <a:off x="658440" y="393120"/>
            <a:ext cx="107895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000" spc="-1" strike="noStrike">
                <a:solidFill>
                  <a:srgbClr val="d1a35d"/>
                </a:solidFill>
                <a:latin typeface="DejaVu Sans"/>
              </a:rPr>
              <a:t>16  /  PANTHEON</a:t>
            </a:r>
            <a:endParaRPr b="0" lang="it-IT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Box 6"/>
          <p:cNvSpPr/>
          <p:nvPr/>
        </p:nvSpPr>
        <p:spPr>
          <a:xfrm>
            <a:off x="658440" y="749880"/>
            <a:ext cx="108810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2900" spc="-1" strike="noStrike">
                <a:solidFill>
                  <a:srgbClr val="f3ebdd"/>
                </a:solidFill>
                <a:latin typeface="DejaVu Serif"/>
              </a:rPr>
              <a:t>Custodi ed entità divine</a:t>
            </a:r>
            <a:endParaRPr b="0" lang="it-IT" sz="2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685800" y="1389960"/>
            <a:ext cx="106981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Guardiani dei regni, emissari e capostormi dei draghi.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81" name="Connector 8"/>
          <p:cNvCxnSpPr/>
          <p:nvPr/>
        </p:nvCxnSpPr>
        <p:spPr>
          <a:xfrm>
            <a:off x="658080" y="1938240"/>
            <a:ext cx="10863720" cy="360"/>
          </a:xfrm>
          <a:prstGeom prst="straightConnector1">
            <a:avLst/>
          </a:prstGeom>
          <a:ln w="10160">
            <a:solidFill>
              <a:srgbClr val="3b4a4c"/>
            </a:solidFill>
          </a:ln>
        </p:spPr>
      </p:cxnSp>
      <p:cxnSp>
        <p:nvCxnSpPr>
          <p:cNvPr id="582" name="Connector 9"/>
          <p:cNvCxnSpPr/>
          <p:nvPr/>
        </p:nvCxnSpPr>
        <p:spPr>
          <a:xfrm>
            <a:off x="658080" y="6473880"/>
            <a:ext cx="10863720" cy="360"/>
          </a:xfrm>
          <a:prstGeom prst="straightConnector1">
            <a:avLst/>
          </a:prstGeom>
          <a:ln w="8890">
            <a:solidFill>
              <a:srgbClr val="3b4a4c"/>
            </a:solidFill>
          </a:ln>
        </p:spPr>
      </p:cxnSp>
      <p:sp>
        <p:nvSpPr>
          <p:cNvPr id="583" name="TextBox 10"/>
          <p:cNvSpPr/>
          <p:nvPr/>
        </p:nvSpPr>
        <p:spPr>
          <a:xfrm>
            <a:off x="676800" y="6528960"/>
            <a:ext cx="877788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800" spc="-1" strike="noStrike">
                <a:solidFill>
                  <a:srgbClr val="b8b7a9"/>
                </a:solidFill>
                <a:latin typeface="DejaVu Sans"/>
              </a:rPr>
              <a:t>SKARHEIM  /  L'EREDITÀ DI DAVEN</a:t>
            </a:r>
            <a:endParaRPr b="0" lang="it-IT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10881360" y="6510600"/>
            <a:ext cx="59400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</a:pPr>
            <a:r>
              <a:rPr b="1" lang="it-IT" sz="900" spc="-1" strike="noStrike">
                <a:solidFill>
                  <a:srgbClr val="d1a35d"/>
                </a:solidFill>
                <a:latin typeface="DejaVu Sans"/>
              </a:rPr>
              <a:t>24</a:t>
            </a:r>
            <a:endParaRPr b="0" lang="it-IT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Rounded Rectangle 12"/>
          <p:cNvSpPr/>
          <p:nvPr/>
        </p:nvSpPr>
        <p:spPr>
          <a:xfrm>
            <a:off x="74988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86" name="TextBox 13"/>
          <p:cNvSpPr/>
          <p:nvPr/>
        </p:nvSpPr>
        <p:spPr>
          <a:xfrm>
            <a:off x="100584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d1a35d"/>
                </a:solidFill>
                <a:latin typeface="DejaVu Serif"/>
              </a:rPr>
              <a:t>Custodi e figure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14"/>
          <p:cNvSpPr/>
          <p:nvPr/>
        </p:nvSpPr>
        <p:spPr>
          <a:xfrm>
            <a:off x="102420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Heimdall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Asgard.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1024200" y="33922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Jörmungandr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Custode di Yggdrasil.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1024200" y="389520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Fenrir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Figlio di Loki.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17"/>
          <p:cNvSpPr/>
          <p:nvPr/>
        </p:nvSpPr>
        <p:spPr>
          <a:xfrm>
            <a:off x="1024200" y="43981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Valchirie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Custodi dei Nove Regni.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Box 18"/>
          <p:cNvSpPr/>
          <p:nvPr/>
        </p:nvSpPr>
        <p:spPr>
          <a:xfrm>
            <a:off x="1024200" y="49010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Surtr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Guardiano di Muspelheim.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19"/>
          <p:cNvSpPr/>
          <p:nvPr/>
        </p:nvSpPr>
        <p:spPr>
          <a:xfrm>
            <a:off x="1024200" y="54039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Ragnar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Berserker ed emissario degli Dei.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Rounded Rectangle 20"/>
          <p:cNvSpPr/>
          <p:nvPr/>
        </p:nvSpPr>
        <p:spPr>
          <a:xfrm>
            <a:off x="6217920" y="2176200"/>
            <a:ext cx="5230080" cy="3913200"/>
          </a:xfrm>
          <a:prstGeom prst="roundRect">
            <a:avLst>
              <a:gd name="adj" fmla="val 16667"/>
            </a:avLst>
          </a:prstGeom>
          <a:solidFill>
            <a:srgbClr val="1c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94" name="TextBox 21"/>
          <p:cNvSpPr/>
          <p:nvPr/>
        </p:nvSpPr>
        <p:spPr>
          <a:xfrm>
            <a:off x="6473880" y="2377440"/>
            <a:ext cx="47178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700" spc="-1" strike="noStrike">
                <a:solidFill>
                  <a:srgbClr val="bd7868"/>
                </a:solidFill>
                <a:latin typeface="DejaVu Serif"/>
              </a:rPr>
              <a:t>Capostormi dei draghi</a:t>
            </a:r>
            <a:endParaRPr b="0" lang="it-IT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TextBox 22"/>
          <p:cNvSpPr/>
          <p:nvPr/>
        </p:nvSpPr>
        <p:spPr>
          <a:xfrm>
            <a:off x="6492240" y="28893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Beledros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verdi.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23"/>
          <p:cNvSpPr/>
          <p:nvPr/>
        </p:nvSpPr>
        <p:spPr>
          <a:xfrm>
            <a:off x="6492240" y="349308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Ugin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rossi.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Box 24"/>
          <p:cNvSpPr/>
          <p:nvPr/>
        </p:nvSpPr>
        <p:spPr>
          <a:xfrm>
            <a:off x="6492240" y="409644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Volt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blu.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Box 25"/>
          <p:cNvSpPr/>
          <p:nvPr/>
        </p:nvSpPr>
        <p:spPr>
          <a:xfrm>
            <a:off x="6492240" y="470016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Drakonis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neri.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26"/>
          <p:cNvSpPr/>
          <p:nvPr/>
        </p:nvSpPr>
        <p:spPr>
          <a:xfrm>
            <a:off x="6492240" y="5303520"/>
            <a:ext cx="46814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1" lang="it-IT" sz="1300" spc="-1" strike="noStrike">
                <a:solidFill>
                  <a:srgbClr val="f3ebdd"/>
                </a:solidFill>
                <a:latin typeface="DejaVu Sans"/>
              </a:rPr>
              <a:t>Glacius — </a:t>
            </a:r>
            <a:r>
              <a:rPr b="0" lang="it-IT" sz="1300" spc="-1" strike="noStrike">
                <a:solidFill>
                  <a:srgbClr val="b8b7a9"/>
                </a:solidFill>
                <a:latin typeface="DejaVu Sans"/>
              </a:rPr>
              <a:t>Capostormo dei draghi bianchi.</a:t>
            </a:r>
            <a:endParaRPr b="0" lang="it-IT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1120000"/>
            <a:ext cx="10192000" cy="38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UN NUOVO CAPITOLO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920000"/>
            <a:ext cx="10592000" cy="10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E ora, l'avventura.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Sottotitolo"/>
          <p:cNvSpPr/>
          <p:nvPr/>
        </p:nvSpPr>
        <p:spPr>
          <a:xfrm>
            <a:off x="1100000" y="3030000"/>
            <a:ext cx="9992000" cy="5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9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Il mondo di Skarheim è sull'orlo di un cambiamento.</a:t>
            </a:r>
            <a:endParaRPr lang="it-IT" sz="19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5" name="Introduzione"/>
          <p:cNvSpPr/>
          <p:nvPr/>
        </p:nvSpPr>
        <p:spPr>
          <a:xfrm>
            <a:off x="1200000" y="3710000"/>
            <a:ext cx="9792000" cy="85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Le scelte che farete e i legami che stringerete</a:t>
            </a:r>
            <a:endParaRPr lang="it-IT" sz="17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17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scriveranno il destino di chi vi sta accanto.</a:t>
            </a:r>
            <a:endParaRPr lang="it-IT" sz="17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6" name="Accento dorato"/>
          <p:cNvSpPr/>
          <p:nvPr/>
        </p:nvSpPr>
        <p:spPr>
          <a:xfrm>
            <a:off x="5370000" y="492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7" name="Invito"/>
          <p:cNvSpPr/>
          <p:nvPr/>
        </p:nvSpPr>
        <p:spPr>
          <a:xfrm>
            <a:off x="1000000" y="5200000"/>
            <a:ext cx="10192000" cy="44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 b="1" spc="11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LA VOSTRA STORIA COMINCIA ORA</a:t>
            </a:r>
            <a:endParaRPr lang="it-IT" sz="16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25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eo avventura">
            <a:hlinkClick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915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 mute="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zione"/>
          <p:cNvSpPr/>
          <p:nvPr/>
        </p:nvSpPr>
        <p:spPr>
          <a:xfrm>
            <a:off x="1000000" y="860000"/>
            <a:ext cx="10192000" cy="3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400" b="1" spc="180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ORA TOCCA A VOI</a:t>
            </a:r>
            <a:endParaRPr lang="it-IT" sz="14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3" name="Titolo"/>
          <p:cNvSpPr/>
          <p:nvPr/>
        </p:nvSpPr>
        <p:spPr>
          <a:xfrm>
            <a:off x="800000" y="153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4200" b="1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storia è vostra.</a:t>
            </a:r>
            <a:endParaRPr lang="it-IT" sz="4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4" name="Discorso finale"/>
          <p:cNvSpPr/>
          <p:nvPr/>
        </p:nvSpPr>
        <p:spPr>
          <a:xfrm>
            <a:off x="1300000" y="2660000"/>
            <a:ext cx="9492000" cy="153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Il lavoro è pericoloso.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La paga è misera.</a:t>
            </a:r>
            <a:endParaRPr lang="it-IT" sz="2200">
              <a:solidFill>
                <a:srgbClr val="F3EBDD"/>
              </a:solidFill>
              <a:latin typeface="DejaVu Sans"/>
            </a:endParaRPr>
          </a:p>
          <a:p>
            <a:pPr algn="ctr"/>
            <a:r>
              <a:rPr lang="it-IT" sz="2200">
                <a:solidFill>
                  <a:srgbClr val="F3EBDD"/>
                </a:solidFill>
                <a:latin typeface="DejaVu Sans"/>
                <a:ea typeface="DejaVu Sans"/>
                <a:cs typeface="DejaVu Sans"/>
              </a:rPr>
              <a:t>Ma questo... lo sapevate già.</a:t>
            </a:r>
            <a:endParaRPr lang="it-IT" sz="2200">
              <a:solidFill>
                <a:srgbClr val="F3EBDD"/>
              </a:solidFill>
              <a:latin typeface="DejaVu Sans"/>
            </a:endParaRPr>
          </a:p>
        </p:txBody>
      </p:sp>
      <p:sp>
        <p:nvSpPr>
          <p:cNvPr id="5" name="Accento dorato"/>
          <p:cNvSpPr/>
          <p:nvPr/>
        </p:nvSpPr>
        <p:spPr>
          <a:xfrm>
            <a:off x="5370000" y="4410000"/>
            <a:ext cx="1450000" cy="9000"/>
          </a:xfrm>
          <a:prstGeom prst="rect">
            <a:avLst/>
          </a:prstGeom>
          <a:solidFill>
            <a:srgbClr val="D1A35D"/>
          </a:solidFill>
          <a:ln>
            <a:noFill/>
          </a:ln>
        </p:spPr>
      </p:sp>
      <p:sp>
        <p:nvSpPr>
          <p:cNvPr id="6" name="Augurio"/>
          <p:cNvSpPr/>
          <p:nvPr/>
        </p:nvSpPr>
        <p:spPr>
          <a:xfrm>
            <a:off x="900000" y="4750000"/>
            <a:ext cx="10392000" cy="62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2800" b="1">
                <a:solidFill>
                  <a:srgbClr val="D1A35D"/>
                </a:solidFill>
                <a:latin typeface="DejaVu Sans"/>
                <a:ea typeface="DejaVu Sans"/>
                <a:cs typeface="DejaVu Sans"/>
              </a:rPr>
              <a:t>Che la fortuna vi assista.</a:t>
            </a:r>
            <a:endParaRPr lang="it-IT" sz="2800">
              <a:solidFill>
                <a:srgbClr val="D1A35D"/>
              </a:solidFill>
              <a:latin typeface="DejaVu Sans"/>
            </a:endParaRPr>
          </a:p>
        </p:txBody>
      </p:sp>
      <p:sp>
        <p:nvSpPr>
          <p:cNvPr id="7" name="Incoraggiamento"/>
          <p:cNvSpPr/>
          <p:nvPr/>
        </p:nvSpPr>
        <p:spPr>
          <a:xfrm>
            <a:off x="1100000" y="5540000"/>
            <a:ext cx="9992000" cy="47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160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Scegliete la vostra strada. Il prossimo capitolo lo scriverete voi.</a:t>
            </a:r>
            <a:endParaRPr lang="it-IT" sz="1600">
              <a:solidFill>
                <a:srgbClr val="B8B7A9"/>
              </a:solidFill>
              <a:latin typeface="DejaVu Sans"/>
            </a:endParaRPr>
          </a:p>
        </p:txBody>
      </p:sp>
      <p:sp>
        <p:nvSpPr>
          <p:cNvPr id="8" name="Piè di pagina"/>
          <p:cNvSpPr/>
          <p:nvPr/>
        </p:nvSpPr>
        <p:spPr>
          <a:xfrm>
            <a:off x="1000000" y="6400000"/>
            <a:ext cx="10192000" cy="2600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lang="it-IT" sz="900" spc="40">
                <a:solidFill>
                  <a:srgbClr val="B8B7A9"/>
                </a:solidFill>
                <a:latin typeface="DejaVu Sans"/>
                <a:ea typeface="DejaVu Sans"/>
                <a:cs typeface="DejaVu Sans"/>
              </a:rPr>
              <a:t>SKARHEIM  /  L'EREDITÀ DI DAVEN     •     27</a:t>
            </a:r>
            <a:endParaRPr lang="it-IT" sz="900">
              <a:solidFill>
                <a:srgbClr val="B8B7A9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Application>LibreOffice/7.4.7.2$Windows_X86_64 LibreOffice_project/723314e595e8007d3cf785c16538505a1c878ca5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2026-10-16T01:15:30Z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