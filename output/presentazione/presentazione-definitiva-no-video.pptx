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4F0993-7CBB-43D0-A624-E614E4AE38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EB40FC-D9F1-4D6E-B295-757B2ED5DE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ADCF22-77AF-4B0F-AE78-C8ACA817CB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C412B0-ACE7-4882-A63E-C0D6C7ED85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9FCA8B-9528-4EEF-A282-08EA6F3BFE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9924FE-E9F7-4635-9673-F3887A1507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EBF8D7-CC02-4DC4-9349-0E391C2DF7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C93EEA-2136-4AB6-8914-EA92B0927F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4A8B7B-D3E6-4254-ABA2-83CBCB32C7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825C51-6401-43BE-9C7B-6364124943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336695-0A09-43E8-91FB-857E3CE0F56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4994C6-7559-4BA5-896B-7D8A74D8B18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77689B5-3F3E-422A-8862-9A38085E40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E66A16D-0DAB-4D38-87F7-D2D0AD415B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CD3123E-19C6-43FF-B8A0-A5F50980E1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BD1BDB0-C8FC-42BE-BAB5-75F63F50AB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616AF2A-D7A2-4BED-A67B-7EA46E9035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B7751D8-45FD-4C01-8E13-2FBA881C27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115532-DEDC-430F-96A8-1586137A65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40FDBBE-25A5-4B01-BDDD-2085C6B452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9094B63-3E65-4B71-B486-1E5415C97D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0616E39-02F5-48AA-8BFB-8D00945D99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85D745F-B9BF-47B3-BC45-0056413A26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3FE1C8-FEAD-466A-A624-C6AF930CB9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A9199D-E6D5-4F28-A900-9DF53E81F31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2EDE50-363D-4386-82F0-2E4AADDF65B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7772400" y="0"/>
            <a:ext cx="4418280" cy="6856920"/>
          </a:xfrm>
          <a:prstGeom prst="rect">
            <a:avLst/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83" name="Connector 2"/>
          <p:cNvCxnSpPr/>
          <p:nvPr/>
        </p:nvCxnSpPr>
        <p:spPr>
          <a:xfrm>
            <a:off x="731520" y="658080"/>
            <a:ext cx="10653840" cy="108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84" name="Connector 3"/>
          <p:cNvCxnSpPr/>
          <p:nvPr/>
        </p:nvCxnSpPr>
        <p:spPr>
          <a:xfrm>
            <a:off x="731520" y="6217920"/>
            <a:ext cx="10653840" cy="108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85" name="TextBox 4"/>
          <p:cNvSpPr/>
          <p:nvPr/>
        </p:nvSpPr>
        <p:spPr>
          <a:xfrm>
            <a:off x="804600" y="987480"/>
            <a:ext cx="621684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UN'AVVENTURA DI RUOLO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749880" y="1572840"/>
            <a:ext cx="7039800" cy="7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46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</a:t>
            </a:r>
            <a:endParaRPr b="0" lang="it-IT" sz="4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7" name="Connector 6"/>
          <p:cNvCxnSpPr/>
          <p:nvPr/>
        </p:nvCxnSpPr>
        <p:spPr>
          <a:xfrm>
            <a:off x="822960" y="2953440"/>
            <a:ext cx="4847400" cy="1080"/>
          </a:xfrm>
          <a:prstGeom prst="straightConnector1">
            <a:avLst/>
          </a:prstGeom>
          <a:ln w="17780">
            <a:solidFill>
              <a:srgbClr val="d1a35d"/>
            </a:solidFill>
            <a:round/>
          </a:ln>
        </p:spPr>
      </p:cxnSp>
      <p:sp>
        <p:nvSpPr>
          <p:cNvPr id="88" name="TextBox 7"/>
          <p:cNvSpPr/>
          <p:nvPr/>
        </p:nvSpPr>
        <p:spPr>
          <a:xfrm>
            <a:off x="804600" y="3200400"/>
            <a:ext cx="658260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L'Eredità di Daven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831960" y="4069080"/>
            <a:ext cx="603396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Le vostre scelte. Un mondo vivo.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storia ancora da scrivere.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ounded Rectangle 9"/>
          <p:cNvSpPr/>
          <p:nvPr/>
        </p:nvSpPr>
        <p:spPr>
          <a:xfrm>
            <a:off x="822960" y="5257800"/>
            <a:ext cx="1297440" cy="38304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877680" y="5355000"/>
            <a:ext cx="11876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879985"/>
                </a:solidFill>
                <a:latin typeface="DejaVu Sans"/>
                <a:ea typeface="DejaVu Sans"/>
              </a:rPr>
              <a:t>FANTASY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ounded Rectangle 11"/>
          <p:cNvSpPr/>
          <p:nvPr/>
        </p:nvSpPr>
        <p:spPr>
          <a:xfrm>
            <a:off x="2240280" y="5257800"/>
            <a:ext cx="1187640" cy="38304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" name="TextBox 12"/>
          <p:cNvSpPr/>
          <p:nvPr/>
        </p:nvSpPr>
        <p:spPr>
          <a:xfrm>
            <a:off x="2295000" y="5355000"/>
            <a:ext cx="10778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SURVIVAL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13"/>
          <p:cNvSpPr/>
          <p:nvPr/>
        </p:nvSpPr>
        <p:spPr>
          <a:xfrm>
            <a:off x="3547800" y="5257800"/>
            <a:ext cx="1141920" cy="38304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" name="TextBox 14"/>
          <p:cNvSpPr/>
          <p:nvPr/>
        </p:nvSpPr>
        <p:spPr>
          <a:xfrm>
            <a:off x="3602880" y="5355000"/>
            <a:ext cx="10321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bd7868"/>
                </a:solidFill>
                <a:latin typeface="DejaVu Sans"/>
                <a:ea typeface="DejaVu Sans"/>
              </a:rPr>
              <a:t>INTRIGHI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Oval 15"/>
          <p:cNvSpPr/>
          <p:nvPr/>
        </p:nvSpPr>
        <p:spPr>
          <a:xfrm>
            <a:off x="8266320" y="1801440"/>
            <a:ext cx="2522520" cy="2522520"/>
          </a:xfrm>
          <a:prstGeom prst="ellipse">
            <a:avLst/>
          </a:prstGeom>
          <a:noFill/>
          <a:ln w="17780">
            <a:solidFill>
              <a:srgbClr val="d1a3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97" name="Connector 16"/>
          <p:cNvCxnSpPr/>
          <p:nvPr/>
        </p:nvCxnSpPr>
        <p:spPr>
          <a:xfrm>
            <a:off x="10881360" y="3063240"/>
            <a:ext cx="156240" cy="10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98" name="Connector 17"/>
          <p:cNvCxnSpPr/>
          <p:nvPr/>
        </p:nvCxnSpPr>
        <p:spPr>
          <a:xfrm>
            <a:off x="10484640" y="4020120"/>
            <a:ext cx="111240" cy="1108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99" name="Connector 18"/>
          <p:cNvCxnSpPr/>
          <p:nvPr/>
        </p:nvCxnSpPr>
        <p:spPr>
          <a:xfrm>
            <a:off x="9527760" y="4416480"/>
            <a:ext cx="1080" cy="15660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0" name="Connector 19"/>
          <p:cNvCxnSpPr/>
          <p:nvPr/>
        </p:nvCxnSpPr>
        <p:spPr>
          <a:xfrm flipH="1">
            <a:off x="8461080" y="4020120"/>
            <a:ext cx="110880" cy="1108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1" name="Connector 20"/>
          <p:cNvCxnSpPr/>
          <p:nvPr/>
        </p:nvCxnSpPr>
        <p:spPr>
          <a:xfrm flipH="1">
            <a:off x="8019000" y="3063240"/>
            <a:ext cx="156600" cy="10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2" name="Connector 21"/>
          <p:cNvCxnSpPr/>
          <p:nvPr/>
        </p:nvCxnSpPr>
        <p:spPr>
          <a:xfrm flipH="1" flipV="1">
            <a:off x="8461080" y="1996200"/>
            <a:ext cx="110880" cy="1108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3" name="Connector 22"/>
          <p:cNvCxnSpPr/>
          <p:nvPr/>
        </p:nvCxnSpPr>
        <p:spPr>
          <a:xfrm flipV="1">
            <a:off x="9527760" y="1554480"/>
            <a:ext cx="1080" cy="15624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4" name="Connector 23"/>
          <p:cNvCxnSpPr/>
          <p:nvPr/>
        </p:nvCxnSpPr>
        <p:spPr>
          <a:xfrm flipV="1">
            <a:off x="10484640" y="1996200"/>
            <a:ext cx="111240" cy="1108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5" name="Connector 24"/>
          <p:cNvCxnSpPr/>
          <p:nvPr/>
        </p:nvCxnSpPr>
        <p:spPr>
          <a:xfrm>
            <a:off x="9527760" y="2185200"/>
            <a:ext cx="1080" cy="175680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6" name="Connector 25"/>
          <p:cNvCxnSpPr/>
          <p:nvPr/>
        </p:nvCxnSpPr>
        <p:spPr>
          <a:xfrm>
            <a:off x="8650080" y="3063240"/>
            <a:ext cx="1756800" cy="108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7" name="Connector 26"/>
          <p:cNvCxnSpPr/>
          <p:nvPr/>
        </p:nvCxnSpPr>
        <p:spPr>
          <a:xfrm flipV="1">
            <a:off x="8814600" y="2788920"/>
            <a:ext cx="513360" cy="71424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08" name="Connector 27"/>
          <p:cNvCxnSpPr/>
          <p:nvPr/>
        </p:nvCxnSpPr>
        <p:spPr>
          <a:xfrm>
            <a:off x="9326880" y="2788920"/>
            <a:ext cx="366840" cy="38484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09" name="Connector 28"/>
          <p:cNvCxnSpPr/>
          <p:nvPr/>
        </p:nvCxnSpPr>
        <p:spPr>
          <a:xfrm flipV="1">
            <a:off x="9692640" y="2532600"/>
            <a:ext cx="439920" cy="64116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0" name="Connector 29"/>
          <p:cNvCxnSpPr/>
          <p:nvPr/>
        </p:nvCxnSpPr>
        <p:spPr>
          <a:xfrm>
            <a:off x="10131480" y="2532600"/>
            <a:ext cx="147240" cy="97056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sp>
        <p:nvSpPr>
          <p:cNvPr id="111" name="TextBox 30"/>
          <p:cNvSpPr/>
          <p:nvPr/>
        </p:nvSpPr>
        <p:spPr>
          <a:xfrm>
            <a:off x="7863840" y="4827960"/>
            <a:ext cx="33364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REAGISCE.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31"/>
          <p:cNvSpPr/>
          <p:nvPr/>
        </p:nvSpPr>
        <p:spPr>
          <a:xfrm>
            <a:off x="822960" y="6437520"/>
            <a:ext cx="63997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PRESENTAZIONE DELLA CAMPAGNA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01  /  LA CAMPAGNA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di scelte e conseguenze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L'Eredità di Daven si svolge nel mondo di Skarheim, tra mito, rischio e politica.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6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17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18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Rounded Rectangle 8"/>
          <p:cNvSpPr/>
          <p:nvPr/>
        </p:nvSpPr>
        <p:spPr>
          <a:xfrm>
            <a:off x="713160" y="2212920"/>
            <a:ext cx="3455280" cy="18550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" name="Rectangle 9"/>
          <p:cNvSpPr/>
          <p:nvPr/>
        </p:nvSpPr>
        <p:spPr>
          <a:xfrm>
            <a:off x="877680" y="2432160"/>
            <a:ext cx="49320" cy="14162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1078920" y="2441520"/>
            <a:ext cx="28335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Fantasy medievale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Box 11"/>
          <p:cNvSpPr/>
          <p:nvPr/>
        </p:nvSpPr>
        <p:spPr>
          <a:xfrm>
            <a:off x="1078920" y="3017520"/>
            <a:ext cx="2833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mondo originale ispirato all'immaginario e alle leggende norrene.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Rounded Rectangle 12"/>
          <p:cNvSpPr/>
          <p:nvPr/>
        </p:nvSpPr>
        <p:spPr>
          <a:xfrm>
            <a:off x="4370760" y="2212920"/>
            <a:ext cx="3455280" cy="18550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" name="Rectangle 13"/>
          <p:cNvSpPr/>
          <p:nvPr/>
        </p:nvSpPr>
        <p:spPr>
          <a:xfrm>
            <a:off x="4535280" y="2432160"/>
            <a:ext cx="49320" cy="141624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6" name="TextBox 14"/>
          <p:cNvSpPr/>
          <p:nvPr/>
        </p:nvSpPr>
        <p:spPr>
          <a:xfrm>
            <a:off x="4736520" y="2441520"/>
            <a:ext cx="28335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Ombre e sopravvivenza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Box 15"/>
          <p:cNvSpPr/>
          <p:nvPr/>
        </p:nvSpPr>
        <p:spPr>
          <a:xfrm>
            <a:off x="4736520" y="3017520"/>
            <a:ext cx="2833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Horror, risorse da gestire e decisioni che possono avere un costo.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ounded Rectangle 16"/>
          <p:cNvSpPr/>
          <p:nvPr/>
        </p:nvSpPr>
        <p:spPr>
          <a:xfrm>
            <a:off x="8028360" y="2212920"/>
            <a:ext cx="3455280" cy="18550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" name="Rectangle 17"/>
          <p:cNvSpPr/>
          <p:nvPr/>
        </p:nvSpPr>
        <p:spPr>
          <a:xfrm>
            <a:off x="8192880" y="2432160"/>
            <a:ext cx="49320" cy="14162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" name="TextBox 18"/>
          <p:cNvSpPr/>
          <p:nvPr/>
        </p:nvSpPr>
        <p:spPr>
          <a:xfrm>
            <a:off x="8394120" y="2441520"/>
            <a:ext cx="28335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Intrighi e libertà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Box 19"/>
          <p:cNvSpPr/>
          <p:nvPr/>
        </p:nvSpPr>
        <p:spPr>
          <a:xfrm>
            <a:off x="8394120" y="3017520"/>
            <a:ext cx="2833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scelte dei personaggi guidano la trama e ne determinano gli sviluppi.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20"/>
          <p:cNvSpPr/>
          <p:nvPr/>
        </p:nvSpPr>
        <p:spPr>
          <a:xfrm>
            <a:off x="960120" y="4880520"/>
            <a:ext cx="102402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3ebdd"/>
                </a:solidFill>
                <a:latin typeface="DejaVu Serif"/>
                <a:ea typeface="DejaVu Sans"/>
              </a:rPr>
              <a:t>Non siete qui per seguire una trama già scritta: siete qui per darle forma.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02  /  PRIMA DI INIZIARE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Temi e tono della campagna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affronta contenuti che potrebbero risultare intensi o delicati.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6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37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38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ounded Rectangle 8"/>
          <p:cNvSpPr/>
          <p:nvPr/>
        </p:nvSpPr>
        <p:spPr>
          <a:xfrm>
            <a:off x="731520" y="2176200"/>
            <a:ext cx="3976560" cy="3400560"/>
          </a:xfrm>
          <a:prstGeom prst="roundRect">
            <a:avLst>
              <a:gd name="adj" fmla="val 16667"/>
            </a:avLst>
          </a:prstGeom>
          <a:solidFill>
            <a:srgbClr val="332a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1" name="TextBox 9"/>
          <p:cNvSpPr/>
          <p:nvPr/>
        </p:nvSpPr>
        <p:spPr>
          <a:xfrm>
            <a:off x="1051560" y="2487240"/>
            <a:ext cx="338220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bd7868"/>
                </a:solidFill>
                <a:latin typeface="DejaVu Sans"/>
                <a:ea typeface="DejaVu Sans"/>
              </a:rPr>
              <a:t>AVVISO CONTENUTI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1051560" y="3035880"/>
            <a:ext cx="32907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Violenza fisica, mentale, sessuale e verbale; horror; intrighi politici; situazioni moralmente complesse.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Box 11"/>
          <p:cNvSpPr/>
          <p:nvPr/>
        </p:nvSpPr>
        <p:spPr>
          <a:xfrm>
            <a:off x="5166360" y="2331720"/>
            <a:ext cx="61711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SENZA RISPOSTE SEMPLICI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12"/>
          <p:cNvSpPr/>
          <p:nvPr/>
        </p:nvSpPr>
        <p:spPr>
          <a:xfrm>
            <a:off x="5166360" y="2853000"/>
            <a:ext cx="6171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decisioni potrebbero non avere una soluzione giusta o sbagliata e le conseguenze non saranno sempre prevedibili.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5" name="Connector 13"/>
          <p:cNvCxnSpPr/>
          <p:nvPr/>
        </p:nvCxnSpPr>
        <p:spPr>
          <a:xfrm>
            <a:off x="5166360" y="4279320"/>
            <a:ext cx="5990400" cy="108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146" name="TextBox 14"/>
          <p:cNvSpPr/>
          <p:nvPr/>
        </p:nvSpPr>
        <p:spPr>
          <a:xfrm>
            <a:off x="5166360" y="4599360"/>
            <a:ext cx="59882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fantasy medievale è personalizzato per il tema della campagna, insieme a elementi survival e gestionali.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e spazio per tutti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semplici per proteggere l'esperienza condivisa.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0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51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52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ounded Rectangle 8"/>
          <p:cNvSpPr/>
          <p:nvPr/>
        </p:nvSpPr>
        <p:spPr>
          <a:xfrm>
            <a:off x="731520" y="21762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5" name="Rectangle 9"/>
          <p:cNvSpPr/>
          <p:nvPr/>
        </p:nvSpPr>
        <p:spPr>
          <a:xfrm>
            <a:off x="896040" y="2395800"/>
            <a:ext cx="49320" cy="9133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6" name="TextBox 10"/>
          <p:cNvSpPr/>
          <p:nvPr/>
        </p:nvSpPr>
        <p:spPr>
          <a:xfrm>
            <a:off x="1097280" y="24048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durante il roleplay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11"/>
          <p:cNvSpPr/>
          <p:nvPr/>
        </p:nvSpPr>
        <p:spPr>
          <a:xfrm>
            <a:off x="1097280" y="29808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schernire né deridere chi interpreta o interagisce con il mondo.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ounded Rectangle 12"/>
          <p:cNvSpPr/>
          <p:nvPr/>
        </p:nvSpPr>
        <p:spPr>
          <a:xfrm>
            <a:off x="6217920" y="21762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9" name="Rectangle 13"/>
          <p:cNvSpPr/>
          <p:nvPr/>
        </p:nvSpPr>
        <p:spPr>
          <a:xfrm>
            <a:off x="6382440" y="2395800"/>
            <a:ext cx="49320" cy="9133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0" name="TextBox 14"/>
          <p:cNvSpPr/>
          <p:nvPr/>
        </p:nvSpPr>
        <p:spPr>
          <a:xfrm>
            <a:off x="6583680" y="24048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Ascoltare senza interrompere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Box 15"/>
          <p:cNvSpPr/>
          <p:nvPr/>
        </p:nvSpPr>
        <p:spPr>
          <a:xfrm>
            <a:off x="6583680" y="29808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Aspetta che il master o gli altri giocatori concludano la descrizione o l'interazione.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Rounded Rectangle 16"/>
          <p:cNvSpPr/>
          <p:nvPr/>
        </p:nvSpPr>
        <p:spPr>
          <a:xfrm>
            <a:off x="731520" y="37674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3" name="Rectangle 17"/>
          <p:cNvSpPr/>
          <p:nvPr/>
        </p:nvSpPr>
        <p:spPr>
          <a:xfrm>
            <a:off x="896040" y="3986640"/>
            <a:ext cx="49320" cy="9133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4" name="TextBox 18"/>
          <p:cNvSpPr/>
          <p:nvPr/>
        </p:nvSpPr>
        <p:spPr>
          <a:xfrm>
            <a:off x="1097280" y="39960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Partecipazione per tutti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Box 19"/>
          <p:cNvSpPr/>
          <p:nvPr/>
        </p:nvSpPr>
        <p:spPr>
          <a:xfrm>
            <a:off x="1097280" y="45720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Alza la mano se vuoi intervenire senza interrompere: il master ti darà spazio.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Rounded Rectangle 20"/>
          <p:cNvSpPr/>
          <p:nvPr/>
        </p:nvSpPr>
        <p:spPr>
          <a:xfrm>
            <a:off x="6217920" y="37674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7" name="Rectangle 21"/>
          <p:cNvSpPr/>
          <p:nvPr/>
        </p:nvSpPr>
        <p:spPr>
          <a:xfrm>
            <a:off x="6382440" y="3986640"/>
            <a:ext cx="49320" cy="9133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8" name="TextBox 22"/>
          <p:cNvSpPr/>
          <p:nvPr/>
        </p:nvSpPr>
        <p:spPr>
          <a:xfrm>
            <a:off x="6583680" y="39960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Scherzare, senza rovinare la scena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Box 23"/>
          <p:cNvSpPr/>
          <p:nvPr/>
        </p:nvSpPr>
        <p:spPr>
          <a:xfrm>
            <a:off x="6583680" y="45720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battute sono benvenute, finché non compromettono la sessione o il divertimento altrui.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Fiducia, salute e correttezza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collaborazione viene prima della competizione tra giocatori.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3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74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75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05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Rounded Rectangle 8"/>
          <p:cNvSpPr/>
          <p:nvPr/>
        </p:nvSpPr>
        <p:spPr>
          <a:xfrm>
            <a:off x="731520" y="21762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8" name="Rectangle 9"/>
          <p:cNvSpPr/>
          <p:nvPr/>
        </p:nvSpPr>
        <p:spPr>
          <a:xfrm>
            <a:off x="896040" y="2395800"/>
            <a:ext cx="49320" cy="9133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1097280" y="24048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Dubbi 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Box 11"/>
          <p:cNvSpPr/>
          <p:nvPr/>
        </p:nvSpPr>
        <p:spPr>
          <a:xfrm>
            <a:off x="1097280" y="29808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Per regole e situazioni, chiedi al master: a lui spettano approvazioni, interpretazioni e veti.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Rounded Rectangle 12"/>
          <p:cNvSpPr/>
          <p:nvPr/>
        </p:nvSpPr>
        <p:spPr>
          <a:xfrm>
            <a:off x="6217920" y="21762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2" name="Rectangle 13"/>
          <p:cNvSpPr/>
          <p:nvPr/>
        </p:nvSpPr>
        <p:spPr>
          <a:xfrm>
            <a:off x="6382440" y="2395800"/>
            <a:ext cx="49320" cy="9133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3" name="TextBox 14"/>
          <p:cNvSpPr/>
          <p:nvPr/>
        </p:nvSpPr>
        <p:spPr>
          <a:xfrm>
            <a:off x="6583680" y="24048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delle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Box 15"/>
          <p:cNvSpPr/>
          <p:nvPr/>
        </p:nvSpPr>
        <p:spPr>
          <a:xfrm>
            <a:off x="6583680" y="29808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del master vanno rispettate, anche quando non coincidono con le aspettative.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Rounded Rectangle 16"/>
          <p:cNvSpPr/>
          <p:nvPr/>
        </p:nvSpPr>
        <p:spPr>
          <a:xfrm>
            <a:off x="731520" y="37674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6" name="Rectangle 17"/>
          <p:cNvSpPr/>
          <p:nvPr/>
        </p:nvSpPr>
        <p:spPr>
          <a:xfrm>
            <a:off x="896040" y="3986640"/>
            <a:ext cx="49320" cy="91332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7" name="TextBox 18"/>
          <p:cNvSpPr/>
          <p:nvPr/>
        </p:nvSpPr>
        <p:spPr>
          <a:xfrm>
            <a:off x="1097280" y="39960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vita privata viene prima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Box 19"/>
          <p:cNvSpPr/>
          <p:nvPr/>
        </p:nvSpPr>
        <p:spPr>
          <a:xfrm>
            <a:off x="1097280" y="45720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Se ti ammali, dai priorità alla salute e alla guarigione. Il gioco può aspettare.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ounded Rectangle 20"/>
          <p:cNvSpPr/>
          <p:nvPr/>
        </p:nvSpPr>
        <p:spPr>
          <a:xfrm>
            <a:off x="6217920" y="37674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0" name="Rectangle 21"/>
          <p:cNvSpPr/>
          <p:nvPr/>
        </p:nvSpPr>
        <p:spPr>
          <a:xfrm>
            <a:off x="6382440" y="3986640"/>
            <a:ext cx="49320" cy="91332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1" name="TextBox 22"/>
          <p:cNvSpPr/>
          <p:nvPr/>
        </p:nvSpPr>
        <p:spPr>
          <a:xfrm>
            <a:off x="6583680" y="39960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Tiri di dado trasparenti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Box 23"/>
          <p:cNvSpPr/>
          <p:nvPr/>
        </p:nvSpPr>
        <p:spPr>
          <a:xfrm>
            <a:off x="6583680" y="45720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vietato falsificare, alterare o modificare il risultato di un tiro.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04  /  I GIOCATORI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personaggio è più della scheda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passato e le scelte dei personaggi avranno un peso nella storia.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6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97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98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Rounded Rectangle 8"/>
          <p:cNvSpPr/>
          <p:nvPr/>
        </p:nvSpPr>
        <p:spPr>
          <a:xfrm>
            <a:off x="731520" y="21762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1" name="Rectangle 9"/>
          <p:cNvSpPr/>
          <p:nvPr/>
        </p:nvSpPr>
        <p:spPr>
          <a:xfrm>
            <a:off x="896040" y="2395800"/>
            <a:ext cx="49320" cy="9133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2" name="TextBox 10"/>
          <p:cNvSpPr/>
          <p:nvPr/>
        </p:nvSpPr>
        <p:spPr>
          <a:xfrm>
            <a:off x="1097280" y="24048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vostre azioni muovono la trama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Box 11"/>
          <p:cNvSpPr/>
          <p:nvPr/>
        </p:nvSpPr>
        <p:spPr>
          <a:xfrm>
            <a:off x="1097280" y="29808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dei giocatori influenzeranno in larga parte lo sviluppo della campagna.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Rounded Rectangle 12"/>
          <p:cNvSpPr/>
          <p:nvPr/>
        </p:nvSpPr>
        <p:spPr>
          <a:xfrm>
            <a:off x="6217920" y="21762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5" name="Rectangle 13"/>
          <p:cNvSpPr/>
          <p:nvPr/>
        </p:nvSpPr>
        <p:spPr>
          <a:xfrm>
            <a:off x="6382440" y="2395800"/>
            <a:ext cx="49320" cy="9133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6" name="TextBox 14"/>
          <p:cNvSpPr/>
          <p:nvPr/>
        </p:nvSpPr>
        <p:spPr>
          <a:xfrm>
            <a:off x="6583680" y="24048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 è al centro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Box 15"/>
          <p:cNvSpPr/>
          <p:nvPr/>
        </p:nvSpPr>
        <p:spPr>
          <a:xfrm>
            <a:off x="6583680" y="29808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di ruolo è incoraggiato. Le statistiche sono linee guida, non l'unico modo di leggere il personaggio.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Rounded Rectangle 16"/>
          <p:cNvSpPr/>
          <p:nvPr/>
        </p:nvSpPr>
        <p:spPr>
          <a:xfrm>
            <a:off x="731520" y="37674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9" name="Rectangle 17"/>
          <p:cNvSpPr/>
          <p:nvPr/>
        </p:nvSpPr>
        <p:spPr>
          <a:xfrm>
            <a:off x="896040" y="3986640"/>
            <a:ext cx="49320" cy="9133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0" name="TextBox 18"/>
          <p:cNvSpPr/>
          <p:nvPr/>
        </p:nvSpPr>
        <p:spPr>
          <a:xfrm>
            <a:off x="1097280" y="39960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regole si imparano giocando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Box 19"/>
          <p:cNvSpPr/>
          <p:nvPr/>
        </p:nvSpPr>
        <p:spPr>
          <a:xfrm>
            <a:off x="1097280" y="45720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serve conoscere il sistema a memoria: giocatori esperti saranno disponibili ad aiutare.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Rounded Rectangle 20"/>
          <p:cNvSpPr/>
          <p:nvPr/>
        </p:nvSpPr>
        <p:spPr>
          <a:xfrm>
            <a:off x="6217920" y="37674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3" name="Rectangle 21"/>
          <p:cNvSpPr/>
          <p:nvPr/>
        </p:nvSpPr>
        <p:spPr>
          <a:xfrm>
            <a:off x="6382440" y="3986640"/>
            <a:ext cx="49320" cy="9133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4" name="TextBox 22"/>
          <p:cNvSpPr/>
          <p:nvPr/>
        </p:nvSpPr>
        <p:spPr>
          <a:xfrm>
            <a:off x="6583680" y="39960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Costruire un background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Box 23"/>
          <p:cNvSpPr/>
          <p:nvPr/>
        </p:nvSpPr>
        <p:spPr>
          <a:xfrm>
            <a:off x="6583680" y="45720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richiesto per ogni personaggio; può essere individuale o condiviso, sempre coinvolgendo il master.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05  /  IL MASTER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master gioca con voi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è un avversario: il suo ruolo è far vivere un'esperienza coinvolgente.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9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20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21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Rounded Rectangle 8"/>
          <p:cNvSpPr/>
          <p:nvPr/>
        </p:nvSpPr>
        <p:spPr>
          <a:xfrm>
            <a:off x="731520" y="21762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4" name="Rectangle 9"/>
          <p:cNvSpPr/>
          <p:nvPr/>
        </p:nvSpPr>
        <p:spPr>
          <a:xfrm>
            <a:off x="896040" y="2395800"/>
            <a:ext cx="49320" cy="91332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5" name="TextBox 10"/>
          <p:cNvSpPr/>
          <p:nvPr/>
        </p:nvSpPr>
        <p:spPr>
          <a:xfrm>
            <a:off x="1097280" y="24048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Sfide, non una gara a eliminare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Box 11"/>
          <p:cNvSpPr/>
          <p:nvPr/>
        </p:nvSpPr>
        <p:spPr>
          <a:xfrm>
            <a:off x="1097280" y="29808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mette i personaggi davanti a situazioni significative: non ha come obiettivo ucciderli.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Rounded Rectangle 12"/>
          <p:cNvSpPr/>
          <p:nvPr/>
        </p:nvSpPr>
        <p:spPr>
          <a:xfrm>
            <a:off x="6217920" y="21762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8" name="Rectangle 13"/>
          <p:cNvSpPr/>
          <p:nvPr/>
        </p:nvSpPr>
        <p:spPr>
          <a:xfrm>
            <a:off x="6382440" y="2395800"/>
            <a:ext cx="49320" cy="9133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9" name="TextBox 14"/>
          <p:cNvSpPr/>
          <p:nvPr/>
        </p:nvSpPr>
        <p:spPr>
          <a:xfrm>
            <a:off x="6583680" y="24048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condivisa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Box 15"/>
          <p:cNvSpPr/>
          <p:nvPr/>
        </p:nvSpPr>
        <p:spPr>
          <a:xfrm>
            <a:off x="6583680" y="29808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mondo reagisce alle vostre azioni; il master non impone una trama prestabilita.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Rounded Rectangle 16"/>
          <p:cNvSpPr/>
          <p:nvPr/>
        </p:nvSpPr>
        <p:spPr>
          <a:xfrm>
            <a:off x="731520" y="37674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2" name="Rectangle 17"/>
          <p:cNvSpPr/>
          <p:nvPr/>
        </p:nvSpPr>
        <p:spPr>
          <a:xfrm>
            <a:off x="896040" y="3986640"/>
            <a:ext cx="49320" cy="9133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3" name="TextBox 18"/>
          <p:cNvSpPr/>
          <p:nvPr/>
        </p:nvSpPr>
        <p:spPr>
          <a:xfrm>
            <a:off x="1097280" y="39960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Spazio e ascolto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Box 19"/>
          <p:cNvSpPr/>
          <p:nvPr/>
        </p:nvSpPr>
        <p:spPr>
          <a:xfrm>
            <a:off x="1097280" y="45720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Tutti avranno l'opportunità di esprimersi e di approfondire il proprio background.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Rounded Rectangle 20"/>
          <p:cNvSpPr/>
          <p:nvPr/>
        </p:nvSpPr>
        <p:spPr>
          <a:xfrm>
            <a:off x="6217920" y="3767400"/>
            <a:ext cx="5229360" cy="1352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6" name="Rectangle 21"/>
          <p:cNvSpPr/>
          <p:nvPr/>
        </p:nvSpPr>
        <p:spPr>
          <a:xfrm>
            <a:off x="6382440" y="3986640"/>
            <a:ext cx="49320" cy="9133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7" name="TextBox 22"/>
          <p:cNvSpPr/>
          <p:nvPr/>
        </p:nvSpPr>
        <p:spPr>
          <a:xfrm>
            <a:off x="6583680" y="3996000"/>
            <a:ext cx="46076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Disponibilità e presenza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Box 23"/>
          <p:cNvSpPr/>
          <p:nvPr/>
        </p:nvSpPr>
        <p:spPr>
          <a:xfrm>
            <a:off x="6583680" y="4572000"/>
            <a:ext cx="46076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è disponibile per dubbi e chiarimenti e sarà presente alle sessioni, salvo imprevisti.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06  /  IL MONDO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è un mondo vivo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scelta può lasciare traccia, anche quando sembra irrilevante.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2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43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44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Box 8"/>
          <p:cNvSpPr/>
          <p:nvPr/>
        </p:nvSpPr>
        <p:spPr>
          <a:xfrm>
            <a:off x="868680" y="2286000"/>
            <a:ext cx="4753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persone incontrate, i conflitti affrontati e le decisioni prese cambieranno ciò che accadrà.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7" name="Connector 9"/>
          <p:cNvCxnSpPr/>
          <p:nvPr/>
        </p:nvCxnSpPr>
        <p:spPr>
          <a:xfrm>
            <a:off x="5989320" y="2267640"/>
            <a:ext cx="1080" cy="3036960"/>
          </a:xfrm>
          <a:prstGeom prst="straightConnector1">
            <a:avLst/>
          </a:prstGeom>
          <a:ln w="12700">
            <a:solidFill>
              <a:srgbClr val="3b4a4c"/>
            </a:solidFill>
            <a:round/>
          </a:ln>
        </p:spPr>
      </p:cxnSp>
      <p:sp>
        <p:nvSpPr>
          <p:cNvPr id="248" name="TextBox 10"/>
          <p:cNvSpPr/>
          <p:nvPr/>
        </p:nvSpPr>
        <p:spPr>
          <a:xfrm>
            <a:off x="6400800" y="2359080"/>
            <a:ext cx="45709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GIÀ IN MOVIMENTO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Box 11"/>
          <p:cNvSpPr/>
          <p:nvPr/>
        </p:nvSpPr>
        <p:spPr>
          <a:xfrm>
            <a:off x="6400800" y="2853000"/>
            <a:ext cx="46623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è anche conseguenza di avventure già vissute a Skarheim.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Box 12"/>
          <p:cNvSpPr/>
          <p:nvPr/>
        </p:nvSpPr>
        <p:spPr>
          <a:xfrm>
            <a:off x="6400800" y="3913560"/>
            <a:ext cx="45709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ISPIRAZIONE, NON COPIA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Box 13"/>
          <p:cNvSpPr/>
          <p:nvPr/>
        </p:nvSpPr>
        <p:spPr>
          <a:xfrm>
            <a:off x="6400800" y="4407480"/>
            <a:ext cx="46623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Miti e leggende norrene sono un punto di partenza: questa è una reinterpretazione.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Box 14"/>
          <p:cNvSpPr/>
          <p:nvPr/>
        </p:nvSpPr>
        <p:spPr>
          <a:xfrm>
            <a:off x="868680" y="5139000"/>
            <a:ext cx="1028592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d1a35d"/>
                </a:solidFill>
                <a:latin typeface="DejaVu Serif"/>
                <a:ea typeface="DejaVu Sans"/>
              </a:rPr>
              <a:t>La nostra storia non è una riproduzione delle leggende.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07  /  PERSONAGGI E RISORSE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Interpretare. Scegliere. Amministrare.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può mettere alla prova sia le convinzioni sia le risorse dei personaggi.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6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57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58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Rounded Rectangle 8"/>
          <p:cNvSpPr/>
          <p:nvPr/>
        </p:nvSpPr>
        <p:spPr>
          <a:xfrm>
            <a:off x="731520" y="2194560"/>
            <a:ext cx="5229360" cy="1937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1" name="Rectangle 9"/>
          <p:cNvSpPr/>
          <p:nvPr/>
        </p:nvSpPr>
        <p:spPr>
          <a:xfrm>
            <a:off x="896040" y="2414160"/>
            <a:ext cx="49320" cy="1498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2" name="TextBox 10"/>
          <p:cNvSpPr/>
          <p:nvPr/>
        </p:nvSpPr>
        <p:spPr>
          <a:xfrm>
            <a:off x="1097280" y="2423160"/>
            <a:ext cx="460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Gioca qualcuno di diverso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Box 11"/>
          <p:cNvSpPr/>
          <p:nvPr/>
        </p:nvSpPr>
        <p:spPr>
          <a:xfrm>
            <a:off x="1097280" y="2999160"/>
            <a:ext cx="46076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aver paura di interpretare caratteristiche, convinzioni e personalità lontane dalle tue: immedesimarsi fa parte del gioco.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Rounded Rectangle 12"/>
          <p:cNvSpPr/>
          <p:nvPr/>
        </p:nvSpPr>
        <p:spPr>
          <a:xfrm>
            <a:off x="6217920" y="2194560"/>
            <a:ext cx="5229360" cy="1937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5" name="Rectangle 13"/>
          <p:cNvSpPr/>
          <p:nvPr/>
        </p:nvSpPr>
        <p:spPr>
          <a:xfrm>
            <a:off x="6382440" y="2414160"/>
            <a:ext cx="49320" cy="1498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6" name="TextBox 14"/>
          <p:cNvSpPr/>
          <p:nvPr/>
        </p:nvSpPr>
        <p:spPr>
          <a:xfrm>
            <a:off x="6583680" y="2423160"/>
            <a:ext cx="460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risorse non sono infinite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Box 15"/>
          <p:cNvSpPr/>
          <p:nvPr/>
        </p:nvSpPr>
        <p:spPr>
          <a:xfrm>
            <a:off x="6583680" y="2999160"/>
            <a:ext cx="460764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Ricchezze e approvvigionamenti potrebbero essere limitati: gestirli farà parte dell'esperienza.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Rounded Rectangle 16"/>
          <p:cNvSpPr/>
          <p:nvPr/>
        </p:nvSpPr>
        <p:spPr>
          <a:xfrm>
            <a:off x="2971800" y="4572000"/>
            <a:ext cx="6235200" cy="7488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9" name="TextBox 17"/>
          <p:cNvSpPr/>
          <p:nvPr/>
        </p:nvSpPr>
        <p:spPr>
          <a:xfrm>
            <a:off x="3154680" y="4783320"/>
            <a:ext cx="586944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900" spc="-1" strike="noStrike">
                <a:solidFill>
                  <a:srgbClr val="d1a35d"/>
                </a:solidFill>
                <a:latin typeface="DejaVu Serif"/>
                <a:ea typeface="DejaVu Sans"/>
              </a:rPr>
              <a:t>1 MONETA D'ORO (MO)  =  1 PASTO</a:t>
            </a:r>
            <a:endParaRPr b="0" lang="it-IT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08  /  CONFLITTO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combattimento non è la risposta automatica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Gli scontri non sono il fulcro dell'avventura e molti saranno evitabili.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3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74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75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896040" y="2267640"/>
            <a:ext cx="49824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f3ebdd"/>
                </a:solidFill>
                <a:latin typeface="DejaVu Serif"/>
                <a:ea typeface="DejaVu Sans"/>
              </a:rPr>
              <a:t>Se cerchi una campagna in cui si combatte a ogni sessione, questa potrebbe non fare per te.</a:t>
            </a:r>
            <a:endParaRPr b="0" lang="it-IT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9"/>
          <p:cNvSpPr/>
          <p:nvPr/>
        </p:nvSpPr>
        <p:spPr>
          <a:xfrm>
            <a:off x="896040" y="4041720"/>
            <a:ext cx="4708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d1a35d"/>
                </a:solidFill>
                <a:latin typeface="DejaVu Sans"/>
                <a:ea typeface="DejaVu Sans"/>
              </a:rPr>
              <a:t>Le vostre scelte possono portare allo scontro — oppure evitarlo.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Rounded Rectangle 10"/>
          <p:cNvSpPr/>
          <p:nvPr/>
        </p:nvSpPr>
        <p:spPr>
          <a:xfrm>
            <a:off x="6263640" y="2286000"/>
            <a:ext cx="5119560" cy="773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0" name="Rectangle 11"/>
          <p:cNvSpPr/>
          <p:nvPr/>
        </p:nvSpPr>
        <p:spPr>
          <a:xfrm>
            <a:off x="6428160" y="2505600"/>
            <a:ext cx="49320" cy="3463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1" name="TextBox 12"/>
          <p:cNvSpPr/>
          <p:nvPr/>
        </p:nvSpPr>
        <p:spPr>
          <a:xfrm>
            <a:off x="6629400" y="2514600"/>
            <a:ext cx="4497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Dialogo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Box 13"/>
          <p:cNvSpPr/>
          <p:nvPr/>
        </p:nvSpPr>
        <p:spPr>
          <a:xfrm>
            <a:off x="6629400" y="2817720"/>
            <a:ext cx="44978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Capire le ragioni degli altri.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Rounded Rectangle 14"/>
          <p:cNvSpPr/>
          <p:nvPr/>
        </p:nvSpPr>
        <p:spPr>
          <a:xfrm>
            <a:off x="6263640" y="3273480"/>
            <a:ext cx="5119560" cy="785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4" name="Rectangle 15"/>
          <p:cNvSpPr/>
          <p:nvPr/>
        </p:nvSpPr>
        <p:spPr>
          <a:xfrm>
            <a:off x="6428160" y="3493080"/>
            <a:ext cx="49320" cy="3463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5" name="TextBox 16"/>
          <p:cNvSpPr/>
          <p:nvPr/>
        </p:nvSpPr>
        <p:spPr>
          <a:xfrm>
            <a:off x="6629400" y="3502080"/>
            <a:ext cx="4497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Diplomazia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Box 17"/>
          <p:cNvSpPr/>
          <p:nvPr/>
        </p:nvSpPr>
        <p:spPr>
          <a:xfrm>
            <a:off x="6629400" y="3805200"/>
            <a:ext cx="44978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Cercare un accordo.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Rounded Rectangle 18"/>
          <p:cNvSpPr/>
          <p:nvPr/>
        </p:nvSpPr>
        <p:spPr>
          <a:xfrm>
            <a:off x="6263640" y="4260960"/>
            <a:ext cx="5119560" cy="7851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8" name="Rectangle 19"/>
          <p:cNvSpPr/>
          <p:nvPr/>
        </p:nvSpPr>
        <p:spPr>
          <a:xfrm>
            <a:off x="6428160" y="4480560"/>
            <a:ext cx="49320" cy="34632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9" name="TextBox 20"/>
          <p:cNvSpPr/>
          <p:nvPr/>
        </p:nvSpPr>
        <p:spPr>
          <a:xfrm>
            <a:off x="6629400" y="4489560"/>
            <a:ext cx="4497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Inganno e altre vie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Box 21"/>
          <p:cNvSpPr/>
          <p:nvPr/>
        </p:nvSpPr>
        <p:spPr>
          <a:xfrm>
            <a:off x="6629400" y="4793040"/>
            <a:ext cx="44978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Un conflitto può avere più soluzioni.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09  /  SISTEMA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3.5, con regole su misura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usa una versione personalizzata e collaudata nel tempo.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94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95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96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Rounded Rectangle 8"/>
          <p:cNvSpPr/>
          <p:nvPr/>
        </p:nvSpPr>
        <p:spPr>
          <a:xfrm>
            <a:off x="731520" y="2212920"/>
            <a:ext cx="3455280" cy="17820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9" name="Rectangle 9"/>
          <p:cNvSpPr/>
          <p:nvPr/>
        </p:nvSpPr>
        <p:spPr>
          <a:xfrm>
            <a:off x="896040" y="2432160"/>
            <a:ext cx="49320" cy="134316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0" name="TextBox 10"/>
          <p:cNvSpPr/>
          <p:nvPr/>
        </p:nvSpPr>
        <p:spPr>
          <a:xfrm>
            <a:off x="1097280" y="2441520"/>
            <a:ext cx="283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 System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Box 11"/>
          <p:cNvSpPr/>
          <p:nvPr/>
        </p:nvSpPr>
        <p:spPr>
          <a:xfrm>
            <a:off x="1097280" y="3017520"/>
            <a:ext cx="283356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sistema di gioco di riferimento.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Rounded Rectangle 12"/>
          <p:cNvSpPr/>
          <p:nvPr/>
        </p:nvSpPr>
        <p:spPr>
          <a:xfrm>
            <a:off x="4370760" y="2212920"/>
            <a:ext cx="3455280" cy="17820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3" name="Rectangle 13"/>
          <p:cNvSpPr/>
          <p:nvPr/>
        </p:nvSpPr>
        <p:spPr>
          <a:xfrm>
            <a:off x="4535280" y="2432160"/>
            <a:ext cx="49320" cy="134316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4" name="TextBox 14"/>
          <p:cNvSpPr/>
          <p:nvPr/>
        </p:nvSpPr>
        <p:spPr>
          <a:xfrm>
            <a:off x="4736520" y="2441520"/>
            <a:ext cx="283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Regole homebrew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Box 15"/>
          <p:cNvSpPr/>
          <p:nvPr/>
        </p:nvSpPr>
        <p:spPr>
          <a:xfrm>
            <a:off x="4736520" y="3017520"/>
            <a:ext cx="2833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personalizzate saranno presentate durante la campagna.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Rounded Rectangle 16"/>
          <p:cNvSpPr/>
          <p:nvPr/>
        </p:nvSpPr>
        <p:spPr>
          <a:xfrm>
            <a:off x="8028360" y="2212920"/>
            <a:ext cx="3455280" cy="17820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7" name="Rectangle 17"/>
          <p:cNvSpPr/>
          <p:nvPr/>
        </p:nvSpPr>
        <p:spPr>
          <a:xfrm>
            <a:off x="8192880" y="2432160"/>
            <a:ext cx="49320" cy="134316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8" name="TextBox 18"/>
          <p:cNvSpPr/>
          <p:nvPr/>
        </p:nvSpPr>
        <p:spPr>
          <a:xfrm>
            <a:off x="8394120" y="2441520"/>
            <a:ext cx="283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come guida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Box 19"/>
          <p:cNvSpPr/>
          <p:nvPr/>
        </p:nvSpPr>
        <p:spPr>
          <a:xfrm>
            <a:off x="8394120" y="3017520"/>
            <a:ext cx="2833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regole ufficiali non sono intoccabili: conta l'approvazione del master.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Rounded Rectangle 20"/>
          <p:cNvSpPr/>
          <p:nvPr/>
        </p:nvSpPr>
        <p:spPr>
          <a:xfrm>
            <a:off x="1188720" y="4480560"/>
            <a:ext cx="9828720" cy="7851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1" name="TextBox 21"/>
          <p:cNvSpPr/>
          <p:nvPr/>
        </p:nvSpPr>
        <p:spPr>
          <a:xfrm>
            <a:off x="1417320" y="4748040"/>
            <a:ext cx="93715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Power play fortemente sconsigliato: l'obiettivo è giocare insieme.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10  /  MATERIALI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consentiti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materiale ufficiale è disponibile: non serve acquistare manuali.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15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16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17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Rounded Rectangle 8"/>
          <p:cNvSpPr/>
          <p:nvPr/>
        </p:nvSpPr>
        <p:spPr>
          <a:xfrm>
            <a:off x="777240" y="2240280"/>
            <a:ext cx="5073840" cy="2284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0" name="TextBox 9"/>
          <p:cNvSpPr/>
          <p:nvPr/>
        </p:nvSpPr>
        <p:spPr>
          <a:xfrm>
            <a:off x="1143000" y="2560320"/>
            <a:ext cx="438804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SISTEMI AMMESSI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Box 10"/>
          <p:cNvSpPr/>
          <p:nvPr/>
        </p:nvSpPr>
        <p:spPr>
          <a:xfrm>
            <a:off x="1170360" y="3063240"/>
            <a:ext cx="438804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Pathfinder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Rounded Rectangle 11"/>
          <p:cNvSpPr/>
          <p:nvPr/>
        </p:nvSpPr>
        <p:spPr>
          <a:xfrm>
            <a:off x="6172200" y="2240280"/>
            <a:ext cx="5211000" cy="2284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3" name="TextBox 12"/>
          <p:cNvSpPr/>
          <p:nvPr/>
        </p:nvSpPr>
        <p:spPr>
          <a:xfrm>
            <a:off x="6537960" y="2560320"/>
            <a:ext cx="44794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PRIMA DI USARLI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Box 13"/>
          <p:cNvSpPr/>
          <p:nvPr/>
        </p:nvSpPr>
        <p:spPr>
          <a:xfrm>
            <a:off x="6537960" y="3063240"/>
            <a:ext cx="44337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opzione va approvata dal master, soprattutto se entra in conflitto con le regole personalizzate.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Box 14"/>
          <p:cNvSpPr/>
          <p:nvPr/>
        </p:nvSpPr>
        <p:spPr>
          <a:xfrm>
            <a:off x="1005840" y="4983480"/>
            <a:ext cx="101944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d1a35d"/>
                </a:solidFill>
                <a:latin typeface="DejaVu Serif"/>
                <a:ea typeface="DejaVu Sans"/>
              </a:rPr>
              <a:t>I manuali sono già in possesso del master.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11  /  OCCORRENTE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Cosa portare alla sessione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Poche cose pratiche per essere pronti a giocare.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29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30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31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Rounded Rectangle 8"/>
          <p:cNvSpPr/>
          <p:nvPr/>
        </p:nvSpPr>
        <p:spPr>
          <a:xfrm>
            <a:off x="749880" y="2212920"/>
            <a:ext cx="3336480" cy="1873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4" name="Rectangle 9"/>
          <p:cNvSpPr/>
          <p:nvPr/>
        </p:nvSpPr>
        <p:spPr>
          <a:xfrm>
            <a:off x="914400" y="2432160"/>
            <a:ext cx="49320" cy="143460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5" name="TextBox 10"/>
          <p:cNvSpPr/>
          <p:nvPr/>
        </p:nvSpPr>
        <p:spPr>
          <a:xfrm>
            <a:off x="1115640" y="2441520"/>
            <a:ext cx="27147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Scrivere e correggere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Box 11"/>
          <p:cNvSpPr/>
          <p:nvPr/>
        </p:nvSpPr>
        <p:spPr>
          <a:xfrm>
            <a:off x="1115640" y="3017520"/>
            <a:ext cx="271476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matita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gomma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quaderno o un dispositivo per gli appunti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Rounded Rectangle 12"/>
          <p:cNvSpPr/>
          <p:nvPr/>
        </p:nvSpPr>
        <p:spPr>
          <a:xfrm>
            <a:off x="4370760" y="2212920"/>
            <a:ext cx="7039800" cy="1873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8" name="TextBox 13"/>
          <p:cNvSpPr/>
          <p:nvPr/>
        </p:nvSpPr>
        <p:spPr>
          <a:xfrm>
            <a:off x="4709160" y="2487240"/>
            <a:ext cx="63082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SET DI DADI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Rounded Rectangle 14"/>
          <p:cNvSpPr/>
          <p:nvPr/>
        </p:nvSpPr>
        <p:spPr>
          <a:xfrm>
            <a:off x="4663440" y="3063240"/>
            <a:ext cx="757800" cy="6573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0" name="TextBox 15"/>
          <p:cNvSpPr/>
          <p:nvPr/>
        </p:nvSpPr>
        <p:spPr>
          <a:xfrm>
            <a:off x="4700160" y="3260880"/>
            <a:ext cx="6847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Rounded Rectangle 16"/>
          <p:cNvSpPr/>
          <p:nvPr/>
        </p:nvSpPr>
        <p:spPr>
          <a:xfrm>
            <a:off x="5559480" y="3063240"/>
            <a:ext cx="757800" cy="6573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2" name="TextBox 17"/>
          <p:cNvSpPr/>
          <p:nvPr/>
        </p:nvSpPr>
        <p:spPr>
          <a:xfrm>
            <a:off x="5596200" y="3260880"/>
            <a:ext cx="6847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Rounded Rectangle 18"/>
          <p:cNvSpPr/>
          <p:nvPr/>
        </p:nvSpPr>
        <p:spPr>
          <a:xfrm>
            <a:off x="6455520" y="3063240"/>
            <a:ext cx="757800" cy="6573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4" name="TextBox 19"/>
          <p:cNvSpPr/>
          <p:nvPr/>
        </p:nvSpPr>
        <p:spPr>
          <a:xfrm>
            <a:off x="6492240" y="3260880"/>
            <a:ext cx="6847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d12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Rounded Rectangle 20"/>
          <p:cNvSpPr/>
          <p:nvPr/>
        </p:nvSpPr>
        <p:spPr>
          <a:xfrm>
            <a:off x="7351920" y="3063240"/>
            <a:ext cx="757800" cy="6573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6" name="TextBox 21"/>
          <p:cNvSpPr/>
          <p:nvPr/>
        </p:nvSpPr>
        <p:spPr>
          <a:xfrm>
            <a:off x="7388280" y="3260880"/>
            <a:ext cx="6847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Rounded Rectangle 22"/>
          <p:cNvSpPr/>
          <p:nvPr/>
        </p:nvSpPr>
        <p:spPr>
          <a:xfrm>
            <a:off x="8247960" y="3063240"/>
            <a:ext cx="757800" cy="6573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8" name="TextBox 23"/>
          <p:cNvSpPr/>
          <p:nvPr/>
        </p:nvSpPr>
        <p:spPr>
          <a:xfrm>
            <a:off x="8284320" y="3260880"/>
            <a:ext cx="6847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d8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Rounded Rectangle 24"/>
          <p:cNvSpPr/>
          <p:nvPr/>
        </p:nvSpPr>
        <p:spPr>
          <a:xfrm>
            <a:off x="9144000" y="3063240"/>
            <a:ext cx="757800" cy="6573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0" name="TextBox 25"/>
          <p:cNvSpPr/>
          <p:nvPr/>
        </p:nvSpPr>
        <p:spPr>
          <a:xfrm>
            <a:off x="9180720" y="3260880"/>
            <a:ext cx="6847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d6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Rounded Rectangle 26"/>
          <p:cNvSpPr/>
          <p:nvPr/>
        </p:nvSpPr>
        <p:spPr>
          <a:xfrm>
            <a:off x="10040040" y="3063240"/>
            <a:ext cx="757800" cy="6573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2" name="TextBox 27"/>
          <p:cNvSpPr/>
          <p:nvPr/>
        </p:nvSpPr>
        <p:spPr>
          <a:xfrm>
            <a:off x="10076760" y="3260880"/>
            <a:ext cx="6847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d4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Box 28"/>
          <p:cNvSpPr/>
          <p:nvPr/>
        </p:nvSpPr>
        <p:spPr>
          <a:xfrm>
            <a:off x="4480560" y="4526280"/>
            <a:ext cx="671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d1a35d"/>
                </a:solidFill>
                <a:latin typeface="DejaVu Serif"/>
                <a:ea typeface="DejaVu Sans"/>
              </a:rPr>
              <a:t>Totale: 7 dadi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Box 1"/>
          <p:cNvSpPr/>
          <p:nvPr/>
        </p:nvSpPr>
        <p:spPr>
          <a:xfrm>
            <a:off x="658440" y="393120"/>
            <a:ext cx="804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12  /  PUNTI E COSTI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Box 2"/>
          <p:cNvSpPr/>
          <p:nvPr/>
        </p:nvSpPr>
        <p:spPr>
          <a:xfrm>
            <a:off x="658440" y="749880"/>
            <a:ext cx="10880280" cy="44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classifica e la cassa comune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Box 3"/>
          <p:cNvSpPr/>
          <p:nvPr/>
        </p:nvSpPr>
        <p:spPr>
          <a:xfrm>
            <a:off x="685800" y="1389960"/>
            <a:ext cx="106974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Due aspetti pratici da conoscere prima dell'inizio.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57" name="Connector 4"/>
          <p:cNvCxnSpPr/>
          <p:nvPr/>
        </p:nvCxnSpPr>
        <p:spPr>
          <a:xfrm>
            <a:off x="658080" y="1938240"/>
            <a:ext cx="10864440" cy="108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58" name="Connector 5"/>
          <p:cNvCxnSpPr/>
          <p:nvPr/>
        </p:nvCxnSpPr>
        <p:spPr>
          <a:xfrm>
            <a:off x="658080" y="6473880"/>
            <a:ext cx="10864440" cy="108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59" name="TextBox 6"/>
          <p:cNvSpPr/>
          <p:nvPr/>
        </p:nvSpPr>
        <p:spPr>
          <a:xfrm>
            <a:off x="676800" y="6528960"/>
            <a:ext cx="77713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Box 7"/>
          <p:cNvSpPr/>
          <p:nvPr/>
        </p:nvSpPr>
        <p:spPr>
          <a:xfrm>
            <a:off x="10881360" y="6510600"/>
            <a:ext cx="593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Rounded Rectangle 8"/>
          <p:cNvSpPr/>
          <p:nvPr/>
        </p:nvSpPr>
        <p:spPr>
          <a:xfrm>
            <a:off x="777240" y="2240280"/>
            <a:ext cx="5073840" cy="20563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2" name="Rectangle 9"/>
          <p:cNvSpPr/>
          <p:nvPr/>
        </p:nvSpPr>
        <p:spPr>
          <a:xfrm>
            <a:off x="941760" y="2459880"/>
            <a:ext cx="49320" cy="16174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3" name="TextBox 10"/>
          <p:cNvSpPr/>
          <p:nvPr/>
        </p:nvSpPr>
        <p:spPr>
          <a:xfrm>
            <a:off x="1143000" y="2468880"/>
            <a:ext cx="445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1 punto a sessione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Box 11"/>
          <p:cNvSpPr/>
          <p:nvPr/>
        </p:nvSpPr>
        <p:spPr>
          <a:xfrm>
            <a:off x="1143000" y="3044880"/>
            <a:ext cx="445212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A fine sessione, ogni giocatore assegna 1 punto a chi, secondo lui, ha interpretato meglio il proprio personaggio. I punti formeranno la classifica finale.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Rounded Rectangle 12"/>
          <p:cNvSpPr/>
          <p:nvPr/>
        </p:nvSpPr>
        <p:spPr>
          <a:xfrm>
            <a:off x="6172200" y="2240280"/>
            <a:ext cx="5211000" cy="20563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6" name="Rectangle 13"/>
          <p:cNvSpPr/>
          <p:nvPr/>
        </p:nvSpPr>
        <p:spPr>
          <a:xfrm>
            <a:off x="6336720" y="2459880"/>
            <a:ext cx="49320" cy="16174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7" name="TextBox 14"/>
          <p:cNvSpPr/>
          <p:nvPr/>
        </p:nvSpPr>
        <p:spPr>
          <a:xfrm>
            <a:off x="6537960" y="2468880"/>
            <a:ext cx="4589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Contributo di 1 €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Box 15"/>
          <p:cNvSpPr/>
          <p:nvPr/>
        </p:nvSpPr>
        <p:spPr>
          <a:xfrm>
            <a:off x="6537960" y="3044880"/>
            <a:ext cx="458928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Oltre al pagamento della sala, si verserà 1 € per sessione in una cassa comune.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Rounded Rectangle 16"/>
          <p:cNvSpPr/>
          <p:nvPr/>
        </p:nvSpPr>
        <p:spPr>
          <a:xfrm>
            <a:off x="1325880" y="4645080"/>
            <a:ext cx="9554400" cy="71208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0" name="TextBox 17"/>
          <p:cNvSpPr/>
          <p:nvPr/>
        </p:nvSpPr>
        <p:spPr>
          <a:xfrm>
            <a:off x="1554480" y="4861080"/>
            <a:ext cx="9097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 fine campagna: buoni negozio distribuiti secondo la classifica.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1" name="Connector 1"/>
          <p:cNvCxnSpPr/>
          <p:nvPr/>
        </p:nvCxnSpPr>
        <p:spPr>
          <a:xfrm>
            <a:off x="731520" y="685800"/>
            <a:ext cx="10699560" cy="108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372" name="Connector 2"/>
          <p:cNvCxnSpPr/>
          <p:nvPr/>
        </p:nvCxnSpPr>
        <p:spPr>
          <a:xfrm>
            <a:off x="731520" y="6235920"/>
            <a:ext cx="10699560" cy="108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373" name="TextBox 3"/>
          <p:cNvSpPr/>
          <p:nvPr/>
        </p:nvSpPr>
        <p:spPr>
          <a:xfrm>
            <a:off x="1005840" y="1124640"/>
            <a:ext cx="1014876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VI ASPETTA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Box 4"/>
          <p:cNvSpPr/>
          <p:nvPr/>
        </p:nvSpPr>
        <p:spPr>
          <a:xfrm>
            <a:off x="1097280" y="1874520"/>
            <a:ext cx="996588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31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reagirà alle vostre scelte.</a:t>
            </a:r>
            <a:endParaRPr b="0" lang="it-IT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Box 5"/>
          <p:cNvSpPr/>
          <p:nvPr/>
        </p:nvSpPr>
        <p:spPr>
          <a:xfrm>
            <a:off x="2011680" y="3246120"/>
            <a:ext cx="8137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b8b7a9"/>
                </a:solidFill>
                <a:latin typeface="DejaVu Serif"/>
                <a:ea typeface="DejaVu Sans"/>
              </a:rPr>
              <a:t>Il master fornirà il mondo.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Box 6"/>
          <p:cNvSpPr/>
          <p:nvPr/>
        </p:nvSpPr>
        <p:spPr>
          <a:xfrm>
            <a:off x="2011680" y="4160520"/>
            <a:ext cx="81370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500" spc="-1" strike="noStrike">
                <a:solidFill>
                  <a:srgbClr val="d1a35d"/>
                </a:solidFill>
                <a:latin typeface="DejaVu Serif"/>
                <a:ea typeface="DejaVu Sans"/>
              </a:rPr>
              <a:t>Voi deciderete cosa farne.</a:t>
            </a:r>
            <a:endParaRPr b="0" lang="it-IT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Box 7"/>
          <p:cNvSpPr/>
          <p:nvPr/>
        </p:nvSpPr>
        <p:spPr>
          <a:xfrm>
            <a:off x="1005840" y="6446520"/>
            <a:ext cx="1014876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Box 5"/>
          <p:cNvSpPr/>
          <p:nvPr/>
        </p:nvSpPr>
        <p:spPr>
          <a:xfrm>
            <a:off x="658440" y="393120"/>
            <a:ext cx="10789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13  /  IL CONTINENTE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Box 6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città di Skarheim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Box 7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Un continente segnato da città con storie e destini diversi.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85" name="Connector 8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86" name="Connector 9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87" name="TextBox 10"/>
          <p:cNvSpPr/>
          <p:nvPr/>
        </p:nvSpPr>
        <p:spPr>
          <a:xfrm>
            <a:off x="676800" y="6528960"/>
            <a:ext cx="87775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Box 11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9" name="Picture 12" descr="mappa-del-mondo.png"/>
          <p:cNvPicPr/>
          <p:nvPr/>
        </p:nvPicPr>
        <p:blipFill>
          <a:blip r:embed="rId1"/>
          <a:stretch/>
        </p:blipFill>
        <p:spPr>
          <a:xfrm>
            <a:off x="777240" y="2011680"/>
            <a:ext cx="5851440" cy="4388400"/>
          </a:xfrm>
          <a:prstGeom prst="rect">
            <a:avLst/>
          </a:prstGeom>
          <a:ln w="0">
            <a:noFill/>
          </a:ln>
        </p:spPr>
      </p:pic>
      <p:sp>
        <p:nvSpPr>
          <p:cNvPr id="390" name="Rectangle 13"/>
          <p:cNvSpPr/>
          <p:nvPr/>
        </p:nvSpPr>
        <p:spPr>
          <a:xfrm>
            <a:off x="777240" y="2011680"/>
            <a:ext cx="5851440" cy="4388400"/>
          </a:xfrm>
          <a:prstGeom prst="rect">
            <a:avLst/>
          </a:prstGeom>
          <a:noFill/>
          <a:ln w="12700">
            <a:solidFill>
              <a:srgbClr val="d1a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1" name="Rounded Rectangle 14"/>
          <p:cNvSpPr/>
          <p:nvPr/>
        </p:nvSpPr>
        <p:spPr>
          <a:xfrm>
            <a:off x="6995160" y="2011680"/>
            <a:ext cx="4406760" cy="43884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2" name="TextBox 15"/>
          <p:cNvSpPr/>
          <p:nvPr/>
        </p:nvSpPr>
        <p:spPr>
          <a:xfrm>
            <a:off x="7315200" y="2331720"/>
            <a:ext cx="37483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CITTÀ PRINCIPALI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Box 16"/>
          <p:cNvSpPr/>
          <p:nvPr/>
        </p:nvSpPr>
        <p:spPr>
          <a:xfrm>
            <a:off x="7315200" y="2788920"/>
            <a:ext cx="36568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Meridion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Box 17"/>
          <p:cNvSpPr/>
          <p:nvPr/>
        </p:nvSpPr>
        <p:spPr>
          <a:xfrm>
            <a:off x="7333560" y="3081600"/>
            <a:ext cx="37483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  <a:ea typeface="DejaVu Sans"/>
              </a:rPr>
              <a:t>Il potere imperiale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Box 18"/>
          <p:cNvSpPr/>
          <p:nvPr/>
        </p:nvSpPr>
        <p:spPr>
          <a:xfrm>
            <a:off x="7315200" y="3447360"/>
            <a:ext cx="36568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Kagen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19"/>
          <p:cNvSpPr/>
          <p:nvPr/>
        </p:nvSpPr>
        <p:spPr>
          <a:xfrm>
            <a:off x="7333560" y="3740040"/>
            <a:ext cx="37483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città ricostruita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Box 20"/>
          <p:cNvSpPr/>
          <p:nvPr/>
        </p:nvSpPr>
        <p:spPr>
          <a:xfrm>
            <a:off x="7315200" y="4105800"/>
            <a:ext cx="36568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Hartak-Kar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Box 21"/>
          <p:cNvSpPr/>
          <p:nvPr/>
        </p:nvSpPr>
        <p:spPr>
          <a:xfrm>
            <a:off x="7333560" y="4398120"/>
            <a:ext cx="37483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  <a:ea typeface="DejaVu Sans"/>
              </a:rPr>
              <a:t>La più grande del continente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Box 22"/>
          <p:cNvSpPr/>
          <p:nvPr/>
        </p:nvSpPr>
        <p:spPr>
          <a:xfrm>
            <a:off x="7315200" y="4763880"/>
            <a:ext cx="36568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Tar-Kees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Box 23"/>
          <p:cNvSpPr/>
          <p:nvPr/>
        </p:nvSpPr>
        <p:spPr>
          <a:xfrm>
            <a:off x="7333560" y="5056560"/>
            <a:ext cx="37483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  <a:ea typeface="DejaVu Sans"/>
              </a:rPr>
              <a:t>Oltre i Denti di Drago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Box 24"/>
          <p:cNvSpPr/>
          <p:nvPr/>
        </p:nvSpPr>
        <p:spPr>
          <a:xfrm>
            <a:off x="7315200" y="5422320"/>
            <a:ext cx="36568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Juvas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Box 25"/>
          <p:cNvSpPr/>
          <p:nvPr/>
        </p:nvSpPr>
        <p:spPr>
          <a:xfrm>
            <a:off x="7333560" y="5715000"/>
            <a:ext cx="37483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  <a:ea typeface="DejaVu Sans"/>
              </a:rPr>
              <a:t>Protetta da Astrid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Box 5"/>
          <p:cNvSpPr/>
          <p:nvPr/>
        </p:nvSpPr>
        <p:spPr>
          <a:xfrm>
            <a:off x="658440" y="393120"/>
            <a:ext cx="10789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Box 6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Meridion: imperi e reggenze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Box 7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Da monarchia dei Rúnar a potenza guidata dalla Regina Nera.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0" name="Connector 8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411" name="Connector 9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412" name="TextBox 10"/>
          <p:cNvSpPr/>
          <p:nvPr/>
        </p:nvSpPr>
        <p:spPr>
          <a:xfrm>
            <a:off x="676800" y="6528960"/>
            <a:ext cx="87775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Box 11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Rounded Rectangle 12"/>
          <p:cNvSpPr/>
          <p:nvPr/>
        </p:nvSpPr>
        <p:spPr>
          <a:xfrm>
            <a:off x="749880" y="2148840"/>
            <a:ext cx="5229720" cy="15994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5" name="Rectangle 13"/>
          <p:cNvSpPr/>
          <p:nvPr/>
        </p:nvSpPr>
        <p:spPr>
          <a:xfrm>
            <a:off x="914400" y="2331720"/>
            <a:ext cx="49680" cy="123372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6" name="TextBox 14"/>
          <p:cNvSpPr/>
          <p:nvPr/>
        </p:nvSpPr>
        <p:spPr>
          <a:xfrm>
            <a:off x="1115640" y="233172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monarchia dei Rúnar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Box 15"/>
          <p:cNvSpPr/>
          <p:nvPr/>
        </p:nvSpPr>
        <p:spPr>
          <a:xfrm>
            <a:off x="1115640" y="2871360"/>
            <a:ext cx="460800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Meridion nacque come monarchia assoluta. Le città del continente, tranne Tar-Kees, erano regni vassalli. Divenne celebre per la forza militare e per i numerosi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Rounded Rectangle 16"/>
          <p:cNvSpPr/>
          <p:nvPr/>
        </p:nvSpPr>
        <p:spPr>
          <a:xfrm>
            <a:off x="6217920" y="2148840"/>
            <a:ext cx="5229720" cy="15994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9" name="Rectangle 17"/>
          <p:cNvSpPr/>
          <p:nvPr/>
        </p:nvSpPr>
        <p:spPr>
          <a:xfrm>
            <a:off x="6382440" y="2331720"/>
            <a:ext cx="49680" cy="123372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0" name="TextBox 18"/>
          <p:cNvSpPr/>
          <p:nvPr/>
        </p:nvSpPr>
        <p:spPr>
          <a:xfrm>
            <a:off x="6583680" y="233172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Gray, il vampiro millenario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Box 19"/>
          <p:cNvSpPr/>
          <p:nvPr/>
        </p:nvSpPr>
        <p:spPr>
          <a:xfrm>
            <a:off x="6583680" y="2871360"/>
            <a:ext cx="460800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Circa 300 anni fa caddero i Rúnar. Gray instaurò una tirannia durata dieci anni, sconvolgendo gli equilibri politici e geografici. Un gruppo di eroi lo sconfisse dopo una lunga battaglia.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Rounded Rectangle 20"/>
          <p:cNvSpPr/>
          <p:nvPr/>
        </p:nvSpPr>
        <p:spPr>
          <a:xfrm>
            <a:off x="749880" y="4023360"/>
            <a:ext cx="5229720" cy="15994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3" name="Rectangle 21"/>
          <p:cNvSpPr/>
          <p:nvPr/>
        </p:nvSpPr>
        <p:spPr>
          <a:xfrm>
            <a:off x="914400" y="4206240"/>
            <a:ext cx="49680" cy="123372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4" name="TextBox 22"/>
          <p:cNvSpPr/>
          <p:nvPr/>
        </p:nvSpPr>
        <p:spPr>
          <a:xfrm>
            <a:off x="1115640" y="420624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Ottant’anni di reggenza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Box 23"/>
          <p:cNvSpPr/>
          <p:nvPr/>
        </p:nvSpPr>
        <p:spPr>
          <a:xfrm>
            <a:off x="1115640" y="4745880"/>
            <a:ext cx="4608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Dopo la sconfitta di Gray, Meridion rimase una monarchia sotto un regime di reggenza, che lentamente fallì.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Rounded Rectangle 24"/>
          <p:cNvSpPr/>
          <p:nvPr/>
        </p:nvSpPr>
        <p:spPr>
          <a:xfrm>
            <a:off x="6217920" y="4023360"/>
            <a:ext cx="5229720" cy="15994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7" name="Rectangle 25"/>
          <p:cNvSpPr/>
          <p:nvPr/>
        </p:nvSpPr>
        <p:spPr>
          <a:xfrm>
            <a:off x="6382440" y="4206240"/>
            <a:ext cx="49680" cy="123372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8" name="TextBox 26"/>
          <p:cNvSpPr/>
          <p:nvPr/>
        </p:nvSpPr>
        <p:spPr>
          <a:xfrm>
            <a:off x="6583680" y="420624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Brunilda, la Regina Nera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Box 27"/>
          <p:cNvSpPr/>
          <p:nvPr/>
        </p:nvSpPr>
        <p:spPr>
          <a:xfrm>
            <a:off x="6583680" y="4745880"/>
            <a:ext cx="46080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Brunilda instaurò un regime neutrale e riportò Meridion agli antichi splendori. È salita al trono 200 anni fa.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Box 5"/>
          <p:cNvSpPr/>
          <p:nvPr/>
        </p:nvSpPr>
        <p:spPr>
          <a:xfrm>
            <a:off x="658440" y="393120"/>
            <a:ext cx="10789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Box 6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Kagen: presagi, gemme e rovine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Box 7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L’antica rivale di Meridion porta ancora i segni di una catastrofe.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7" name="Connector 8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438" name="Connector 9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439" name="TextBox 10"/>
          <p:cNvSpPr/>
          <p:nvPr/>
        </p:nvSpPr>
        <p:spPr>
          <a:xfrm>
            <a:off x="676800" y="6528960"/>
            <a:ext cx="87775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Box 11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Rounded Rectangle 12"/>
          <p:cNvSpPr/>
          <p:nvPr/>
        </p:nvSpPr>
        <p:spPr>
          <a:xfrm>
            <a:off x="749880" y="2194560"/>
            <a:ext cx="5229720" cy="1480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2" name="Rectangle 13"/>
          <p:cNvSpPr/>
          <p:nvPr/>
        </p:nvSpPr>
        <p:spPr>
          <a:xfrm>
            <a:off x="914400" y="2377440"/>
            <a:ext cx="49680" cy="111492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3" name="TextBox 14"/>
          <p:cNvSpPr/>
          <p:nvPr/>
        </p:nvSpPr>
        <p:spPr>
          <a:xfrm>
            <a:off x="1115640" y="237744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città capace di opporsi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Box 15"/>
          <p:cNvSpPr/>
          <p:nvPr/>
        </p:nvSpPr>
        <p:spPr>
          <a:xfrm>
            <a:off x="1115640" y="2917080"/>
            <a:ext cx="4608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Kagen fu l’unica a contrastare Meridion sotto i Rúnar. I suoi Vǫlva predissero la fine del mondo per mano degli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Rounded Rectangle 16"/>
          <p:cNvSpPr/>
          <p:nvPr/>
        </p:nvSpPr>
        <p:spPr>
          <a:xfrm>
            <a:off x="6217920" y="2194560"/>
            <a:ext cx="5229720" cy="1480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6" name="Rectangle 17"/>
          <p:cNvSpPr/>
          <p:nvPr/>
        </p:nvSpPr>
        <p:spPr>
          <a:xfrm>
            <a:off x="6382440" y="2377440"/>
            <a:ext cx="49680" cy="111492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7" name="TextBox 18"/>
          <p:cNvSpPr/>
          <p:nvPr/>
        </p:nvSpPr>
        <p:spPr>
          <a:xfrm>
            <a:off x="6583680" y="237744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gemme viola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Box 19"/>
          <p:cNvSpPr/>
          <p:nvPr/>
        </p:nvSpPr>
        <p:spPr>
          <a:xfrm>
            <a:off x="6583680" y="2917080"/>
            <a:ext cx="4608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Nel sottosuolo furono scoperte pietre capaci di annullare magia e incantesimi. Si narra che gli incantatori morissero prima ancora di avvicinarsi.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Rounded Rectangle 20"/>
          <p:cNvSpPr/>
          <p:nvPr/>
        </p:nvSpPr>
        <p:spPr>
          <a:xfrm>
            <a:off x="749880" y="3977640"/>
            <a:ext cx="10697760" cy="15537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0" name="Rectangle 21"/>
          <p:cNvSpPr/>
          <p:nvPr/>
        </p:nvSpPr>
        <p:spPr>
          <a:xfrm>
            <a:off x="914400" y="4160520"/>
            <a:ext cx="49680" cy="118800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1" name="TextBox 22"/>
          <p:cNvSpPr/>
          <p:nvPr/>
        </p:nvSpPr>
        <p:spPr>
          <a:xfrm>
            <a:off x="1115640" y="4160520"/>
            <a:ext cx="100760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distruzione e la ricostruzione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Box 23"/>
          <p:cNvSpPr/>
          <p:nvPr/>
        </p:nvSpPr>
        <p:spPr>
          <a:xfrm>
            <a:off x="1115640" y="4700160"/>
            <a:ext cx="10076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Circa 300 anni fa una catastrofe annientò la città e lasciò un enorme cratere. La leggenda attribuisce la distruzione a un incantesimo potentissimo, non a un evento naturale. Da circa 100 anni Kagen è in lenta ricostruzione.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Box 5"/>
          <p:cNvSpPr/>
          <p:nvPr/>
        </p:nvSpPr>
        <p:spPr>
          <a:xfrm>
            <a:off x="658440" y="393120"/>
            <a:ext cx="10789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Box 6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Hartak-Kar: dalla città satellite alla repubblica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Box 7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città più grande del continente ha cambiato più volte il proprio rapporto con il potere.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60" name="Connector 8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461" name="Connector 9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462" name="TextBox 10"/>
          <p:cNvSpPr/>
          <p:nvPr/>
        </p:nvSpPr>
        <p:spPr>
          <a:xfrm>
            <a:off x="676800" y="6528960"/>
            <a:ext cx="87775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Box 11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Rounded Rectangle 12"/>
          <p:cNvSpPr/>
          <p:nvPr/>
        </p:nvSpPr>
        <p:spPr>
          <a:xfrm>
            <a:off x="749880" y="2212920"/>
            <a:ext cx="5229720" cy="1690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5" name="Rectangle 13"/>
          <p:cNvSpPr/>
          <p:nvPr/>
        </p:nvSpPr>
        <p:spPr>
          <a:xfrm>
            <a:off x="914400" y="2395800"/>
            <a:ext cx="49680" cy="132516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6" name="TextBox 14"/>
          <p:cNvSpPr/>
          <p:nvPr/>
        </p:nvSpPr>
        <p:spPr>
          <a:xfrm>
            <a:off x="1115640" y="2395800"/>
            <a:ext cx="460800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città sotto l’imperatore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Box 15"/>
          <p:cNvSpPr/>
          <p:nvPr/>
        </p:nvSpPr>
        <p:spPr>
          <a:xfrm>
            <a:off x="1115640" y="2935080"/>
            <a:ext cx="4608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Fondata dai Rúnar come satellite di Meridion, era governata da un Granduca nominato direttamente dall’imperatore.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Rounded Rectangle 16"/>
          <p:cNvSpPr/>
          <p:nvPr/>
        </p:nvSpPr>
        <p:spPr>
          <a:xfrm>
            <a:off x="6217920" y="2212920"/>
            <a:ext cx="5229720" cy="1690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9" name="Rectangle 17"/>
          <p:cNvSpPr/>
          <p:nvPr/>
        </p:nvSpPr>
        <p:spPr>
          <a:xfrm>
            <a:off x="6382440" y="2395800"/>
            <a:ext cx="49680" cy="132516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0" name="TextBox 18"/>
          <p:cNvSpPr/>
          <p:nvPr/>
        </p:nvSpPr>
        <p:spPr>
          <a:xfrm>
            <a:off x="6583680" y="2395800"/>
            <a:ext cx="460800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rivendicazione d’indipendenza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Box 19"/>
          <p:cNvSpPr/>
          <p:nvPr/>
        </p:nvSpPr>
        <p:spPr>
          <a:xfrm>
            <a:off x="6583680" y="2935080"/>
            <a:ext cx="4608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Durante l’assenza del vero imperatore si allontanò dal ruolo di città satellite e rivendicò la propria indipendenza.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Rounded Rectangle 20"/>
          <p:cNvSpPr/>
          <p:nvPr/>
        </p:nvSpPr>
        <p:spPr>
          <a:xfrm>
            <a:off x="749880" y="4096440"/>
            <a:ext cx="5229720" cy="1480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3" name="Rectangle 21"/>
          <p:cNvSpPr/>
          <p:nvPr/>
        </p:nvSpPr>
        <p:spPr>
          <a:xfrm>
            <a:off x="914400" y="4279320"/>
            <a:ext cx="49680" cy="111492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4" name="TextBox 22"/>
          <p:cNvSpPr/>
          <p:nvPr/>
        </p:nvSpPr>
        <p:spPr>
          <a:xfrm>
            <a:off x="1115640" y="427932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ritorno sotto Brunilda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Box 23"/>
          <p:cNvSpPr/>
          <p:nvPr/>
        </p:nvSpPr>
        <p:spPr>
          <a:xfrm>
            <a:off x="1115640" y="4818960"/>
            <a:ext cx="46080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Duecento anni fa riconobbe Brunilda come unica e vera imperatrice e tornò a essere sua sottoposta.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Rounded Rectangle 24"/>
          <p:cNvSpPr/>
          <p:nvPr/>
        </p:nvSpPr>
        <p:spPr>
          <a:xfrm>
            <a:off x="6217920" y="4096440"/>
            <a:ext cx="5229720" cy="1480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7" name="Rectangle 25"/>
          <p:cNvSpPr/>
          <p:nvPr/>
        </p:nvSpPr>
        <p:spPr>
          <a:xfrm>
            <a:off x="6382440" y="4279320"/>
            <a:ext cx="49680" cy="111492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8" name="TextBox 26"/>
          <p:cNvSpPr/>
          <p:nvPr/>
        </p:nvSpPr>
        <p:spPr>
          <a:xfrm>
            <a:off x="6583680" y="427932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L’ordinamento attuale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Box 27"/>
          <p:cNvSpPr/>
          <p:nvPr/>
        </p:nvSpPr>
        <p:spPr>
          <a:xfrm>
            <a:off x="6583680" y="4818960"/>
            <a:ext cx="46080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Oggi è una repubblica: San Cuthberth non riconosce Brunilda come legittima imperatrice.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Box 5"/>
          <p:cNvSpPr/>
          <p:nvPr/>
        </p:nvSpPr>
        <p:spPr>
          <a:xfrm>
            <a:off x="658440" y="393120"/>
            <a:ext cx="10789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Box 6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Tradizione e fede: Tar-Kees e Juvas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Box 7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Due città con identità forti, ma radicate in storie molto diverse.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87" name="Connector 8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488" name="Connector 9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489" name="TextBox 10"/>
          <p:cNvSpPr/>
          <p:nvPr/>
        </p:nvSpPr>
        <p:spPr>
          <a:xfrm>
            <a:off x="676800" y="6528960"/>
            <a:ext cx="87775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Box 11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20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Rounded Rectangle 12"/>
          <p:cNvSpPr/>
          <p:nvPr/>
        </p:nvSpPr>
        <p:spPr>
          <a:xfrm>
            <a:off x="749880" y="2148840"/>
            <a:ext cx="5229720" cy="33825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2" name="Rectangle 13"/>
          <p:cNvSpPr/>
          <p:nvPr/>
        </p:nvSpPr>
        <p:spPr>
          <a:xfrm>
            <a:off x="914400" y="2331720"/>
            <a:ext cx="49680" cy="301680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3" name="TextBox 14"/>
          <p:cNvSpPr/>
          <p:nvPr/>
        </p:nvSpPr>
        <p:spPr>
          <a:xfrm>
            <a:off x="1115640" y="233172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Tar-Kees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Box 15"/>
          <p:cNvSpPr/>
          <p:nvPr/>
        </p:nvSpPr>
        <p:spPr>
          <a:xfrm>
            <a:off x="1115640" y="2871360"/>
            <a:ext cx="4608000" cy="22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  <a:ea typeface="DejaVu Sans"/>
              </a:rPr>
              <a:t>È l’unica città oltre i Denti di Drago. Non ha mai abbandonato il culto degli Dei Antichi e le proprie usanze.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  <a:ea typeface="DejaVu Sans"/>
              </a:rPr>
              <a:t>Il re viene ancora scelto attraverso un combattimento. Tar-Kees è rimasta estranea agli intrighi politici e alle grandi guerre.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  <a:ea typeface="DejaVu Sans"/>
              </a:rPr>
              <a:t>I suoi guerrieri, i Kees, sono celebri navigatori e razziatori.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Rounded Rectangle 16"/>
          <p:cNvSpPr/>
          <p:nvPr/>
        </p:nvSpPr>
        <p:spPr>
          <a:xfrm>
            <a:off x="6217920" y="2148840"/>
            <a:ext cx="5229720" cy="33825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6" name="Rectangle 17"/>
          <p:cNvSpPr/>
          <p:nvPr/>
        </p:nvSpPr>
        <p:spPr>
          <a:xfrm>
            <a:off x="6382440" y="2331720"/>
            <a:ext cx="49680" cy="301680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7" name="TextBox 18"/>
          <p:cNvSpPr/>
          <p:nvPr/>
        </p:nvSpPr>
        <p:spPr>
          <a:xfrm>
            <a:off x="6583680" y="233172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Juvas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Box 19"/>
          <p:cNvSpPr/>
          <p:nvPr/>
        </p:nvSpPr>
        <p:spPr>
          <a:xfrm>
            <a:off x="6583680" y="2871360"/>
            <a:ext cx="4608000" cy="22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  <a:ea typeface="DejaVu Sans"/>
              </a:rPr>
              <a:t>Nata come piccola città in una vasta valle sotto i Rúnar, crebbe quando la dea Astrid vi fondò la propria chiesa e le accordò protezione.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  <a:ea typeface="DejaVu Sans"/>
              </a:rPr>
              <a:t>È diventata uno dei centri più importanti, sviluppati e ricchi del mondo conosciuto.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riconosce Brunilda come sovrana legittima per le leggi di Astrid, ma le due potenze non sono in conflitto.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Box 5"/>
          <p:cNvSpPr/>
          <p:nvPr/>
        </p:nvSpPr>
        <p:spPr>
          <a:xfrm>
            <a:off x="658440" y="393120"/>
            <a:ext cx="10789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15  /  FAZIONI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Box 6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forze che muovono il continente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Box 7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Circoli druidici, reti criminali, mercenari e culti competono nell’ombra.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06" name="Connector 8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507" name="Connector 9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508" name="TextBox 10"/>
          <p:cNvSpPr/>
          <p:nvPr/>
        </p:nvSpPr>
        <p:spPr>
          <a:xfrm>
            <a:off x="676800" y="6528960"/>
            <a:ext cx="87775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Box 11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21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Rounded Rectangle 12"/>
          <p:cNvSpPr/>
          <p:nvPr/>
        </p:nvSpPr>
        <p:spPr>
          <a:xfrm>
            <a:off x="749880" y="2103120"/>
            <a:ext cx="5229720" cy="803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1" name="TextBox 13"/>
          <p:cNvSpPr/>
          <p:nvPr/>
        </p:nvSpPr>
        <p:spPr>
          <a:xfrm>
            <a:off x="932760" y="2185560"/>
            <a:ext cx="48639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  <a:ea typeface="DejaVu Sans"/>
              </a:rPr>
              <a:t>Circolo del Lupo Bianco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Box 14"/>
          <p:cNvSpPr/>
          <p:nvPr/>
        </p:nvSpPr>
        <p:spPr>
          <a:xfrm>
            <a:off x="932760" y="2459880"/>
            <a:ext cx="486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Luogo sconosciuto, nelle regioni settentrionali.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Rounded Rectangle 15"/>
          <p:cNvSpPr/>
          <p:nvPr/>
        </p:nvSpPr>
        <p:spPr>
          <a:xfrm>
            <a:off x="6217920" y="2103120"/>
            <a:ext cx="5229720" cy="803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4" name="TextBox 16"/>
          <p:cNvSpPr/>
          <p:nvPr/>
        </p:nvSpPr>
        <p:spPr>
          <a:xfrm>
            <a:off x="6400800" y="2185560"/>
            <a:ext cx="48639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  <a:ea typeface="DejaVu Sans"/>
              </a:rPr>
              <a:t>Circolo del Cervo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Box 17"/>
          <p:cNvSpPr/>
          <p:nvPr/>
        </p:nvSpPr>
        <p:spPr>
          <a:xfrm>
            <a:off x="6400800" y="2459880"/>
            <a:ext cx="486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Oltre la catena dei Denti di Drago.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Rounded Rectangle 18"/>
          <p:cNvSpPr/>
          <p:nvPr/>
        </p:nvSpPr>
        <p:spPr>
          <a:xfrm>
            <a:off x="749880" y="3044880"/>
            <a:ext cx="5229720" cy="803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7" name="TextBox 19"/>
          <p:cNvSpPr/>
          <p:nvPr/>
        </p:nvSpPr>
        <p:spPr>
          <a:xfrm>
            <a:off x="932760" y="3127320"/>
            <a:ext cx="48639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  <a:ea typeface="DejaVu Sans"/>
              </a:rPr>
              <a:t>Circolo del Corvo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Box 20"/>
          <p:cNvSpPr/>
          <p:nvPr/>
        </p:nvSpPr>
        <p:spPr>
          <a:xfrm>
            <a:off x="932760" y="3401640"/>
            <a:ext cx="486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Nelle foreste nei pressi di Hartak-Kar.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Rounded Rectangle 21"/>
          <p:cNvSpPr/>
          <p:nvPr/>
        </p:nvSpPr>
        <p:spPr>
          <a:xfrm>
            <a:off x="6217920" y="3044880"/>
            <a:ext cx="5229720" cy="803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0" name="TextBox 22"/>
          <p:cNvSpPr/>
          <p:nvPr/>
        </p:nvSpPr>
        <p:spPr>
          <a:xfrm>
            <a:off x="6400800" y="3127320"/>
            <a:ext cx="48639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  <a:ea typeface="DejaVu Sans"/>
              </a:rPr>
              <a:t>La Mano Nera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Box 23"/>
          <p:cNvSpPr/>
          <p:nvPr/>
        </p:nvSpPr>
        <p:spPr>
          <a:xfrm>
            <a:off x="6400800" y="3401640"/>
            <a:ext cx="4863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Organizzazione criminale a cellule, presente nelle città principali.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Rounded Rectangle 24"/>
          <p:cNvSpPr/>
          <p:nvPr/>
        </p:nvSpPr>
        <p:spPr>
          <a:xfrm>
            <a:off x="749880" y="3986640"/>
            <a:ext cx="5229720" cy="803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3" name="TextBox 25"/>
          <p:cNvSpPr/>
          <p:nvPr/>
        </p:nvSpPr>
        <p:spPr>
          <a:xfrm>
            <a:off x="932760" y="4069080"/>
            <a:ext cx="48639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  <a:ea typeface="DejaVu Sans"/>
              </a:rPr>
              <a:t>La Legione Perduta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Box 26"/>
          <p:cNvSpPr/>
          <p:nvPr/>
        </p:nvSpPr>
        <p:spPr>
          <a:xfrm>
            <a:off x="932760" y="4343400"/>
            <a:ext cx="4863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Pirati e mercenari senza affiliazione politica, spietati e assetati di sangue.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Rounded Rectangle 27"/>
          <p:cNvSpPr/>
          <p:nvPr/>
        </p:nvSpPr>
        <p:spPr>
          <a:xfrm>
            <a:off x="6217920" y="3986640"/>
            <a:ext cx="5229720" cy="803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6" name="TextBox 28"/>
          <p:cNvSpPr/>
          <p:nvPr/>
        </p:nvSpPr>
        <p:spPr>
          <a:xfrm>
            <a:off x="6400800" y="4069080"/>
            <a:ext cx="48639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  <a:ea typeface="DejaVu Sans"/>
              </a:rPr>
              <a:t>I Cavalieri del Vuoto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Box 29"/>
          <p:cNvSpPr/>
          <p:nvPr/>
        </p:nvSpPr>
        <p:spPr>
          <a:xfrm>
            <a:off x="6400800" y="4343400"/>
            <a:ext cx="4863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Discendenti del primo regno di Kagen, tramandano l’odio per la magia arcana.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Rounded Rectangle 30"/>
          <p:cNvSpPr/>
          <p:nvPr/>
        </p:nvSpPr>
        <p:spPr>
          <a:xfrm>
            <a:off x="749880" y="4928760"/>
            <a:ext cx="5229720" cy="803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9" name="TextBox 31"/>
          <p:cNvSpPr/>
          <p:nvPr/>
        </p:nvSpPr>
        <p:spPr>
          <a:xfrm>
            <a:off x="932760" y="5010840"/>
            <a:ext cx="48639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  <a:ea typeface="DejaVu Sans"/>
              </a:rPr>
              <a:t>Le Sciarpe Verdi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Box 32"/>
          <p:cNvSpPr/>
          <p:nvPr/>
        </p:nvSpPr>
        <p:spPr>
          <a:xfrm>
            <a:off x="932760" y="5285160"/>
            <a:ext cx="4863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Organizzazione secolare di spie e infiltratori.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Rounded Rectangle 33"/>
          <p:cNvSpPr/>
          <p:nvPr/>
        </p:nvSpPr>
        <p:spPr>
          <a:xfrm>
            <a:off x="6217920" y="4928760"/>
            <a:ext cx="5229720" cy="803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32" name="TextBox 34"/>
          <p:cNvSpPr/>
          <p:nvPr/>
        </p:nvSpPr>
        <p:spPr>
          <a:xfrm>
            <a:off x="6400800" y="5010840"/>
            <a:ext cx="48639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  <a:ea typeface="DejaVu Sans"/>
              </a:rPr>
              <a:t>Il Culto dei Gamall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Box 35"/>
          <p:cNvSpPr/>
          <p:nvPr/>
        </p:nvSpPr>
        <p:spPr>
          <a:xfrm>
            <a:off x="6400800" y="5285160"/>
            <a:ext cx="4863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Culto nomade degli Dei Antichi, in contrasto con il culto dei Nuovi Dei.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Box 5"/>
          <p:cNvSpPr/>
          <p:nvPr/>
        </p:nvSpPr>
        <p:spPr>
          <a:xfrm>
            <a:off x="658440" y="393120"/>
            <a:ext cx="10789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Box 6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 Nuovi Dei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Box 7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divinità che hanno ridefinito fede e potere nel continente.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41" name="Connector 8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542" name="Connector 9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543" name="TextBox 10"/>
          <p:cNvSpPr/>
          <p:nvPr/>
        </p:nvSpPr>
        <p:spPr>
          <a:xfrm>
            <a:off x="676800" y="6528960"/>
            <a:ext cx="87775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Box 11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22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Rounded Rectangle 12"/>
          <p:cNvSpPr/>
          <p:nvPr/>
        </p:nvSpPr>
        <p:spPr>
          <a:xfrm>
            <a:off x="777240" y="2148840"/>
            <a:ext cx="10652040" cy="3976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46" name="TextBox 13"/>
          <p:cNvSpPr/>
          <p:nvPr/>
        </p:nvSpPr>
        <p:spPr>
          <a:xfrm>
            <a:off x="1033200" y="2350080"/>
            <a:ext cx="10140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  <a:ea typeface="DejaVu Sans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Box 14"/>
          <p:cNvSpPr/>
          <p:nvPr/>
        </p:nvSpPr>
        <p:spPr>
          <a:xfrm>
            <a:off x="1051560" y="286200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Astrid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Dea del bene, della luce e della vita.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Box 15"/>
          <p:cNvSpPr/>
          <p:nvPr/>
        </p:nvSpPr>
        <p:spPr>
          <a:xfrm>
            <a:off x="1051560" y="337572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Kelsie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Dea della natura e degli elementi.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Box 16"/>
          <p:cNvSpPr/>
          <p:nvPr/>
        </p:nvSpPr>
        <p:spPr>
          <a:xfrm>
            <a:off x="1051560" y="388908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Daven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Dio della luna, delle ombre e dei sussurri.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Box 17"/>
          <p:cNvSpPr/>
          <p:nvPr/>
        </p:nvSpPr>
        <p:spPr>
          <a:xfrm>
            <a:off x="1051560" y="440280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San Cuthberth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Dio della legge.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Box 18"/>
          <p:cNvSpPr/>
          <p:nvPr/>
        </p:nvSpPr>
        <p:spPr>
          <a:xfrm>
            <a:off x="1051560" y="491652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Brunilda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Dea della morte.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Box 19"/>
          <p:cNvSpPr/>
          <p:nvPr/>
        </p:nvSpPr>
        <p:spPr>
          <a:xfrm>
            <a:off x="1051560" y="542988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Grunilda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Protettrice della natura e figlia di Kelsie.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Box 5"/>
          <p:cNvSpPr/>
          <p:nvPr/>
        </p:nvSpPr>
        <p:spPr>
          <a:xfrm>
            <a:off x="658440" y="393120"/>
            <a:ext cx="10789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Box 6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Gli Dei Antichi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Box 7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Divinità di potere, conoscenza, magia e inganno.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60" name="Connector 8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561" name="Connector 9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562" name="TextBox 10"/>
          <p:cNvSpPr/>
          <p:nvPr/>
        </p:nvSpPr>
        <p:spPr>
          <a:xfrm>
            <a:off x="676800" y="6528960"/>
            <a:ext cx="87775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Box 11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23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Rounded Rectangle 12"/>
          <p:cNvSpPr/>
          <p:nvPr/>
        </p:nvSpPr>
        <p:spPr>
          <a:xfrm>
            <a:off x="777240" y="2148840"/>
            <a:ext cx="10652040" cy="3976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65" name="TextBox 13"/>
          <p:cNvSpPr/>
          <p:nvPr/>
        </p:nvSpPr>
        <p:spPr>
          <a:xfrm>
            <a:off x="1033200" y="2350080"/>
            <a:ext cx="10140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879985"/>
                </a:solidFill>
                <a:latin typeface="DejaVu Serif"/>
                <a:ea typeface="DejaVu Sans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Box 14"/>
          <p:cNvSpPr/>
          <p:nvPr/>
        </p:nvSpPr>
        <p:spPr>
          <a:xfrm>
            <a:off x="1051560" y="286200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Thor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Dio dei fulmini e della guerra.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Box 15"/>
          <p:cNvSpPr/>
          <p:nvPr/>
        </p:nvSpPr>
        <p:spPr>
          <a:xfrm>
            <a:off x="1051560" y="337572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Odino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Padre degli Dei.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Box 16"/>
          <p:cNvSpPr/>
          <p:nvPr/>
        </p:nvSpPr>
        <p:spPr>
          <a:xfrm>
            <a:off x="1051560" y="388908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Freya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Dea della magia e protettrice di Midgard.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Box 17"/>
          <p:cNvSpPr/>
          <p:nvPr/>
        </p:nvSpPr>
        <p:spPr>
          <a:xfrm>
            <a:off x="1051560" y="440280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Loki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Dio delle malefatte e degli inganni.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Box 18"/>
          <p:cNvSpPr/>
          <p:nvPr/>
        </p:nvSpPr>
        <p:spPr>
          <a:xfrm>
            <a:off x="1051560" y="491652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Hela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Dea degli inferi e custode di Helheim.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Box 19"/>
          <p:cNvSpPr/>
          <p:nvPr/>
        </p:nvSpPr>
        <p:spPr>
          <a:xfrm>
            <a:off x="1051560" y="5429880"/>
            <a:ext cx="101034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  <a:ea typeface="DejaVu Sans"/>
              </a:rPr>
              <a:t>Mimir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Dio della conoscenza e degli artigiani.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Box 5"/>
          <p:cNvSpPr/>
          <p:nvPr/>
        </p:nvSpPr>
        <p:spPr>
          <a:xfrm>
            <a:off x="658440" y="393120"/>
            <a:ext cx="10789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Box 6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Custodi ed entità divine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Box 7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Guardiani dei regni, emissari e capostormi dei draghi.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79" name="Connector 8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580" name="Connector 9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581" name="TextBox 10"/>
          <p:cNvSpPr/>
          <p:nvPr/>
        </p:nvSpPr>
        <p:spPr>
          <a:xfrm>
            <a:off x="676800" y="6528960"/>
            <a:ext cx="87775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Box 11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24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Rounded Rectangle 12"/>
          <p:cNvSpPr/>
          <p:nvPr/>
        </p:nvSpPr>
        <p:spPr>
          <a:xfrm>
            <a:off x="749880" y="2176200"/>
            <a:ext cx="5229720" cy="3912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84" name="TextBox 13"/>
          <p:cNvSpPr/>
          <p:nvPr/>
        </p:nvSpPr>
        <p:spPr>
          <a:xfrm>
            <a:off x="1005840" y="2377440"/>
            <a:ext cx="47174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  <a:ea typeface="DejaVu Sans"/>
              </a:rPr>
              <a:t>Custodi e figure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Box 14"/>
          <p:cNvSpPr/>
          <p:nvPr/>
        </p:nvSpPr>
        <p:spPr>
          <a:xfrm>
            <a:off x="1024200" y="2889360"/>
            <a:ext cx="4681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  <a:ea typeface="DejaVu Sans"/>
              </a:rPr>
              <a:t>Heimdall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Custode di Asgard.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Box 15"/>
          <p:cNvSpPr/>
          <p:nvPr/>
        </p:nvSpPr>
        <p:spPr>
          <a:xfrm>
            <a:off x="1024200" y="3392280"/>
            <a:ext cx="4681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  <a:ea typeface="DejaVu Sans"/>
              </a:rPr>
              <a:t>Jörmungandr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Custode di Yggdrasil.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Box 16"/>
          <p:cNvSpPr/>
          <p:nvPr/>
        </p:nvSpPr>
        <p:spPr>
          <a:xfrm>
            <a:off x="1024200" y="3895200"/>
            <a:ext cx="4681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  <a:ea typeface="DejaVu Sans"/>
              </a:rPr>
              <a:t>Fenrir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Figlio di Loki.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Box 17"/>
          <p:cNvSpPr/>
          <p:nvPr/>
        </p:nvSpPr>
        <p:spPr>
          <a:xfrm>
            <a:off x="1024200" y="4398120"/>
            <a:ext cx="4681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  <a:ea typeface="DejaVu Sans"/>
              </a:rPr>
              <a:t>Valchirie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Custodi dei Nove Regni.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Box 18"/>
          <p:cNvSpPr/>
          <p:nvPr/>
        </p:nvSpPr>
        <p:spPr>
          <a:xfrm>
            <a:off x="1024200" y="4901040"/>
            <a:ext cx="4681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  <a:ea typeface="DejaVu Sans"/>
              </a:rPr>
              <a:t>Surtr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Guardiano di Muspelheim.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Box 19"/>
          <p:cNvSpPr/>
          <p:nvPr/>
        </p:nvSpPr>
        <p:spPr>
          <a:xfrm>
            <a:off x="1024200" y="5403960"/>
            <a:ext cx="4681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  <a:ea typeface="DejaVu Sans"/>
              </a:rPr>
              <a:t>Ragnar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Berserker ed emissario degli Dei.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Rounded Rectangle 20"/>
          <p:cNvSpPr/>
          <p:nvPr/>
        </p:nvSpPr>
        <p:spPr>
          <a:xfrm>
            <a:off x="6217920" y="2176200"/>
            <a:ext cx="5229720" cy="3912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92" name="TextBox 21"/>
          <p:cNvSpPr/>
          <p:nvPr/>
        </p:nvSpPr>
        <p:spPr>
          <a:xfrm>
            <a:off x="6473880" y="2377440"/>
            <a:ext cx="47174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bd7868"/>
                </a:solidFill>
                <a:latin typeface="DejaVu Serif"/>
                <a:ea typeface="DejaVu Sans"/>
              </a:rPr>
              <a:t>Capostormi dei draghi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Box 22"/>
          <p:cNvSpPr/>
          <p:nvPr/>
        </p:nvSpPr>
        <p:spPr>
          <a:xfrm>
            <a:off x="6492240" y="2889360"/>
            <a:ext cx="4681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  <a:ea typeface="DejaVu Sans"/>
              </a:rPr>
              <a:t>Beledros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Capostormo dei draghi verdi.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TextBox 23"/>
          <p:cNvSpPr/>
          <p:nvPr/>
        </p:nvSpPr>
        <p:spPr>
          <a:xfrm>
            <a:off x="6492240" y="3493080"/>
            <a:ext cx="4681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  <a:ea typeface="DejaVu Sans"/>
              </a:rPr>
              <a:t>Ugin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Capostormo dei draghi rossi.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Box 24"/>
          <p:cNvSpPr/>
          <p:nvPr/>
        </p:nvSpPr>
        <p:spPr>
          <a:xfrm>
            <a:off x="6492240" y="4096440"/>
            <a:ext cx="4681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  <a:ea typeface="DejaVu Sans"/>
              </a:rPr>
              <a:t>Volt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Capostormo dei draghi blu.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Box 25"/>
          <p:cNvSpPr/>
          <p:nvPr/>
        </p:nvSpPr>
        <p:spPr>
          <a:xfrm>
            <a:off x="6492240" y="4700160"/>
            <a:ext cx="4681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  <a:ea typeface="DejaVu Sans"/>
              </a:rPr>
              <a:t>Drakonis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Capostormo dei draghi neri.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Box 26"/>
          <p:cNvSpPr/>
          <p:nvPr/>
        </p:nvSpPr>
        <p:spPr>
          <a:xfrm>
            <a:off x="6492240" y="5303520"/>
            <a:ext cx="46810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  <a:ea typeface="DejaVu Sans"/>
              </a:rPr>
              <a:t>Glacius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Capostormo dei draghi bianchi.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ezione"/>
          <p:cNvSpPr/>
          <p:nvPr/>
        </p:nvSpPr>
        <p:spPr>
          <a:xfrm>
            <a:off x="1000080" y="1119960"/>
            <a:ext cx="1019160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1400" spc="180" strike="noStrike">
                <a:solidFill>
                  <a:srgbClr val="d1a35d"/>
                </a:solidFill>
                <a:latin typeface="DejaVu Sans"/>
                <a:ea typeface="DejaVu Sans"/>
              </a:rPr>
              <a:t>UN NUOVO CAPITOLO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itolo"/>
          <p:cNvSpPr/>
          <p:nvPr/>
        </p:nvSpPr>
        <p:spPr>
          <a:xfrm>
            <a:off x="799920" y="1919880"/>
            <a:ext cx="10591560" cy="9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4200" spc="-1" strike="noStrike">
                <a:solidFill>
                  <a:srgbClr val="f3ebdd"/>
                </a:solidFill>
                <a:latin typeface="DejaVu Sans"/>
                <a:ea typeface="DejaVu Sans"/>
              </a:rPr>
              <a:t>E ora, l'avventura.</a:t>
            </a:r>
            <a:endParaRPr b="0" lang="it-IT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ottotitolo"/>
          <p:cNvSpPr/>
          <p:nvPr/>
        </p:nvSpPr>
        <p:spPr>
          <a:xfrm>
            <a:off x="1100160" y="3030120"/>
            <a:ext cx="999180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it-IT" sz="19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mondo di Skarheim è sull'orlo di un cambiamento.</a:t>
            </a:r>
            <a:endParaRPr b="0" lang="it-IT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Introduzione"/>
          <p:cNvSpPr/>
          <p:nvPr/>
        </p:nvSpPr>
        <p:spPr>
          <a:xfrm>
            <a:off x="1199880" y="3710160"/>
            <a:ext cx="9791640" cy="8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it-IT" sz="1700" spc="-1" strike="noStrike">
                <a:solidFill>
                  <a:srgbClr val="f3ebdd"/>
                </a:solidFill>
                <a:latin typeface="DejaVu Sans"/>
                <a:ea typeface="DejaVu Sans"/>
              </a:rPr>
              <a:t>Le scelte che farete e i legami che stringerete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it-IT" sz="1700" spc="-1" strike="noStrike">
                <a:solidFill>
                  <a:srgbClr val="f3ebdd"/>
                </a:solidFill>
                <a:latin typeface="DejaVu Sans"/>
                <a:ea typeface="DejaVu Sans"/>
              </a:rPr>
              <a:t>scriveranno il destino di chi vi sta accanto.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Accento dorato"/>
          <p:cNvSpPr/>
          <p:nvPr/>
        </p:nvSpPr>
        <p:spPr>
          <a:xfrm>
            <a:off x="5370120" y="4920120"/>
            <a:ext cx="1449720" cy="8640"/>
          </a:xfrm>
          <a:prstGeom prst="rect">
            <a:avLst/>
          </a:prstGeom>
          <a:solidFill>
            <a:srgbClr val="d1a3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Invito"/>
          <p:cNvSpPr/>
          <p:nvPr/>
        </p:nvSpPr>
        <p:spPr>
          <a:xfrm>
            <a:off x="1000080" y="5199840"/>
            <a:ext cx="10191600" cy="4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1600" spc="109" strike="noStrike">
                <a:solidFill>
                  <a:srgbClr val="d1a35d"/>
                </a:solidFill>
                <a:latin typeface="DejaVu Sans"/>
                <a:ea typeface="DejaVu Sans"/>
              </a:rPr>
              <a:t>LA VOSTRA STORIA COMINCIA ORA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Piè di pagina"/>
          <p:cNvSpPr/>
          <p:nvPr/>
        </p:nvSpPr>
        <p:spPr>
          <a:xfrm>
            <a:off x="1000080" y="6400080"/>
            <a:ext cx="101916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it-IT" sz="900" spc="38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     •     25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Sezione"/>
          <p:cNvSpPr/>
          <p:nvPr/>
        </p:nvSpPr>
        <p:spPr>
          <a:xfrm>
            <a:off x="1000080" y="860040"/>
            <a:ext cx="1019160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1400" spc="180" strike="noStrike">
                <a:solidFill>
                  <a:srgbClr val="d1a35d"/>
                </a:solidFill>
                <a:latin typeface="DejaVu Sans"/>
                <a:ea typeface="DejaVu Sans"/>
              </a:rPr>
              <a:t>ORA TOCCA A VOI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itolo"/>
          <p:cNvSpPr/>
          <p:nvPr/>
        </p:nvSpPr>
        <p:spPr>
          <a:xfrm>
            <a:off x="799920" y="1530000"/>
            <a:ext cx="1059156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4200" spc="-1" strike="noStrike">
                <a:solidFill>
                  <a:srgbClr val="f3ebdd"/>
                </a:solidFill>
                <a:latin typeface="DejaVu Sans"/>
                <a:ea typeface="DejaVu Sans"/>
              </a:rPr>
              <a:t>La storia è vostra.</a:t>
            </a:r>
            <a:endParaRPr b="0" lang="it-IT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Discorso finale"/>
          <p:cNvSpPr/>
          <p:nvPr/>
        </p:nvSpPr>
        <p:spPr>
          <a:xfrm>
            <a:off x="1299960" y="2660040"/>
            <a:ext cx="9491760" cy="152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it-IT" sz="2200" spc="-1" strike="noStrike">
                <a:solidFill>
                  <a:srgbClr val="f3ebdd"/>
                </a:solidFill>
                <a:latin typeface="DejaVu Sans"/>
                <a:ea typeface="DejaVu Sans"/>
              </a:rPr>
              <a:t>Il lavoro è pericoloso.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it-IT" sz="2200" spc="-1" strike="noStrike">
                <a:solidFill>
                  <a:srgbClr val="f3ebdd"/>
                </a:solidFill>
                <a:latin typeface="DejaVu Sans"/>
                <a:ea typeface="DejaVu Sans"/>
              </a:rPr>
              <a:t>La paga è misera.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it-IT" sz="2200" spc="-1" strike="noStrike">
                <a:solidFill>
                  <a:srgbClr val="f3ebdd"/>
                </a:solidFill>
                <a:latin typeface="DejaVu Sans"/>
                <a:ea typeface="DejaVu Sans"/>
              </a:rPr>
              <a:t>Ma questo... lo sapevate già.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Accento dorato"/>
          <p:cNvSpPr/>
          <p:nvPr/>
        </p:nvSpPr>
        <p:spPr>
          <a:xfrm>
            <a:off x="5370120" y="4410000"/>
            <a:ext cx="1449720" cy="8640"/>
          </a:xfrm>
          <a:prstGeom prst="rect">
            <a:avLst/>
          </a:prstGeom>
          <a:solidFill>
            <a:srgbClr val="d1a3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t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Augurio"/>
          <p:cNvSpPr/>
          <p:nvPr/>
        </p:nvSpPr>
        <p:spPr>
          <a:xfrm>
            <a:off x="900000" y="4749840"/>
            <a:ext cx="1039176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it-IT" sz="2800" spc="-1" strike="noStrike">
                <a:solidFill>
                  <a:srgbClr val="d1a35d"/>
                </a:solidFill>
                <a:latin typeface="DejaVu Sans"/>
                <a:ea typeface="DejaVu Sans"/>
              </a:rPr>
              <a:t>Che la fortuna vi assista.</a:t>
            </a:r>
            <a:endParaRPr b="0" lang="it-IT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Incoraggiamento"/>
          <p:cNvSpPr/>
          <p:nvPr/>
        </p:nvSpPr>
        <p:spPr>
          <a:xfrm>
            <a:off x="1100160" y="5540040"/>
            <a:ext cx="999180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it-IT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Scegliete la vostra strada. Il prossimo capitolo lo scriverete voi.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Piè di pagina"/>
          <p:cNvSpPr/>
          <p:nvPr/>
        </p:nvSpPr>
        <p:spPr>
          <a:xfrm>
            <a:off x="1000080" y="6400080"/>
            <a:ext cx="101916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it-IT" sz="900" spc="38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     •     27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Application>LibreOffice/7.4.7.2$Windows_X86_64 LibreOffice_project/723314e595e8007d3cf785c16538505a1c878ca5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2026-10-16T23:06:06Z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