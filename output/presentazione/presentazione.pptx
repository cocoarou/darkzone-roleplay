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B5FF3C-425E-46E1-A490-43316528AF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A39E4A-BAC3-4155-B68D-7A01455E6A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BB157E-2352-4582-A6B2-FD92C40922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46B16C-3563-467F-9934-B5177FA758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763BDB-5223-47C4-9862-48FD79CC88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8E1781-0620-4B18-94C1-38F3653EFD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E28F5E-F55C-4CB3-BF78-65847AA74C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5BFC60-A28D-4116-9313-B601A06EAC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D89DC2-2393-4A5F-A0B4-8E8582D018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6FE3CD-E983-48D0-A404-AE6ACA7096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4EE982-4245-4568-A786-497CEA3E5C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EC785A-7363-474D-830B-A210C0A51D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5F101F-D329-4B47-B2DC-9C0940855F1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7772400" y="0"/>
            <a:ext cx="4419000" cy="6857640"/>
          </a:xfrm>
          <a:prstGeom prst="rect">
            <a:avLst/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2" name="Connector 2"/>
          <p:cNvCxnSpPr/>
          <p:nvPr/>
        </p:nvCxnSpPr>
        <p:spPr>
          <a:xfrm>
            <a:off x="731520" y="658080"/>
            <a:ext cx="10653120" cy="36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43" name="Connector 3"/>
          <p:cNvCxnSpPr/>
          <p:nvPr/>
        </p:nvCxnSpPr>
        <p:spPr>
          <a:xfrm>
            <a:off x="731520" y="6217920"/>
            <a:ext cx="10653120" cy="36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44" name="TextBox 4"/>
          <p:cNvSpPr/>
          <p:nvPr/>
        </p:nvSpPr>
        <p:spPr>
          <a:xfrm>
            <a:off x="804600" y="987480"/>
            <a:ext cx="62175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</a:rPr>
              <a:t>UN'AVVENTURA DI RUOLO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749880" y="1572840"/>
            <a:ext cx="704052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4600" spc="-1" strike="noStrike">
                <a:solidFill>
                  <a:srgbClr val="f3ebdd"/>
                </a:solidFill>
                <a:latin typeface="DejaVu Serif"/>
              </a:rPr>
              <a:t>SKARHEIM</a:t>
            </a:r>
            <a:endParaRPr b="0" lang="it-IT" sz="4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6" name="Connector 6"/>
          <p:cNvCxnSpPr/>
          <p:nvPr/>
        </p:nvCxnSpPr>
        <p:spPr>
          <a:xfrm>
            <a:off x="822960" y="2953440"/>
            <a:ext cx="4846680" cy="360"/>
          </a:xfrm>
          <a:prstGeom prst="straightConnector1">
            <a:avLst/>
          </a:prstGeom>
          <a:ln w="17780">
            <a:solidFill>
              <a:srgbClr val="d1a35d"/>
            </a:solidFill>
            <a:round/>
          </a:ln>
        </p:spPr>
      </p:cxnSp>
      <p:sp>
        <p:nvSpPr>
          <p:cNvPr id="47" name="TextBox 7"/>
          <p:cNvSpPr/>
          <p:nvPr/>
        </p:nvSpPr>
        <p:spPr>
          <a:xfrm>
            <a:off x="804600" y="3200400"/>
            <a:ext cx="6583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L'Eredità di Daven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831960" y="4069080"/>
            <a:ext cx="60346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700" spc="-1" strike="noStrike">
                <a:solidFill>
                  <a:srgbClr val="b8b7a9"/>
                </a:solidFill>
                <a:latin typeface="DejaVu Sans"/>
              </a:rPr>
              <a:t>Le vostre scelte. Un mondo vivo.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</a:rPr>
              <a:t>Una storia ancora da scrivere.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Rounded Rectangle 9"/>
          <p:cNvSpPr/>
          <p:nvPr/>
        </p:nvSpPr>
        <p:spPr>
          <a:xfrm>
            <a:off x="822960" y="5257800"/>
            <a:ext cx="1298160" cy="3837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" name="TextBox 10"/>
          <p:cNvSpPr/>
          <p:nvPr/>
        </p:nvSpPr>
        <p:spPr>
          <a:xfrm>
            <a:off x="877680" y="5355000"/>
            <a:ext cx="11883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879985"/>
                </a:solidFill>
                <a:latin typeface="DejaVu Sans"/>
              </a:rPr>
              <a:t>FANTASY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Rounded Rectangle 11"/>
          <p:cNvSpPr/>
          <p:nvPr/>
        </p:nvSpPr>
        <p:spPr>
          <a:xfrm>
            <a:off x="2240280" y="5257800"/>
            <a:ext cx="1188360" cy="3837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TextBox 12"/>
          <p:cNvSpPr/>
          <p:nvPr/>
        </p:nvSpPr>
        <p:spPr>
          <a:xfrm>
            <a:off x="2295000" y="5355000"/>
            <a:ext cx="10785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SURVIVAL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ounded Rectangle 13"/>
          <p:cNvSpPr/>
          <p:nvPr/>
        </p:nvSpPr>
        <p:spPr>
          <a:xfrm>
            <a:off x="3547800" y="5257800"/>
            <a:ext cx="1142640" cy="3837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TextBox 14"/>
          <p:cNvSpPr/>
          <p:nvPr/>
        </p:nvSpPr>
        <p:spPr>
          <a:xfrm>
            <a:off x="3602880" y="5355000"/>
            <a:ext cx="10328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bd7868"/>
                </a:solidFill>
                <a:latin typeface="DejaVu Sans"/>
              </a:rPr>
              <a:t>INTRIGHI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Oval 15"/>
          <p:cNvSpPr/>
          <p:nvPr/>
        </p:nvSpPr>
        <p:spPr>
          <a:xfrm>
            <a:off x="8266320" y="1801440"/>
            <a:ext cx="2523240" cy="2523240"/>
          </a:xfrm>
          <a:prstGeom prst="ellipse">
            <a:avLst/>
          </a:prstGeom>
          <a:noFill/>
          <a:ln w="17780">
            <a:solidFill>
              <a:srgbClr val="d1a3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6" name="Connector 16"/>
          <p:cNvCxnSpPr/>
          <p:nvPr/>
        </p:nvCxnSpPr>
        <p:spPr>
          <a:xfrm>
            <a:off x="10881360" y="3063240"/>
            <a:ext cx="155520" cy="36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57" name="Connector 17"/>
          <p:cNvCxnSpPr/>
          <p:nvPr/>
        </p:nvCxnSpPr>
        <p:spPr>
          <a:xfrm>
            <a:off x="10484640" y="4020120"/>
            <a:ext cx="110520" cy="11016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58" name="Connector 18"/>
          <p:cNvCxnSpPr/>
          <p:nvPr/>
        </p:nvCxnSpPr>
        <p:spPr>
          <a:xfrm>
            <a:off x="9527760" y="4416480"/>
            <a:ext cx="360" cy="1558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59" name="Connector 19"/>
          <p:cNvCxnSpPr/>
          <p:nvPr/>
        </p:nvCxnSpPr>
        <p:spPr>
          <a:xfrm flipH="1">
            <a:off x="8461080" y="4020120"/>
            <a:ext cx="110160" cy="11016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60" name="Connector 20"/>
          <p:cNvCxnSpPr/>
          <p:nvPr/>
        </p:nvCxnSpPr>
        <p:spPr>
          <a:xfrm flipH="1">
            <a:off x="8019000" y="3063240"/>
            <a:ext cx="155880" cy="36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61" name="Connector 21"/>
          <p:cNvCxnSpPr/>
          <p:nvPr/>
        </p:nvCxnSpPr>
        <p:spPr>
          <a:xfrm flipH="1" flipV="1">
            <a:off x="8461080" y="1996200"/>
            <a:ext cx="110160" cy="11016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62" name="Connector 22"/>
          <p:cNvCxnSpPr/>
          <p:nvPr/>
        </p:nvCxnSpPr>
        <p:spPr>
          <a:xfrm flipV="1">
            <a:off x="9527760" y="1554480"/>
            <a:ext cx="360" cy="155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63" name="Connector 23"/>
          <p:cNvCxnSpPr/>
          <p:nvPr/>
        </p:nvCxnSpPr>
        <p:spPr>
          <a:xfrm flipV="1">
            <a:off x="10484640" y="1996200"/>
            <a:ext cx="110520" cy="11016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64" name="Connector 24"/>
          <p:cNvCxnSpPr/>
          <p:nvPr/>
        </p:nvCxnSpPr>
        <p:spPr>
          <a:xfrm>
            <a:off x="9527760" y="2185200"/>
            <a:ext cx="360" cy="175608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65" name="Connector 25"/>
          <p:cNvCxnSpPr/>
          <p:nvPr/>
        </p:nvCxnSpPr>
        <p:spPr>
          <a:xfrm>
            <a:off x="8650080" y="3063240"/>
            <a:ext cx="1756080" cy="36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66" name="Connector 26"/>
          <p:cNvCxnSpPr/>
          <p:nvPr/>
        </p:nvCxnSpPr>
        <p:spPr>
          <a:xfrm flipV="1">
            <a:off x="8814600" y="2788920"/>
            <a:ext cx="512640" cy="713520"/>
          </a:xfrm>
          <a:prstGeom prst="straightConnector1">
            <a:avLst/>
          </a:prstGeom>
          <a:ln>
            <a:solidFill>
              <a:srgbClr val="d1a35d"/>
            </a:solidFill>
            <a:round/>
          </a:ln>
        </p:spPr>
      </p:cxnSp>
      <p:cxnSp>
        <p:nvCxnSpPr>
          <p:cNvPr id="67" name="Connector 27"/>
          <p:cNvCxnSpPr/>
          <p:nvPr/>
        </p:nvCxnSpPr>
        <p:spPr>
          <a:xfrm>
            <a:off x="9326880" y="2788920"/>
            <a:ext cx="366120" cy="384120"/>
          </a:xfrm>
          <a:prstGeom prst="straightConnector1">
            <a:avLst/>
          </a:prstGeom>
          <a:ln>
            <a:solidFill>
              <a:srgbClr val="d1a35d"/>
            </a:solidFill>
            <a:round/>
          </a:ln>
        </p:spPr>
      </p:cxnSp>
      <p:cxnSp>
        <p:nvCxnSpPr>
          <p:cNvPr id="68" name="Connector 28"/>
          <p:cNvCxnSpPr/>
          <p:nvPr/>
        </p:nvCxnSpPr>
        <p:spPr>
          <a:xfrm flipV="1">
            <a:off x="9692640" y="2532600"/>
            <a:ext cx="439200" cy="640440"/>
          </a:xfrm>
          <a:prstGeom prst="straightConnector1">
            <a:avLst/>
          </a:prstGeom>
          <a:ln>
            <a:solidFill>
              <a:srgbClr val="d1a35d"/>
            </a:solidFill>
            <a:round/>
          </a:ln>
        </p:spPr>
      </p:cxnSp>
      <p:cxnSp>
        <p:nvCxnSpPr>
          <p:cNvPr id="69" name="Connector 29"/>
          <p:cNvCxnSpPr/>
          <p:nvPr/>
        </p:nvCxnSpPr>
        <p:spPr>
          <a:xfrm>
            <a:off x="10131480" y="2532600"/>
            <a:ext cx="146520" cy="969840"/>
          </a:xfrm>
          <a:prstGeom prst="straightConnector1">
            <a:avLst/>
          </a:prstGeom>
          <a:ln>
            <a:solidFill>
              <a:srgbClr val="d1a35d"/>
            </a:solidFill>
            <a:round/>
          </a:ln>
        </p:spPr>
      </p:cxnSp>
      <p:sp>
        <p:nvSpPr>
          <p:cNvPr id="70" name="TextBox 30"/>
          <p:cNvSpPr/>
          <p:nvPr/>
        </p:nvSpPr>
        <p:spPr>
          <a:xfrm>
            <a:off x="7863840" y="4827960"/>
            <a:ext cx="33372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</a:rPr>
              <a:t>IL MONDO REAGISCE.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31"/>
          <p:cNvSpPr/>
          <p:nvPr/>
        </p:nvSpPr>
        <p:spPr>
          <a:xfrm>
            <a:off x="822960" y="6437520"/>
            <a:ext cx="64004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PRESENTAZIONE DELLA CAMPAGNA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01  /  LA CAMPAGNA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Una storia di scelte e conseguenze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L'Eredità di Daven si svolge nel mondo di Skarheim, tra mito, rischio e politica.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5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76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77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02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ounded Rectangle 8"/>
          <p:cNvSpPr/>
          <p:nvPr/>
        </p:nvSpPr>
        <p:spPr>
          <a:xfrm>
            <a:off x="713160" y="2212920"/>
            <a:ext cx="3456000" cy="1855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ectangle 9"/>
          <p:cNvSpPr/>
          <p:nvPr/>
        </p:nvSpPr>
        <p:spPr>
          <a:xfrm>
            <a:off x="877680" y="2432160"/>
            <a:ext cx="50040" cy="141696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1078920" y="2441520"/>
            <a:ext cx="28342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</a:rPr>
              <a:t>Fantasy medievale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1078920" y="30175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Un mondo originale ispirato all'immaginario e alle leggende norrene.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ounded Rectangle 12"/>
          <p:cNvSpPr/>
          <p:nvPr/>
        </p:nvSpPr>
        <p:spPr>
          <a:xfrm>
            <a:off x="4370760" y="2212920"/>
            <a:ext cx="3456000" cy="1855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13"/>
          <p:cNvSpPr/>
          <p:nvPr/>
        </p:nvSpPr>
        <p:spPr>
          <a:xfrm>
            <a:off x="4535280" y="2432160"/>
            <a:ext cx="50040" cy="141696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4"/>
          <p:cNvSpPr/>
          <p:nvPr/>
        </p:nvSpPr>
        <p:spPr>
          <a:xfrm>
            <a:off x="4736520" y="2441520"/>
            <a:ext cx="28342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</a:rPr>
              <a:t>Ombre e sopravvivenza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4736520" y="30175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Horror, risorse da gestire e decisioni che possono avere un costo.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ounded Rectangle 16"/>
          <p:cNvSpPr/>
          <p:nvPr/>
        </p:nvSpPr>
        <p:spPr>
          <a:xfrm>
            <a:off x="8028360" y="2212920"/>
            <a:ext cx="3456000" cy="1855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17"/>
          <p:cNvSpPr/>
          <p:nvPr/>
        </p:nvSpPr>
        <p:spPr>
          <a:xfrm>
            <a:off x="8192880" y="2432160"/>
            <a:ext cx="50040" cy="141696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18"/>
          <p:cNvSpPr/>
          <p:nvPr/>
        </p:nvSpPr>
        <p:spPr>
          <a:xfrm>
            <a:off x="8394120" y="2441520"/>
            <a:ext cx="28342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</a:rPr>
              <a:t>Intrighi e libertà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8394120" y="30175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Le scelte dei personaggi guidano la trama e ne determinano gli sviluppi.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960120" y="4880520"/>
            <a:ext cx="102409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3ebdd"/>
                </a:solidFill>
                <a:latin typeface="DejaVu Serif"/>
              </a:rPr>
              <a:t>Non siete qui per seguire una trama già scritta: siete qui per darle forma.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02  /  PRIMA DI INIZIARE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Temi e tono della campagna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La campagna affronta contenuti che potrebbero risultare intensi o delicati.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5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96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97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03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8"/>
          <p:cNvSpPr/>
          <p:nvPr/>
        </p:nvSpPr>
        <p:spPr>
          <a:xfrm>
            <a:off x="731520" y="2176200"/>
            <a:ext cx="3977280" cy="3401280"/>
          </a:xfrm>
          <a:prstGeom prst="roundRect">
            <a:avLst>
              <a:gd name="adj" fmla="val 16667"/>
            </a:avLst>
          </a:prstGeom>
          <a:solidFill>
            <a:srgbClr val="332a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1051560" y="2487240"/>
            <a:ext cx="33829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bd7868"/>
                </a:solidFill>
                <a:latin typeface="DejaVu Sans"/>
              </a:rPr>
              <a:t>AVVISO CONTENUTI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1051560" y="3035880"/>
            <a:ext cx="329148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</a:rPr>
              <a:t>Violenza fisica, mentale, sessuale e verbale; horror; intrighi politici; situazioni moralmente complesse.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11"/>
          <p:cNvSpPr/>
          <p:nvPr/>
        </p:nvSpPr>
        <p:spPr>
          <a:xfrm>
            <a:off x="5166360" y="2331720"/>
            <a:ext cx="61718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</a:rPr>
              <a:t>UNA STORIA SENZA RISPOSTE SEMPLICI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Box 12"/>
          <p:cNvSpPr/>
          <p:nvPr/>
        </p:nvSpPr>
        <p:spPr>
          <a:xfrm>
            <a:off x="5166360" y="2853000"/>
            <a:ext cx="617184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</a:rPr>
              <a:t>Le decisioni potrebbero non avere una soluzione giusta o sbagliata e le conseguenze non saranno sempre prevedibili.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4" name="Connector 13"/>
          <p:cNvCxnSpPr/>
          <p:nvPr/>
        </p:nvCxnSpPr>
        <p:spPr>
          <a:xfrm>
            <a:off x="5166360" y="4279320"/>
            <a:ext cx="5989680" cy="36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105" name="TextBox 14"/>
          <p:cNvSpPr/>
          <p:nvPr/>
        </p:nvSpPr>
        <p:spPr>
          <a:xfrm>
            <a:off x="5166360" y="4599360"/>
            <a:ext cx="59889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Il fantasy medievale è personalizzato per il tema della campagna, insieme a elementi survival e gestionali.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Rispetto e spazio per tutti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Regole semplici per proteggere l'esperienza condivisa.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9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10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11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04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ounded Rectangle 8"/>
          <p:cNvSpPr/>
          <p:nvPr/>
        </p:nvSpPr>
        <p:spPr>
          <a:xfrm>
            <a:off x="731520" y="21762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Rectangle 9"/>
          <p:cNvSpPr/>
          <p:nvPr/>
        </p:nvSpPr>
        <p:spPr>
          <a:xfrm>
            <a:off x="896040" y="2395800"/>
            <a:ext cx="50040" cy="914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1097280" y="24048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Rispetto durante il roleplay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11"/>
          <p:cNvSpPr/>
          <p:nvPr/>
        </p:nvSpPr>
        <p:spPr>
          <a:xfrm>
            <a:off x="1097280" y="29808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Non schernire né deridere chi interpreta o interagisce con il mondo.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Rounded Rectangle 12"/>
          <p:cNvSpPr/>
          <p:nvPr/>
        </p:nvSpPr>
        <p:spPr>
          <a:xfrm>
            <a:off x="6217920" y="21762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Rectangle 13"/>
          <p:cNvSpPr/>
          <p:nvPr/>
        </p:nvSpPr>
        <p:spPr>
          <a:xfrm>
            <a:off x="6382440" y="2395800"/>
            <a:ext cx="50040" cy="914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14"/>
          <p:cNvSpPr/>
          <p:nvPr/>
        </p:nvSpPr>
        <p:spPr>
          <a:xfrm>
            <a:off x="6583680" y="24048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Ascoltare senza interrompere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Box 15"/>
          <p:cNvSpPr/>
          <p:nvPr/>
        </p:nvSpPr>
        <p:spPr>
          <a:xfrm>
            <a:off x="6583680" y="29808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Aspetta che il master o gli altri giocatori concludano la descrizione o l'interazione.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ounded Rectangle 16"/>
          <p:cNvSpPr/>
          <p:nvPr/>
        </p:nvSpPr>
        <p:spPr>
          <a:xfrm>
            <a:off x="731520" y="37674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ectangle 17"/>
          <p:cNvSpPr/>
          <p:nvPr/>
        </p:nvSpPr>
        <p:spPr>
          <a:xfrm>
            <a:off x="896040" y="3986640"/>
            <a:ext cx="50040" cy="914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18"/>
          <p:cNvSpPr/>
          <p:nvPr/>
        </p:nvSpPr>
        <p:spPr>
          <a:xfrm>
            <a:off x="1097280" y="39960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Partecipazione per tutti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19"/>
          <p:cNvSpPr/>
          <p:nvPr/>
        </p:nvSpPr>
        <p:spPr>
          <a:xfrm>
            <a:off x="1097280" y="45720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Alza la mano se vuoi intervenire senza interrompere: il master ti darà spazio.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Rounded Rectangle 20"/>
          <p:cNvSpPr/>
          <p:nvPr/>
        </p:nvSpPr>
        <p:spPr>
          <a:xfrm>
            <a:off x="6217920" y="37674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Rectangle 21"/>
          <p:cNvSpPr/>
          <p:nvPr/>
        </p:nvSpPr>
        <p:spPr>
          <a:xfrm>
            <a:off x="6382440" y="3986640"/>
            <a:ext cx="50040" cy="914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22"/>
          <p:cNvSpPr/>
          <p:nvPr/>
        </p:nvSpPr>
        <p:spPr>
          <a:xfrm>
            <a:off x="6583680" y="39960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Scherzare, senza rovinare la scena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23"/>
          <p:cNvSpPr/>
          <p:nvPr/>
        </p:nvSpPr>
        <p:spPr>
          <a:xfrm>
            <a:off x="6583680" y="45720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Le battute sono benvenute, finché non compromettono la sessione o il divertimento altrui.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Fiducia, salute e correttezza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La collaborazione viene prima della competizione tra giocatori.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2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33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34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05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ounded Rectangle 8"/>
          <p:cNvSpPr/>
          <p:nvPr/>
        </p:nvSpPr>
        <p:spPr>
          <a:xfrm>
            <a:off x="731520" y="21762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ectangle 9"/>
          <p:cNvSpPr/>
          <p:nvPr/>
        </p:nvSpPr>
        <p:spPr>
          <a:xfrm>
            <a:off x="896040" y="2395800"/>
            <a:ext cx="50040" cy="914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1097280" y="24048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Dubbi 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1097280" y="29808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Per regole e situazioni, chiedi al master: a lui spettano approvazioni, interpretazioni e veti.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ounded Rectangle 12"/>
          <p:cNvSpPr/>
          <p:nvPr/>
        </p:nvSpPr>
        <p:spPr>
          <a:xfrm>
            <a:off x="6217920" y="21762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Rectangle 13"/>
          <p:cNvSpPr/>
          <p:nvPr/>
        </p:nvSpPr>
        <p:spPr>
          <a:xfrm>
            <a:off x="6382440" y="2395800"/>
            <a:ext cx="50040" cy="914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6583680" y="24048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Rispetto delle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6583680" y="29808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Le decisioni del master vanno rispettate, anche quando non coincidono con le aspettative.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ounded Rectangle 16"/>
          <p:cNvSpPr/>
          <p:nvPr/>
        </p:nvSpPr>
        <p:spPr>
          <a:xfrm>
            <a:off x="731520" y="37674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ectangle 17"/>
          <p:cNvSpPr/>
          <p:nvPr/>
        </p:nvSpPr>
        <p:spPr>
          <a:xfrm>
            <a:off x="896040" y="3986640"/>
            <a:ext cx="50040" cy="91404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18"/>
          <p:cNvSpPr/>
          <p:nvPr/>
        </p:nvSpPr>
        <p:spPr>
          <a:xfrm>
            <a:off x="1097280" y="39960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La vita privata viene prima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19"/>
          <p:cNvSpPr/>
          <p:nvPr/>
        </p:nvSpPr>
        <p:spPr>
          <a:xfrm>
            <a:off x="1097280" y="45720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Se ti ammali, dai priorità alla salute e alla guarigione. Il gioco può aspettare.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ounded Rectangle 20"/>
          <p:cNvSpPr/>
          <p:nvPr/>
        </p:nvSpPr>
        <p:spPr>
          <a:xfrm>
            <a:off x="6217920" y="37674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ectangle 21"/>
          <p:cNvSpPr/>
          <p:nvPr/>
        </p:nvSpPr>
        <p:spPr>
          <a:xfrm>
            <a:off x="6382440" y="3986640"/>
            <a:ext cx="50040" cy="91404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6583680" y="39960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Tiri di dado trasparenti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23"/>
          <p:cNvSpPr/>
          <p:nvPr/>
        </p:nvSpPr>
        <p:spPr>
          <a:xfrm>
            <a:off x="6583680" y="45720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È vietato falsificare, alterare o modificare il risultato di un tiro.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04  /  I GIOCATORI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Il personaggio è più della scheda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Il passato e le scelte dei personaggi avranno un peso nella storia.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5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56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57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06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ounded Rectangle 8"/>
          <p:cNvSpPr/>
          <p:nvPr/>
        </p:nvSpPr>
        <p:spPr>
          <a:xfrm>
            <a:off x="731520" y="21762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ectangle 9"/>
          <p:cNvSpPr/>
          <p:nvPr/>
        </p:nvSpPr>
        <p:spPr>
          <a:xfrm>
            <a:off x="896040" y="2395800"/>
            <a:ext cx="50040" cy="914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1097280" y="24048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Le vostre azioni muovono la trama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11"/>
          <p:cNvSpPr/>
          <p:nvPr/>
        </p:nvSpPr>
        <p:spPr>
          <a:xfrm>
            <a:off x="1097280" y="29808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Le decisioni dei giocatori influenzeranno in larga parte lo sviluppo della campagna.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ounded Rectangle 12"/>
          <p:cNvSpPr/>
          <p:nvPr/>
        </p:nvSpPr>
        <p:spPr>
          <a:xfrm>
            <a:off x="6217920" y="21762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Rectangle 13"/>
          <p:cNvSpPr/>
          <p:nvPr/>
        </p:nvSpPr>
        <p:spPr>
          <a:xfrm>
            <a:off x="6382440" y="2395800"/>
            <a:ext cx="50040" cy="914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14"/>
          <p:cNvSpPr/>
          <p:nvPr/>
        </p:nvSpPr>
        <p:spPr>
          <a:xfrm>
            <a:off x="6583680" y="24048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Interpretare è al centro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Box 15"/>
          <p:cNvSpPr/>
          <p:nvPr/>
        </p:nvSpPr>
        <p:spPr>
          <a:xfrm>
            <a:off x="6583680" y="29808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Il gioco di ruolo è incoraggiato. Le statistiche sono linee guida, non l'unico modo di leggere il personaggio.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ounded Rectangle 16"/>
          <p:cNvSpPr/>
          <p:nvPr/>
        </p:nvSpPr>
        <p:spPr>
          <a:xfrm>
            <a:off x="731520" y="37674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ectangle 17"/>
          <p:cNvSpPr/>
          <p:nvPr/>
        </p:nvSpPr>
        <p:spPr>
          <a:xfrm>
            <a:off x="896040" y="3986640"/>
            <a:ext cx="50040" cy="914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18"/>
          <p:cNvSpPr/>
          <p:nvPr/>
        </p:nvSpPr>
        <p:spPr>
          <a:xfrm>
            <a:off x="1097280" y="39960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Le regole si imparano giocando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19"/>
          <p:cNvSpPr/>
          <p:nvPr/>
        </p:nvSpPr>
        <p:spPr>
          <a:xfrm>
            <a:off x="1097280" y="45720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Non serve conoscere il sistema a memoria: giocatori esperti saranno disponibili ad aiutare.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ounded Rectangle 20"/>
          <p:cNvSpPr/>
          <p:nvPr/>
        </p:nvSpPr>
        <p:spPr>
          <a:xfrm>
            <a:off x="6217920" y="37674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21"/>
          <p:cNvSpPr/>
          <p:nvPr/>
        </p:nvSpPr>
        <p:spPr>
          <a:xfrm>
            <a:off x="6382440" y="3986640"/>
            <a:ext cx="50040" cy="914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22"/>
          <p:cNvSpPr/>
          <p:nvPr/>
        </p:nvSpPr>
        <p:spPr>
          <a:xfrm>
            <a:off x="6583680" y="39960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Costruire un background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23"/>
          <p:cNvSpPr/>
          <p:nvPr/>
        </p:nvSpPr>
        <p:spPr>
          <a:xfrm>
            <a:off x="6583680" y="45720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È richiesto per ogni personaggio; può essere individuale o condiviso, sempre coinvolgendo il master.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05  /  IL MASTER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Il master gioca con voi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Non è un avversario: il suo ruolo è far vivere un'esperienza coinvolgente.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8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79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80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07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Rounded Rectangle 8"/>
          <p:cNvSpPr/>
          <p:nvPr/>
        </p:nvSpPr>
        <p:spPr>
          <a:xfrm>
            <a:off x="731520" y="21762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ectangle 9"/>
          <p:cNvSpPr/>
          <p:nvPr/>
        </p:nvSpPr>
        <p:spPr>
          <a:xfrm>
            <a:off x="896040" y="2395800"/>
            <a:ext cx="50040" cy="91404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1097280" y="24048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Sfide, non una gara a eliminare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Box 11"/>
          <p:cNvSpPr/>
          <p:nvPr/>
        </p:nvSpPr>
        <p:spPr>
          <a:xfrm>
            <a:off x="1097280" y="29808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Il master mette i personaggi davanti a situazioni significative: non ha come obiettivo ucciderli.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Rounded Rectangle 12"/>
          <p:cNvSpPr/>
          <p:nvPr/>
        </p:nvSpPr>
        <p:spPr>
          <a:xfrm>
            <a:off x="6217920" y="21762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ectangle 13"/>
          <p:cNvSpPr/>
          <p:nvPr/>
        </p:nvSpPr>
        <p:spPr>
          <a:xfrm>
            <a:off x="6382440" y="2395800"/>
            <a:ext cx="50040" cy="914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14"/>
          <p:cNvSpPr/>
          <p:nvPr/>
        </p:nvSpPr>
        <p:spPr>
          <a:xfrm>
            <a:off x="6583680" y="24048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Una storia condivisa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Box 15"/>
          <p:cNvSpPr/>
          <p:nvPr/>
        </p:nvSpPr>
        <p:spPr>
          <a:xfrm>
            <a:off x="6583680" y="29808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Il mondo reagisce alle vostre azioni; il master non impone una trama prestabilita.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Rounded Rectangle 16"/>
          <p:cNvSpPr/>
          <p:nvPr/>
        </p:nvSpPr>
        <p:spPr>
          <a:xfrm>
            <a:off x="731520" y="37674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Rectangle 17"/>
          <p:cNvSpPr/>
          <p:nvPr/>
        </p:nvSpPr>
        <p:spPr>
          <a:xfrm>
            <a:off x="896040" y="3986640"/>
            <a:ext cx="50040" cy="914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18"/>
          <p:cNvSpPr/>
          <p:nvPr/>
        </p:nvSpPr>
        <p:spPr>
          <a:xfrm>
            <a:off x="1097280" y="39960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Spazio e ascolto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Box 19"/>
          <p:cNvSpPr/>
          <p:nvPr/>
        </p:nvSpPr>
        <p:spPr>
          <a:xfrm>
            <a:off x="1097280" y="45720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Tutti avranno l'opportunità di esprimersi e di approfondire il proprio background.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Rounded Rectangle 20"/>
          <p:cNvSpPr/>
          <p:nvPr/>
        </p:nvSpPr>
        <p:spPr>
          <a:xfrm>
            <a:off x="6217920" y="3767400"/>
            <a:ext cx="5230080" cy="1352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Rectangle 21"/>
          <p:cNvSpPr/>
          <p:nvPr/>
        </p:nvSpPr>
        <p:spPr>
          <a:xfrm>
            <a:off x="6382440" y="3986640"/>
            <a:ext cx="50040" cy="914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22"/>
          <p:cNvSpPr/>
          <p:nvPr/>
        </p:nvSpPr>
        <p:spPr>
          <a:xfrm>
            <a:off x="6583680" y="399600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Disponibilità e presenza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23"/>
          <p:cNvSpPr/>
          <p:nvPr/>
        </p:nvSpPr>
        <p:spPr>
          <a:xfrm>
            <a:off x="6583680" y="4572000"/>
            <a:ext cx="460836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Il master è disponibile per dubbi e chiarimenti e sarà presente alle sessioni, salvo imprevisti.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06  /  IL MONDO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Skarheim è un mondo vivo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Ogni scelta può lasciare traccia, anche quando sembra irrilevante.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1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02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03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08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Box 8"/>
          <p:cNvSpPr/>
          <p:nvPr/>
        </p:nvSpPr>
        <p:spPr>
          <a:xfrm>
            <a:off x="868680" y="2286000"/>
            <a:ext cx="4754520" cy="14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3ebdd"/>
                </a:solidFill>
                <a:latin typeface="DejaVu Serif"/>
              </a:rPr>
              <a:t>Le persone incontrate, i conflitti affrontati e le decisioni prese cambieranno ciò che accadrà.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6" name="Connector 9"/>
          <p:cNvCxnSpPr/>
          <p:nvPr/>
        </p:nvCxnSpPr>
        <p:spPr>
          <a:xfrm>
            <a:off x="5989320" y="2267640"/>
            <a:ext cx="360" cy="3036240"/>
          </a:xfrm>
          <a:prstGeom prst="straightConnector1">
            <a:avLst/>
          </a:prstGeom>
          <a:ln w="12700">
            <a:solidFill>
              <a:srgbClr val="3b4a4c"/>
            </a:solidFill>
            <a:round/>
          </a:ln>
        </p:spPr>
      </p:cxnSp>
      <p:sp>
        <p:nvSpPr>
          <p:cNvPr id="207" name="TextBox 10"/>
          <p:cNvSpPr/>
          <p:nvPr/>
        </p:nvSpPr>
        <p:spPr>
          <a:xfrm>
            <a:off x="6400800" y="2359080"/>
            <a:ext cx="45716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</a:rPr>
              <a:t>UNA STORIA GIÀ IN MOVIMENTO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Box 11"/>
          <p:cNvSpPr/>
          <p:nvPr/>
        </p:nvSpPr>
        <p:spPr>
          <a:xfrm>
            <a:off x="6400800" y="2853000"/>
            <a:ext cx="46630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</a:rPr>
              <a:t>La campagna è anche conseguenza di avventure già vissute a Skarheim.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12"/>
          <p:cNvSpPr/>
          <p:nvPr/>
        </p:nvSpPr>
        <p:spPr>
          <a:xfrm>
            <a:off x="6400800" y="3913560"/>
            <a:ext cx="45716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</a:rPr>
              <a:t>ISPIRAZIONE, NON COPIA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Box 13"/>
          <p:cNvSpPr/>
          <p:nvPr/>
        </p:nvSpPr>
        <p:spPr>
          <a:xfrm>
            <a:off x="6400800" y="4407480"/>
            <a:ext cx="46630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</a:rPr>
              <a:t>Miti e leggende norrene sono un punto di partenza: questa è una reinterpretazione.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Box 14"/>
          <p:cNvSpPr/>
          <p:nvPr/>
        </p:nvSpPr>
        <p:spPr>
          <a:xfrm>
            <a:off x="868680" y="5139000"/>
            <a:ext cx="102866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d1a35d"/>
                </a:solidFill>
                <a:latin typeface="DejaVu Serif"/>
              </a:rPr>
              <a:t>La nostra storia non è una riproduzione delle leggende.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07  /  PERSONAGGI E RISORSE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Interpretare. Scegliere. Amministrare.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Il gioco può mettere alla prova sia le convinzioni sia le risorse dei personaggi.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5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16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17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09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Rounded Rectangle 8"/>
          <p:cNvSpPr/>
          <p:nvPr/>
        </p:nvSpPr>
        <p:spPr>
          <a:xfrm>
            <a:off x="731520" y="2194560"/>
            <a:ext cx="5230080" cy="1938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Rectangle 9"/>
          <p:cNvSpPr/>
          <p:nvPr/>
        </p:nvSpPr>
        <p:spPr>
          <a:xfrm>
            <a:off x="896040" y="2414160"/>
            <a:ext cx="50040" cy="149940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TextBox 10"/>
          <p:cNvSpPr/>
          <p:nvPr/>
        </p:nvSpPr>
        <p:spPr>
          <a:xfrm>
            <a:off x="1097280" y="242316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</a:rPr>
              <a:t>Gioca qualcuno di diverso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Box 11"/>
          <p:cNvSpPr/>
          <p:nvPr/>
        </p:nvSpPr>
        <p:spPr>
          <a:xfrm>
            <a:off x="1097280" y="299916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Non aver paura di interpretare caratteristiche, convinzioni e personalità lontane dalle tue: immedesimarsi fa parte del gioco.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Rounded Rectangle 12"/>
          <p:cNvSpPr/>
          <p:nvPr/>
        </p:nvSpPr>
        <p:spPr>
          <a:xfrm>
            <a:off x="6217920" y="2194560"/>
            <a:ext cx="5230080" cy="1938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Rectangle 13"/>
          <p:cNvSpPr/>
          <p:nvPr/>
        </p:nvSpPr>
        <p:spPr>
          <a:xfrm>
            <a:off x="6382440" y="2414160"/>
            <a:ext cx="50040" cy="149940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14"/>
          <p:cNvSpPr/>
          <p:nvPr/>
        </p:nvSpPr>
        <p:spPr>
          <a:xfrm>
            <a:off x="6583680" y="242316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</a:rPr>
              <a:t>Le risorse non sono infinite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Box 15"/>
          <p:cNvSpPr/>
          <p:nvPr/>
        </p:nvSpPr>
        <p:spPr>
          <a:xfrm>
            <a:off x="6583680" y="2999160"/>
            <a:ext cx="46083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Ricchezze e approvvigionamenti potrebbero essere limitati: gestirli farà parte dell'esperienza.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ounded Rectangle 16"/>
          <p:cNvSpPr/>
          <p:nvPr/>
        </p:nvSpPr>
        <p:spPr>
          <a:xfrm>
            <a:off x="2971800" y="4572000"/>
            <a:ext cx="6235920" cy="7495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17"/>
          <p:cNvSpPr/>
          <p:nvPr/>
        </p:nvSpPr>
        <p:spPr>
          <a:xfrm>
            <a:off x="3154680" y="4783320"/>
            <a:ext cx="587016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900" spc="-1" strike="noStrike">
                <a:solidFill>
                  <a:srgbClr val="d1a35d"/>
                </a:solidFill>
                <a:latin typeface="DejaVu Serif"/>
              </a:rPr>
              <a:t>1 MONETA D'ORO (MO)  =  1 PASTO</a:t>
            </a:r>
            <a:endParaRPr b="0" lang="it-IT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08  /  CONFLITTO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Il combattimento non è la risposta automatica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Gli scontri non sono il fulcro dell'avventura e molti saranno evitabili.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2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33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34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10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8"/>
          <p:cNvSpPr/>
          <p:nvPr/>
        </p:nvSpPr>
        <p:spPr>
          <a:xfrm>
            <a:off x="896040" y="2267640"/>
            <a:ext cx="4983120" cy="9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f3ebdd"/>
                </a:solidFill>
                <a:latin typeface="DejaVu Serif"/>
              </a:rPr>
              <a:t>Se cerchi una campagna in cui si combatte a ogni sessione, questa potrebbe non fare per te.</a:t>
            </a:r>
            <a:endParaRPr b="0" lang="it-IT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9"/>
          <p:cNvSpPr/>
          <p:nvPr/>
        </p:nvSpPr>
        <p:spPr>
          <a:xfrm>
            <a:off x="896040" y="404172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d1a35d"/>
                </a:solidFill>
                <a:latin typeface="DejaVu Sans"/>
              </a:rPr>
              <a:t>Le vostre scelte possono portare allo scontro — oppure evitarlo.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Rounded Rectangle 10"/>
          <p:cNvSpPr/>
          <p:nvPr/>
        </p:nvSpPr>
        <p:spPr>
          <a:xfrm>
            <a:off x="6263640" y="2286000"/>
            <a:ext cx="5120280" cy="7740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Rectangle 11"/>
          <p:cNvSpPr/>
          <p:nvPr/>
        </p:nvSpPr>
        <p:spPr>
          <a:xfrm>
            <a:off x="6428160" y="2505600"/>
            <a:ext cx="50040" cy="347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12"/>
          <p:cNvSpPr/>
          <p:nvPr/>
        </p:nvSpPr>
        <p:spPr>
          <a:xfrm>
            <a:off x="6629400" y="2514600"/>
            <a:ext cx="44985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</a:rPr>
              <a:t>Dialogo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Box 13"/>
          <p:cNvSpPr/>
          <p:nvPr/>
        </p:nvSpPr>
        <p:spPr>
          <a:xfrm>
            <a:off x="6629400" y="2817720"/>
            <a:ext cx="4498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</a:rPr>
              <a:t>Capire le ragioni degli altri.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Rounded Rectangle 14"/>
          <p:cNvSpPr/>
          <p:nvPr/>
        </p:nvSpPr>
        <p:spPr>
          <a:xfrm>
            <a:off x="6263640" y="3273480"/>
            <a:ext cx="5120280" cy="785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Rectangle 15"/>
          <p:cNvSpPr/>
          <p:nvPr/>
        </p:nvSpPr>
        <p:spPr>
          <a:xfrm>
            <a:off x="6428160" y="3493080"/>
            <a:ext cx="50040" cy="347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16"/>
          <p:cNvSpPr/>
          <p:nvPr/>
        </p:nvSpPr>
        <p:spPr>
          <a:xfrm>
            <a:off x="6629400" y="3502080"/>
            <a:ext cx="44985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</a:rPr>
              <a:t>Diplomazia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Box 17"/>
          <p:cNvSpPr/>
          <p:nvPr/>
        </p:nvSpPr>
        <p:spPr>
          <a:xfrm>
            <a:off x="6629400" y="3805200"/>
            <a:ext cx="4498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</a:rPr>
              <a:t>Cercare un accordo.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Rounded Rectangle 18"/>
          <p:cNvSpPr/>
          <p:nvPr/>
        </p:nvSpPr>
        <p:spPr>
          <a:xfrm>
            <a:off x="6263640" y="4260960"/>
            <a:ext cx="5120280" cy="785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Rectangle 19"/>
          <p:cNvSpPr/>
          <p:nvPr/>
        </p:nvSpPr>
        <p:spPr>
          <a:xfrm>
            <a:off x="6428160" y="4480560"/>
            <a:ext cx="50040" cy="34704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20"/>
          <p:cNvSpPr/>
          <p:nvPr/>
        </p:nvSpPr>
        <p:spPr>
          <a:xfrm>
            <a:off x="6629400" y="4489560"/>
            <a:ext cx="44985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</a:rPr>
              <a:t>Inganno e altre vie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Box 21"/>
          <p:cNvSpPr/>
          <p:nvPr/>
        </p:nvSpPr>
        <p:spPr>
          <a:xfrm>
            <a:off x="6629400" y="4793040"/>
            <a:ext cx="4498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</a:rPr>
              <a:t>Un conflitto può avere più soluzioni.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09  /  SISTEMA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D&amp;D 3.5, con regole su misura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La campagna usa una versione personalizzata e collaudata nel tempo.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3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54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55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11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Rounded Rectangle 8"/>
          <p:cNvSpPr/>
          <p:nvPr/>
        </p:nvSpPr>
        <p:spPr>
          <a:xfrm>
            <a:off x="731520" y="2212920"/>
            <a:ext cx="3456000" cy="17827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Rectangle 9"/>
          <p:cNvSpPr/>
          <p:nvPr/>
        </p:nvSpPr>
        <p:spPr>
          <a:xfrm>
            <a:off x="896040" y="2432160"/>
            <a:ext cx="50040" cy="13438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10"/>
          <p:cNvSpPr/>
          <p:nvPr/>
        </p:nvSpPr>
        <p:spPr>
          <a:xfrm>
            <a:off x="1097280" y="2441520"/>
            <a:ext cx="28342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</a:rPr>
              <a:t>D20 System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Box 11"/>
          <p:cNvSpPr/>
          <p:nvPr/>
        </p:nvSpPr>
        <p:spPr>
          <a:xfrm>
            <a:off x="1097280" y="3017520"/>
            <a:ext cx="28342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Il sistema di gioco di riferimento.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Rounded Rectangle 12"/>
          <p:cNvSpPr/>
          <p:nvPr/>
        </p:nvSpPr>
        <p:spPr>
          <a:xfrm>
            <a:off x="4370760" y="2212920"/>
            <a:ext cx="3456000" cy="17827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Rectangle 13"/>
          <p:cNvSpPr/>
          <p:nvPr/>
        </p:nvSpPr>
        <p:spPr>
          <a:xfrm>
            <a:off x="4535280" y="2432160"/>
            <a:ext cx="50040" cy="13438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TextBox 14"/>
          <p:cNvSpPr/>
          <p:nvPr/>
        </p:nvSpPr>
        <p:spPr>
          <a:xfrm>
            <a:off x="4736520" y="2441520"/>
            <a:ext cx="28342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</a:rPr>
              <a:t>Regole homebrew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Box 15"/>
          <p:cNvSpPr/>
          <p:nvPr/>
        </p:nvSpPr>
        <p:spPr>
          <a:xfrm>
            <a:off x="4736520" y="30175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Regole personalizzate saranno presentate durante la campagna.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Rounded Rectangle 16"/>
          <p:cNvSpPr/>
          <p:nvPr/>
        </p:nvSpPr>
        <p:spPr>
          <a:xfrm>
            <a:off x="8028360" y="2212920"/>
            <a:ext cx="3456000" cy="17827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Rectangle 17"/>
          <p:cNvSpPr/>
          <p:nvPr/>
        </p:nvSpPr>
        <p:spPr>
          <a:xfrm>
            <a:off x="8192880" y="2432160"/>
            <a:ext cx="50040" cy="13438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18"/>
          <p:cNvSpPr/>
          <p:nvPr/>
        </p:nvSpPr>
        <p:spPr>
          <a:xfrm>
            <a:off x="8394120" y="2441520"/>
            <a:ext cx="28342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</a:rPr>
              <a:t>Manuali come guida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Box 19"/>
          <p:cNvSpPr/>
          <p:nvPr/>
        </p:nvSpPr>
        <p:spPr>
          <a:xfrm>
            <a:off x="8394120" y="30175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Le regole ufficiali non sono intoccabili: conta l'approvazione del master.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Rounded Rectangle 20"/>
          <p:cNvSpPr/>
          <p:nvPr/>
        </p:nvSpPr>
        <p:spPr>
          <a:xfrm>
            <a:off x="1188720" y="4480560"/>
            <a:ext cx="9829440" cy="78588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21"/>
          <p:cNvSpPr/>
          <p:nvPr/>
        </p:nvSpPr>
        <p:spPr>
          <a:xfrm>
            <a:off x="1417320" y="4748040"/>
            <a:ext cx="937224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f3ebdd"/>
                </a:solidFill>
                <a:latin typeface="DejaVu Serif"/>
              </a:rPr>
              <a:t>Power play fortemente sconsigliato: l'obiettivo è giocare insieme.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10  /  MATERIALI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Manuali consentiti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Il materiale ufficiale è disponibile: non serve acquistare manuali.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4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75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76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12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Rounded Rectangle 8"/>
          <p:cNvSpPr/>
          <p:nvPr/>
        </p:nvSpPr>
        <p:spPr>
          <a:xfrm>
            <a:off x="777240" y="2240280"/>
            <a:ext cx="5074560" cy="22856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9"/>
          <p:cNvSpPr/>
          <p:nvPr/>
        </p:nvSpPr>
        <p:spPr>
          <a:xfrm>
            <a:off x="1143000" y="2560320"/>
            <a:ext cx="438876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</a:rPr>
              <a:t>SISTEMI AMMESSI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Box 10"/>
          <p:cNvSpPr/>
          <p:nvPr/>
        </p:nvSpPr>
        <p:spPr>
          <a:xfrm>
            <a:off x="1170360" y="3063240"/>
            <a:ext cx="438876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2200" spc="-1" strike="noStrike">
                <a:solidFill>
                  <a:srgbClr val="f3ebdd"/>
                </a:solidFill>
                <a:latin typeface="DejaVu Serif"/>
              </a:rPr>
              <a:t>D&amp;D 3.5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</a:rPr>
              <a:t>Pathfinder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Rounded Rectangle 11"/>
          <p:cNvSpPr/>
          <p:nvPr/>
        </p:nvSpPr>
        <p:spPr>
          <a:xfrm>
            <a:off x="6172200" y="224028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12"/>
          <p:cNvSpPr/>
          <p:nvPr/>
        </p:nvSpPr>
        <p:spPr>
          <a:xfrm>
            <a:off x="6537960" y="2560320"/>
            <a:ext cx="44802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</a:rPr>
              <a:t>PRIMA DI USARLI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Box 13"/>
          <p:cNvSpPr/>
          <p:nvPr/>
        </p:nvSpPr>
        <p:spPr>
          <a:xfrm>
            <a:off x="6537960" y="3063240"/>
            <a:ext cx="44344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</a:rPr>
              <a:t>Ogni opzione va approvata dal master, soprattutto se entra in conflitto con le regole personalizzate.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Box 14"/>
          <p:cNvSpPr/>
          <p:nvPr/>
        </p:nvSpPr>
        <p:spPr>
          <a:xfrm>
            <a:off x="1005840" y="4983480"/>
            <a:ext cx="1019520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d1a35d"/>
                </a:solidFill>
                <a:latin typeface="DejaVu Serif"/>
              </a:rPr>
              <a:t>I manuali sono già in possesso del master.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11  /  OCCORRENTE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Cosa portare alla sessione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Poche cose pratiche per essere pronti a giocare.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88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89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90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13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Rounded Rectangle 8"/>
          <p:cNvSpPr/>
          <p:nvPr/>
        </p:nvSpPr>
        <p:spPr>
          <a:xfrm>
            <a:off x="749880" y="2212920"/>
            <a:ext cx="3337200" cy="1874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Rectangle 9"/>
          <p:cNvSpPr/>
          <p:nvPr/>
        </p:nvSpPr>
        <p:spPr>
          <a:xfrm>
            <a:off x="914400" y="2432160"/>
            <a:ext cx="50040" cy="14353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10"/>
          <p:cNvSpPr/>
          <p:nvPr/>
        </p:nvSpPr>
        <p:spPr>
          <a:xfrm>
            <a:off x="1115640" y="2441520"/>
            <a:ext cx="2715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</a:rPr>
              <a:t>Scrivere e correggere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11"/>
          <p:cNvSpPr/>
          <p:nvPr/>
        </p:nvSpPr>
        <p:spPr>
          <a:xfrm>
            <a:off x="1115640" y="3017520"/>
            <a:ext cx="271548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Una matita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Una gomma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Un quaderno o un dispositivo per gli appunti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Rounded Rectangle 12"/>
          <p:cNvSpPr/>
          <p:nvPr/>
        </p:nvSpPr>
        <p:spPr>
          <a:xfrm>
            <a:off x="4370760" y="2212920"/>
            <a:ext cx="7040520" cy="1874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13"/>
          <p:cNvSpPr/>
          <p:nvPr/>
        </p:nvSpPr>
        <p:spPr>
          <a:xfrm>
            <a:off x="4709160" y="2487240"/>
            <a:ext cx="63090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</a:rPr>
              <a:t>SET DI DADI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Rounded Rectangle 14"/>
          <p:cNvSpPr/>
          <p:nvPr/>
        </p:nvSpPr>
        <p:spPr>
          <a:xfrm>
            <a:off x="4663440" y="3063240"/>
            <a:ext cx="758520" cy="65808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15"/>
          <p:cNvSpPr/>
          <p:nvPr/>
        </p:nvSpPr>
        <p:spPr>
          <a:xfrm>
            <a:off x="4700160" y="3260880"/>
            <a:ext cx="6854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d20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Rounded Rectangle 16"/>
          <p:cNvSpPr/>
          <p:nvPr/>
        </p:nvSpPr>
        <p:spPr>
          <a:xfrm>
            <a:off x="5559480" y="3063240"/>
            <a:ext cx="758520" cy="65808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17"/>
          <p:cNvSpPr/>
          <p:nvPr/>
        </p:nvSpPr>
        <p:spPr>
          <a:xfrm>
            <a:off x="5596200" y="3260880"/>
            <a:ext cx="6854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d100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Rounded Rectangle 18"/>
          <p:cNvSpPr/>
          <p:nvPr/>
        </p:nvSpPr>
        <p:spPr>
          <a:xfrm>
            <a:off x="6455520" y="3063240"/>
            <a:ext cx="758520" cy="65808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TextBox 19"/>
          <p:cNvSpPr/>
          <p:nvPr/>
        </p:nvSpPr>
        <p:spPr>
          <a:xfrm>
            <a:off x="6492240" y="3260880"/>
            <a:ext cx="6854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d12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ounded Rectangle 20"/>
          <p:cNvSpPr/>
          <p:nvPr/>
        </p:nvSpPr>
        <p:spPr>
          <a:xfrm>
            <a:off x="7351920" y="3063240"/>
            <a:ext cx="758520" cy="65808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21"/>
          <p:cNvSpPr/>
          <p:nvPr/>
        </p:nvSpPr>
        <p:spPr>
          <a:xfrm>
            <a:off x="7388280" y="3260880"/>
            <a:ext cx="6854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d10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Rounded Rectangle 22"/>
          <p:cNvSpPr/>
          <p:nvPr/>
        </p:nvSpPr>
        <p:spPr>
          <a:xfrm>
            <a:off x="8247960" y="3063240"/>
            <a:ext cx="758520" cy="65808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23"/>
          <p:cNvSpPr/>
          <p:nvPr/>
        </p:nvSpPr>
        <p:spPr>
          <a:xfrm>
            <a:off x="8284320" y="3260880"/>
            <a:ext cx="6854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d8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ounded Rectangle 24"/>
          <p:cNvSpPr/>
          <p:nvPr/>
        </p:nvSpPr>
        <p:spPr>
          <a:xfrm>
            <a:off x="9144000" y="3063240"/>
            <a:ext cx="758520" cy="65808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25"/>
          <p:cNvSpPr/>
          <p:nvPr/>
        </p:nvSpPr>
        <p:spPr>
          <a:xfrm>
            <a:off x="9180720" y="3260880"/>
            <a:ext cx="6854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d6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Rounded Rectangle 26"/>
          <p:cNvSpPr/>
          <p:nvPr/>
        </p:nvSpPr>
        <p:spPr>
          <a:xfrm>
            <a:off x="10040040" y="3063240"/>
            <a:ext cx="758520" cy="65808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27"/>
          <p:cNvSpPr/>
          <p:nvPr/>
        </p:nvSpPr>
        <p:spPr>
          <a:xfrm>
            <a:off x="10076760" y="3260880"/>
            <a:ext cx="6854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</a:rPr>
              <a:t>d4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Box 28"/>
          <p:cNvSpPr/>
          <p:nvPr/>
        </p:nvSpPr>
        <p:spPr>
          <a:xfrm>
            <a:off x="4480560" y="4526280"/>
            <a:ext cx="67204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d1a35d"/>
                </a:solidFill>
                <a:latin typeface="DejaVu Serif"/>
              </a:rPr>
              <a:t>Totale: 7 dadi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Box 1"/>
          <p:cNvSpPr/>
          <p:nvPr/>
        </p:nvSpPr>
        <p:spPr>
          <a:xfrm>
            <a:off x="658440" y="393120"/>
            <a:ext cx="8046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</a:rPr>
              <a:t>12  /  PUNTI E COSTI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Box 2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</a:rPr>
              <a:t>La classifica e la cassa comune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3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</a:rPr>
              <a:t>Due aspetti pratici da conoscere prima dell'inizio.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16" name="Connector 4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17" name="Connector 5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18" name="TextBox 6"/>
          <p:cNvSpPr/>
          <p:nvPr/>
        </p:nvSpPr>
        <p:spPr>
          <a:xfrm>
            <a:off x="676800" y="6528960"/>
            <a:ext cx="7772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Box 7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</a:rPr>
              <a:t>14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Rounded Rectangle 8"/>
          <p:cNvSpPr/>
          <p:nvPr/>
        </p:nvSpPr>
        <p:spPr>
          <a:xfrm>
            <a:off x="777240" y="2240280"/>
            <a:ext cx="5074560" cy="2057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Rectangle 9"/>
          <p:cNvSpPr/>
          <p:nvPr/>
        </p:nvSpPr>
        <p:spPr>
          <a:xfrm>
            <a:off x="941760" y="2459880"/>
            <a:ext cx="50040" cy="161820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TextBox 10"/>
          <p:cNvSpPr/>
          <p:nvPr/>
        </p:nvSpPr>
        <p:spPr>
          <a:xfrm>
            <a:off x="1143000" y="2468880"/>
            <a:ext cx="44528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</a:rPr>
              <a:t>1 punto a sessione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Box 11"/>
          <p:cNvSpPr/>
          <p:nvPr/>
        </p:nvSpPr>
        <p:spPr>
          <a:xfrm>
            <a:off x="1143000" y="3044880"/>
            <a:ext cx="445284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A fine sessione, ogni giocatore assegna 1 punto a chi, secondo lui, ha interpretato meglio il proprio personaggio. I punti formeranno la classifica finale.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Rounded Rectangle 12"/>
          <p:cNvSpPr/>
          <p:nvPr/>
        </p:nvSpPr>
        <p:spPr>
          <a:xfrm>
            <a:off x="6172200" y="2240280"/>
            <a:ext cx="5211720" cy="2057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Rectangle 13"/>
          <p:cNvSpPr/>
          <p:nvPr/>
        </p:nvSpPr>
        <p:spPr>
          <a:xfrm>
            <a:off x="6336720" y="2459880"/>
            <a:ext cx="50040" cy="161820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TextBox 14"/>
          <p:cNvSpPr/>
          <p:nvPr/>
        </p:nvSpPr>
        <p:spPr>
          <a:xfrm>
            <a:off x="6537960" y="2468880"/>
            <a:ext cx="45900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</a:rPr>
              <a:t>Contributo di 1 €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15"/>
          <p:cNvSpPr/>
          <p:nvPr/>
        </p:nvSpPr>
        <p:spPr>
          <a:xfrm>
            <a:off x="6537960" y="3044880"/>
            <a:ext cx="45900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</a:rPr>
              <a:t>Oltre al pagamento della sala, si verserà 1 € per sessione in una cassa comune.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Rounded Rectangle 16"/>
          <p:cNvSpPr/>
          <p:nvPr/>
        </p:nvSpPr>
        <p:spPr>
          <a:xfrm>
            <a:off x="1325880" y="4645080"/>
            <a:ext cx="9555120" cy="7128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TextBox 17"/>
          <p:cNvSpPr/>
          <p:nvPr/>
        </p:nvSpPr>
        <p:spPr>
          <a:xfrm>
            <a:off x="1554480" y="4861080"/>
            <a:ext cx="9097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3ebdd"/>
                </a:solidFill>
                <a:latin typeface="DejaVu Serif"/>
              </a:rPr>
              <a:t>A fine campagna: buoni negozio distribuiti secondo la classifica.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Connector 1"/>
          <p:cNvCxnSpPr/>
          <p:nvPr/>
        </p:nvCxnSpPr>
        <p:spPr>
          <a:xfrm>
            <a:off x="731520" y="685800"/>
            <a:ext cx="10698840" cy="36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331" name="Connector 2"/>
          <p:cNvCxnSpPr/>
          <p:nvPr/>
        </p:nvCxnSpPr>
        <p:spPr>
          <a:xfrm>
            <a:off x="731520" y="6235920"/>
            <a:ext cx="10698840" cy="36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332" name="TextBox 3"/>
          <p:cNvSpPr/>
          <p:nvPr/>
        </p:nvSpPr>
        <p:spPr>
          <a:xfrm>
            <a:off x="1005840" y="1124640"/>
            <a:ext cx="101494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</a:rPr>
              <a:t>IL MONDO VI ASPETTA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Box 4"/>
          <p:cNvSpPr/>
          <p:nvPr/>
        </p:nvSpPr>
        <p:spPr>
          <a:xfrm>
            <a:off x="1097280" y="1874520"/>
            <a:ext cx="996660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3100" spc="-1" strike="noStrike">
                <a:solidFill>
                  <a:srgbClr val="f3ebdd"/>
                </a:solidFill>
                <a:latin typeface="DejaVu Serif"/>
              </a:rPr>
              <a:t>Skarheim reagirà alle vostre scelte.</a:t>
            </a:r>
            <a:endParaRPr b="0" lang="it-IT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Box 5"/>
          <p:cNvSpPr/>
          <p:nvPr/>
        </p:nvSpPr>
        <p:spPr>
          <a:xfrm>
            <a:off x="2011680" y="3246120"/>
            <a:ext cx="81378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b8b7a9"/>
                </a:solidFill>
                <a:latin typeface="DejaVu Serif"/>
              </a:rPr>
              <a:t>Il master fornirà il mondo.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Box 6"/>
          <p:cNvSpPr/>
          <p:nvPr/>
        </p:nvSpPr>
        <p:spPr>
          <a:xfrm>
            <a:off x="2011680" y="4160520"/>
            <a:ext cx="813780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500" spc="-1" strike="noStrike">
                <a:solidFill>
                  <a:srgbClr val="d1a35d"/>
                </a:solidFill>
                <a:latin typeface="DejaVu Serif"/>
              </a:rPr>
              <a:t>Voi deciderete cosa farne.</a:t>
            </a:r>
            <a:endParaRPr b="0" lang="it-IT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Box 7"/>
          <p:cNvSpPr/>
          <p:nvPr/>
        </p:nvSpPr>
        <p:spPr>
          <a:xfrm>
            <a:off x="1005840" y="6446520"/>
            <a:ext cx="101494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13  /  IL CONTINENTE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Le città di Skarheim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Un continente segnato da città con storie e destini diversi.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16</a:t>
            </a:r>
          </a:p>
        </p:txBody>
      </p:sp>
      <p:pic>
        <p:nvPicPr>
          <p:cNvPr id="13" name="Picture 12" descr="mappa-del-m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5852160" cy="43891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7240" y="2011680"/>
            <a:ext cx="5852160" cy="4389120"/>
          </a:xfrm>
          <a:prstGeom prst="rect">
            <a:avLst/>
          </a:prstGeom>
          <a:noFill/>
          <a:ln w="12700">
            <a:solidFill>
              <a:srgbClr val="D1A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95160" y="2011680"/>
            <a:ext cx="4407408" cy="438912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331720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A35D"/>
                </a:solidFill>
                <a:latin typeface="DejaVu Sans"/>
              </a:rPr>
              <a:t>CITTÀ PRINCIPALI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78892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Meridion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3081527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B7A9"/>
                </a:solidFill>
                <a:latin typeface="DejaVu Sans"/>
              </a:rPr>
              <a:t>Il potere imperiale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447287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Kagen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3739896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B7A9"/>
                </a:solidFill>
                <a:latin typeface="DejaVu Sans"/>
              </a:rPr>
              <a:t>La città ricostruita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10565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Hartak-Kar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4398264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B7A9"/>
                </a:solidFill>
                <a:latin typeface="DejaVu Sans"/>
              </a:rPr>
              <a:t>La più grande del continente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76402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Tar-Kees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5056632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B7A9"/>
                </a:solidFill>
                <a:latin typeface="DejaVu Sans"/>
              </a:rPr>
              <a:t>Oltre i Denti di Drago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42239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Juvas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5715000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B7A9"/>
                </a:solidFill>
                <a:latin typeface="DejaVu Sans"/>
              </a:rPr>
              <a:t>Protetta da Astrid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14  /  LE CITTÀ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Meridion: imperi e reggenze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Da monarchia dei Rúnar a potenza guidata dalla Regina Nera.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148840"/>
            <a:ext cx="5230368" cy="160020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331720"/>
            <a:ext cx="50292" cy="123444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33172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La monarchia dei Rúnar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871216"/>
            <a:ext cx="460857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Meridion nacque come monarchia assoluta. Le città del continente, tranne Tar-Kees, erano regni vassalli. Divenne celebre per la forza militare e per i numerosi incantatori arcani.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48840"/>
            <a:ext cx="5230368" cy="160020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2331720"/>
            <a:ext cx="50292" cy="123444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Gray, il vampiro millenario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71216"/>
            <a:ext cx="460857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Circa 300 anni fa caddero i Rúnar. Gray instaurò una tirannia durata dieci anni, sconvolgendo gli equilibri politici e geografici. Un gruppo di eroi lo sconfisse dopo una lunga battaglia.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023360"/>
            <a:ext cx="5230368" cy="160020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206240"/>
            <a:ext cx="50292" cy="123444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20624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Ottant’anni di reggenza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745736"/>
            <a:ext cx="460857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Dopo la sconfitta di Gray, Meridion rimase una monarchia sotto un regime di reggenza, che lentamente fallì.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23360"/>
            <a:ext cx="5230368" cy="160020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82512" y="4206240"/>
            <a:ext cx="50292" cy="123444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0624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Brunilda, la Regina Nera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45736"/>
            <a:ext cx="460857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Brunilda instaurò un regime neutrale e riportò Meridion agli antichi splendori. È salita al trono 200 anni fa.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14  /  LE CITTÀ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Kagen: presagi, gemme e rovine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L’antica rivale di Meridion porta ancora i segni di una catastrofe.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194560"/>
            <a:ext cx="5230368" cy="1481328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377440"/>
            <a:ext cx="50292" cy="1115568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37744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Una città capace di opporsi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916936"/>
            <a:ext cx="4608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Kagen fu l’unica a contrastare Meridion sotto i Rúnar. I suoi Vǫlva predissero la fine del mondo per mano degli incantatori arcani.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94560"/>
            <a:ext cx="5230368" cy="1481328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2377440"/>
            <a:ext cx="50292" cy="1115568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7744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Le gemme viola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16936"/>
            <a:ext cx="4608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Nel sottosuolo furono scoperte pietre capaci di annullare magia e incantesimi. Si narra che gli incantatori morissero prima ancora di avvicinarsi.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977639"/>
            <a:ext cx="10698480" cy="155448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160520"/>
            <a:ext cx="50292" cy="1188719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160520"/>
            <a:ext cx="1007668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La distruzione e la ricostruzione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700016"/>
            <a:ext cx="10076688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Circa 300 anni fa una catastrofe annientò la città e lasciò un enorme cratere. La leggenda attribuisce la distruzione a un incantesimo potentissimo, non a un evento naturale. Da circa 100 anni Kagen è in lenta ricostruzione.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14  /  LE CITTÀ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Hartak-Kar: dalla città satellite alla repubblica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La città più grande del continente ha cambiato più volte il proprio rapporto con il potere.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212848"/>
            <a:ext cx="5230368" cy="169164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395728"/>
            <a:ext cx="50292" cy="13258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395728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Una città sotto l’imperatore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935224"/>
            <a:ext cx="4608576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Fondata dai Rúnar come satellite di Meridion, era governata da un Granduca nominato direttamente dall’imperatore.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12848"/>
            <a:ext cx="5230368" cy="169164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2395728"/>
            <a:ext cx="50292" cy="13258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95728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La rivendicazione d’indipendenza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35224"/>
            <a:ext cx="4608576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Durante l’assenza del vero imperatore si allontanò dal ruolo di città satellite e rivendicò la propria indipendenza.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096512"/>
            <a:ext cx="5230368" cy="1481328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279392"/>
            <a:ext cx="50292" cy="1115568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279392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Il ritorno sotto Brunilda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818888"/>
            <a:ext cx="4608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Duecento anni fa riconobbe Brunilda come unica e vera imperatrice e tornò a essere sua sottoposta.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96512"/>
            <a:ext cx="5230368" cy="1481328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82512" y="4279392"/>
            <a:ext cx="50292" cy="1115568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9392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BDD"/>
                </a:solidFill>
                <a:latin typeface="DejaVu Serif"/>
              </a:rPr>
              <a:t>L’ordinamento attuale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18888"/>
            <a:ext cx="4608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Oggi è una repubblica: San Cuthberth non riconosce Brunilda come legittima imperatrice.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14  /  LE CITTÀ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Tradizione e fede: Tar-Kees e Juvas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Due città con identità forti, ma radicate in storie molto diverse.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148840"/>
            <a:ext cx="5230368" cy="338328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331720"/>
            <a:ext cx="50292" cy="301752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33172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Tar-Kees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871216"/>
            <a:ext cx="4608576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8B7A9"/>
                </a:solidFill>
                <a:latin typeface="DejaVu Sans"/>
              </a:rPr>
              <a:t>È l’unica città oltre i Denti di Drago. Non ha mai abbandonato il culto degli Dei Antichi e le proprie usanze.
Il re viene ancora scelto attraverso un combattimento. Tar-Kees è rimasta estranea agli intrighi politici e alle grandi guerre.
I suoi guerrieri, i Kees, sono celebri navigatori e razziatori.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48840"/>
            <a:ext cx="5230368" cy="338328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2331720"/>
            <a:ext cx="50292" cy="301752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Juvas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71216"/>
            <a:ext cx="4608576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8B7A9"/>
                </a:solidFill>
                <a:latin typeface="DejaVu Sans"/>
              </a:rPr>
              <a:t>Nata come piccola città in una vasta valle sotto i Rúnar, crebbe quando la dea Astrid vi fondò la propria chiesa e le accordò protezione.
È diventata uno dei centri più importanti, sviluppati e ricchi del mondo conosciuto.
Non riconosce Brunilda come sovrana legittima per le leggi di Astrid, ma le due potenze non sono in conflitto.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15  /  FAZIONI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Le forze che muovono il continente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Circoli druidici, reti criminali, mercenari e culti competono nell’ombra.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103120"/>
            <a:ext cx="5230368" cy="80467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85415"/>
            <a:ext cx="48646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79985"/>
                </a:solidFill>
                <a:latin typeface="DejaVu Sans"/>
              </a:rPr>
              <a:t>Circolo del Lupo Bianco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459736"/>
            <a:ext cx="486460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Luogo sconosciuto, nelle regioni settentrionali.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5230368" cy="80467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85415"/>
            <a:ext cx="48646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79985"/>
                </a:solidFill>
                <a:latin typeface="DejaVu Sans"/>
              </a:rPr>
              <a:t>Circolo del Cervo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59736"/>
            <a:ext cx="486460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Oltre la catena dei Denti di Drago.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044952"/>
            <a:ext cx="5230368" cy="80467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27248"/>
            <a:ext cx="48646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79985"/>
                </a:solidFill>
                <a:latin typeface="DejaVu Sans"/>
              </a:rPr>
              <a:t>Circolo del Corvo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401568"/>
            <a:ext cx="486460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Nelle foreste nei pressi di Hartak-Kar.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044952"/>
            <a:ext cx="5230368" cy="80467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127248"/>
            <a:ext cx="48646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D7868"/>
                </a:solidFill>
                <a:latin typeface="DejaVu Sans"/>
              </a:rPr>
              <a:t>La Mano Nera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01568"/>
            <a:ext cx="486460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Organizzazione criminale a cellule, presente nelle città principali.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986783"/>
            <a:ext cx="5230368" cy="80467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069079"/>
            <a:ext cx="48646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D7868"/>
                </a:solidFill>
                <a:latin typeface="DejaVu Sans"/>
              </a:rPr>
              <a:t>La Legione Perduta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343399"/>
            <a:ext cx="486460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Pirati e mercenari senza affiliazione politica, spietati e assetati di sangue.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86783"/>
            <a:ext cx="5230368" cy="80467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069079"/>
            <a:ext cx="48646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A35D"/>
                </a:solidFill>
                <a:latin typeface="DejaVu Sans"/>
              </a:rPr>
              <a:t>I Cavalieri del Vuoto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43399"/>
            <a:ext cx="486460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Discendenti del primo regno di Kagen, tramandano l’odio per la magia arcana.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928616"/>
            <a:ext cx="5230368" cy="80467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10912"/>
            <a:ext cx="48646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79985"/>
                </a:solidFill>
                <a:latin typeface="DejaVu Sans"/>
              </a:rPr>
              <a:t>Le Sciarpe Verdi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285231"/>
            <a:ext cx="486460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Organizzazione secolare di spie e infiltratori.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928616"/>
            <a:ext cx="5230368" cy="80467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010912"/>
            <a:ext cx="48646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1A35D"/>
                </a:solidFill>
                <a:latin typeface="DejaVu Sans"/>
              </a:rPr>
              <a:t>Il Culto dei Gamall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85231"/>
            <a:ext cx="486460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7A9"/>
                </a:solidFill>
                <a:latin typeface="DejaVu Sans"/>
              </a:rPr>
              <a:t>Culto nomade degli Dei Antichi, in contrasto con il culto dei Nuovi Dei.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16  /  PANTHEON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I Nuovi Dei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Le divinità che hanno ridefinito fede e potere nel continente.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148840"/>
            <a:ext cx="10652760" cy="3977639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350008"/>
            <a:ext cx="101406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1A35D"/>
                </a:solidFill>
                <a:latin typeface="DejaVu Serif"/>
              </a:rPr>
              <a:t>Le divinità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62072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Astrid — </a:t>
            </a:r>
            <a:r>
              <a:rPr sz="1600">
                <a:solidFill>
                  <a:srgbClr val="B8B7A9"/>
                </a:solidFill>
                <a:latin typeface="DejaVu Sans"/>
              </a:rPr>
              <a:t>Dea del bene, della luce e della vita.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75660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Kelsie — </a:t>
            </a:r>
            <a:r>
              <a:rPr sz="1600">
                <a:solidFill>
                  <a:srgbClr val="B8B7A9"/>
                </a:solidFill>
                <a:latin typeface="DejaVu Sans"/>
              </a:rPr>
              <a:t>Dea della natura e degli elementi.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89247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Daven — </a:t>
            </a:r>
            <a:r>
              <a:rPr sz="1600">
                <a:solidFill>
                  <a:srgbClr val="B8B7A9"/>
                </a:solidFill>
                <a:latin typeface="DejaVu Sans"/>
              </a:rPr>
              <a:t>Dio della luna, delle ombre e dei sussurri.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02836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San Cuthberth — </a:t>
            </a:r>
            <a:r>
              <a:rPr sz="1600">
                <a:solidFill>
                  <a:srgbClr val="B8B7A9"/>
                </a:solidFill>
                <a:latin typeface="DejaVu Sans"/>
              </a:rPr>
              <a:t>Dio della legge.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916424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Brunilda — </a:t>
            </a:r>
            <a:r>
              <a:rPr sz="1600">
                <a:solidFill>
                  <a:srgbClr val="B8B7A9"/>
                </a:solidFill>
                <a:latin typeface="DejaVu Sans"/>
              </a:rPr>
              <a:t>Dea della morte.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430011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Grunilda — </a:t>
            </a:r>
            <a:r>
              <a:rPr sz="1600">
                <a:solidFill>
                  <a:srgbClr val="B8B7A9"/>
                </a:solidFill>
                <a:latin typeface="DejaVu Sans"/>
              </a:rPr>
              <a:t>Protettrice della natura e figlia di Kelsie.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16  /  PANTHEON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Gli Dei Antichi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Divinità di potere, conoscenza, magia e inganno.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148840"/>
            <a:ext cx="10652760" cy="3977639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350008"/>
            <a:ext cx="101406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79985"/>
                </a:solidFill>
                <a:latin typeface="DejaVu Serif"/>
              </a:rPr>
              <a:t>Le divinità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62072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Thor — </a:t>
            </a:r>
            <a:r>
              <a:rPr sz="1600">
                <a:solidFill>
                  <a:srgbClr val="B8B7A9"/>
                </a:solidFill>
                <a:latin typeface="DejaVu Sans"/>
              </a:rPr>
              <a:t>Dio dei fulmini e della guerra.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75660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Odino — </a:t>
            </a:r>
            <a:r>
              <a:rPr sz="1600">
                <a:solidFill>
                  <a:srgbClr val="B8B7A9"/>
                </a:solidFill>
                <a:latin typeface="DejaVu Sans"/>
              </a:rPr>
              <a:t>Padre degli Dei.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89247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Freya — </a:t>
            </a:r>
            <a:r>
              <a:rPr sz="1600">
                <a:solidFill>
                  <a:srgbClr val="B8B7A9"/>
                </a:solidFill>
                <a:latin typeface="DejaVu Sans"/>
              </a:rPr>
              <a:t>Dea della magia e protettrice di Midgard.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02836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Loki — </a:t>
            </a:r>
            <a:r>
              <a:rPr sz="1600">
                <a:solidFill>
                  <a:srgbClr val="B8B7A9"/>
                </a:solidFill>
                <a:latin typeface="DejaVu Sans"/>
              </a:rPr>
              <a:t>Dio delle malefatte e degli inganni.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916424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Hela — </a:t>
            </a:r>
            <a:r>
              <a:rPr sz="1600">
                <a:solidFill>
                  <a:srgbClr val="B8B7A9"/>
                </a:solidFill>
                <a:latin typeface="DejaVu Sans"/>
              </a:rPr>
              <a:t>Dea degli inferi e custode di Helheim.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430011"/>
            <a:ext cx="1010412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EBDD"/>
                </a:solidFill>
                <a:latin typeface="DejaVu Sans"/>
              </a:rPr>
              <a:t>Mimir — </a:t>
            </a:r>
            <a:r>
              <a:rPr sz="1600">
                <a:solidFill>
                  <a:srgbClr val="B8B7A9"/>
                </a:solidFill>
                <a:latin typeface="DejaVu Sans"/>
              </a:rPr>
              <a:t>Dio della conoscenza e degli artigiani.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16  /  PANTHEON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Custodi ed entità divine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Guardiani dei regni, emissari e capostormi dei draghi.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176272"/>
            <a:ext cx="5230368" cy="391363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1A35D"/>
                </a:solidFill>
                <a:latin typeface="DejaVu Serif"/>
              </a:rPr>
              <a:t>Custodi e 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2889504"/>
            <a:ext cx="468172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Heimdall — </a:t>
            </a:r>
            <a:r>
              <a:rPr sz="1300">
                <a:solidFill>
                  <a:srgbClr val="B8B7A9"/>
                </a:solidFill>
                <a:latin typeface="DejaVu Sans"/>
              </a:rPr>
              <a:t>Custode di Asgard.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7" y="3392424"/>
            <a:ext cx="468172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Jörmungandr — </a:t>
            </a:r>
            <a:r>
              <a:rPr sz="1300">
                <a:solidFill>
                  <a:srgbClr val="B8B7A9"/>
                </a:solidFill>
                <a:latin typeface="DejaVu Sans"/>
              </a:rPr>
              <a:t>Custode di Yggdrasil.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3895344"/>
            <a:ext cx="468172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Fenrir — </a:t>
            </a:r>
            <a:r>
              <a:rPr sz="1300">
                <a:solidFill>
                  <a:srgbClr val="B8B7A9"/>
                </a:solidFill>
                <a:latin typeface="DejaVu Sans"/>
              </a:rPr>
              <a:t>Figlio di Loki.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7" y="4398264"/>
            <a:ext cx="468172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Valchirie — </a:t>
            </a:r>
            <a:r>
              <a:rPr sz="1300">
                <a:solidFill>
                  <a:srgbClr val="B8B7A9"/>
                </a:solidFill>
                <a:latin typeface="DejaVu Sans"/>
              </a:rPr>
              <a:t>Custodi dei Nove Regni.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" y="4901184"/>
            <a:ext cx="468172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Surtr — </a:t>
            </a:r>
            <a:r>
              <a:rPr sz="1300">
                <a:solidFill>
                  <a:srgbClr val="B8B7A9"/>
                </a:solidFill>
                <a:latin typeface="DejaVu Sans"/>
              </a:rPr>
              <a:t>Guardiano di Muspelheim.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7" y="5404104"/>
            <a:ext cx="468172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Ragnar — </a:t>
            </a:r>
            <a:r>
              <a:rPr sz="1300">
                <a:solidFill>
                  <a:srgbClr val="B8B7A9"/>
                </a:solidFill>
                <a:latin typeface="DejaVu Sans"/>
              </a:rPr>
              <a:t>Berserker ed emissario degli Dei.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176272"/>
            <a:ext cx="5230368" cy="3913632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377440"/>
            <a:ext cx="47183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D7868"/>
                </a:solidFill>
                <a:latin typeface="DejaVu Serif"/>
              </a:rPr>
              <a:t>Capostormi dei draghi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89504"/>
            <a:ext cx="468172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Beledros — </a:t>
            </a:r>
            <a:r>
              <a:rPr sz="1300">
                <a:solidFill>
                  <a:srgbClr val="B8B7A9"/>
                </a:solidFill>
                <a:latin typeface="DejaVu Sans"/>
              </a:rPr>
              <a:t>Capostormo dei draghi verdi.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93008"/>
            <a:ext cx="468172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Ugin — </a:t>
            </a:r>
            <a:r>
              <a:rPr sz="1300">
                <a:solidFill>
                  <a:srgbClr val="B8B7A9"/>
                </a:solidFill>
                <a:latin typeface="DejaVu Sans"/>
              </a:rPr>
              <a:t>Capostormo dei draghi rossi.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96512"/>
            <a:ext cx="468172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Volt — </a:t>
            </a:r>
            <a:r>
              <a:rPr sz="1300">
                <a:solidFill>
                  <a:srgbClr val="B8B7A9"/>
                </a:solidFill>
                <a:latin typeface="DejaVu Sans"/>
              </a:rPr>
              <a:t>Capostormo dei draghi blu.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00016"/>
            <a:ext cx="468172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Drakonis — </a:t>
            </a:r>
            <a:r>
              <a:rPr sz="1300">
                <a:solidFill>
                  <a:srgbClr val="B8B7A9"/>
                </a:solidFill>
                <a:latin typeface="DejaVu Sans"/>
              </a:rPr>
              <a:t>Capostormo dei draghi neri.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303520"/>
            <a:ext cx="468172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EBDD"/>
                </a:solidFill>
                <a:latin typeface="DejaVu Sans"/>
              </a:rPr>
              <a:t>Glacius — </a:t>
            </a:r>
            <a:r>
              <a:rPr sz="1300">
                <a:solidFill>
                  <a:srgbClr val="B8B7A9"/>
                </a:solidFill>
                <a:latin typeface="DejaVu Sans"/>
              </a:rPr>
              <a:t>Capostormo dei draghi bianchi.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17  /  ALL’AVVENTURA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Le grandi potenze tremano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Il continente ha conosciuto un fragile equilibrio. Ora qualcosa sta cambiando.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212848"/>
            <a:ext cx="5230368" cy="192024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395728"/>
            <a:ext cx="50292" cy="15544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395728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Un mondo trasformato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935224"/>
            <a:ext cx="4608576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8B7A9"/>
                </a:solidFill>
                <a:latin typeface="DejaVu Sans"/>
              </a:rPr>
              <a:t>Imperi sono caduti, regni sono rinati e gli uomini hanno imparato a convivere con ciò che non potevano comprendere.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12848"/>
            <a:ext cx="5230368" cy="1920240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2395728"/>
            <a:ext cx="50292" cy="15544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95728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EBDD"/>
                </a:solidFill>
                <a:latin typeface="DejaVu Serif"/>
              </a:rPr>
              <a:t>Le voci di rivolta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35224"/>
            <a:ext cx="4608576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8B7A9"/>
                </a:solidFill>
                <a:latin typeface="DejaVu Sans"/>
              </a:rPr>
              <a:t>Nelle città si parla sempre più insistentemente di una rivolta contro la Regina Nera. Gli intrighi crescono e ogni scelta potrebbe spezzare l’equilibrio e portare a una nuova guerra.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D1A35D"/>
                </a:solidFill>
                <a:latin typeface="DejaVu Serif"/>
              </a:rPr>
              <a:t>Persino gli Dei hanno iniziato a scegliere da che parte stare.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10195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3EBDD"/>
                </a:solidFill>
                <a:latin typeface="DejaVu Serif"/>
              </a:rPr>
              <a:t>E voi siete nel mezzo di tutto questo.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961888"/>
            <a:ext cx="10195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>
                <a:solidFill>
                  <a:srgbClr val="B8B7A9"/>
                </a:solidFill>
                <a:latin typeface="DejaVu Sans"/>
              </a:rPr>
              <a:t>Il punto di partenza sarà scelto durante la Sessione 0; l’avventura inizierà con un’introduzione comune a tutti i personaggi.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17  /  ALL’AVVENTURA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Un incarico semplice. Almeno, così sembra.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Siete le Scaglie d’Ossa, una nuova gilda di mercenari.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194560"/>
            <a:ext cx="5230368" cy="1481328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377440"/>
            <a:ext cx="50292" cy="1115568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37744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Qualsiasi incarico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916936"/>
            <a:ext cx="4608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Scortare una persona importante, trasportare informazioni, proteggere una spedizione.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94560"/>
            <a:ext cx="5230368" cy="1481328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2377440"/>
            <a:ext cx="50292" cy="1115568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7744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Un culto dimenticato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16936"/>
            <a:ext cx="4608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Nelle ombre è tornato a camminare un antico culto: Vördkyn, “I Custodi dell’Ultima Voce”.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977639"/>
            <a:ext cx="5230368" cy="1481328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160520"/>
            <a:ext cx="50292" cy="1115568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16052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Yldra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700016"/>
            <a:ext cx="4608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A guidare Vördkyn è un’antica Valchiria, consumata dal desiderio di vendetta contro i Nuovi Dei.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77639"/>
            <a:ext cx="5230368" cy="1481328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82512" y="4160520"/>
            <a:ext cx="50292" cy="1115568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160520"/>
            <a:ext cx="46085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EBDD"/>
                </a:solidFill>
                <a:latin typeface="DejaVu Serif"/>
              </a:rPr>
              <a:t>La natura si ribella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00016"/>
            <a:ext cx="46085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La vita muore in alcune regioni; la terra odora di putrefazione, le fiamme si spengono in braci nere, l’acqua corrompe e l’aria diventa irrespirabile.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931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1A35D"/>
                </a:solidFill>
                <a:latin typeface="DejaVu Sans"/>
              </a:rPr>
              <a:t>17  /  ALL’AVVENTURA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BDD"/>
                </a:solidFill>
                <a:latin typeface="DejaVu Serif"/>
              </a:rPr>
              <a:t>Valakit, il figlio maledetto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7A9"/>
                </a:solidFill>
                <a:latin typeface="DejaVu Sans"/>
              </a:rPr>
              <a:t>Un nome torna a essere sussurrato nelle taverne e nei vicoli.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938528"/>
            <a:ext cx="10863072" cy="0"/>
          </a:xfrm>
          <a:prstGeom prst="line">
            <a:avLst/>
          </a:prstGeom>
          <a:ln w="1016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3B4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6656" y="6528816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8B7A9"/>
                </a:solidFill>
                <a:latin typeface="DejaVu Sans"/>
              </a:rPr>
              <a:t>SKARHEIM  /  L'EREDITÀ DI DAVEN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1A35D"/>
                </a:solidFill>
                <a:latin typeface="DejaVu Sans"/>
              </a:rPr>
              <a:t>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12848"/>
            <a:ext cx="10561320" cy="1874519"/>
          </a:xfrm>
          <a:prstGeom prst="roundRect">
            <a:avLst/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542032"/>
            <a:ext cx="9921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EBDD"/>
                </a:solidFill>
                <a:latin typeface="DejaVu Serif"/>
              </a:rPr>
              <a:t>Nato dall’incesto tra divinità, il suo potere a lungo sopito sembra finalmente risvegliarsi.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37560"/>
            <a:ext cx="9921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Nessuno sa cosa accadrà quando aprirà completamente gli occhi.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1655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1A35D"/>
                </a:solidFill>
                <a:latin typeface="DejaVu Serif"/>
              </a:rPr>
              <a:t>Il mondo sta cambiando. E le Scaglie d’Ossa ne faranno parte.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10912"/>
            <a:ext cx="10149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B7A9"/>
                </a:solidFill>
                <a:latin typeface="DejaVu Sans"/>
              </a:rPr>
              <a:t>Il lavoro è pericoloso. La paga è misera. Ma questo… lo sapevate già.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77840"/>
            <a:ext cx="101498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3EBDD"/>
                </a:solidFill>
                <a:latin typeface="DejaVu Serif"/>
              </a:rPr>
              <a:t>Che la fortuna vi assista.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694176"/>
            <a:ext cx="9921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F3EBDD"/>
                </a:solidFill>
                <a:latin typeface="DejaVu Sans"/>
              </a:rPr>
              <a:t>Nessuno sa quali Dei saranno ancora in piedi quando lo farà.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LibreOffice/7.4.7.2$Windows_X86_64 LibreOffice_project/723314e595e8007d3cf785c16538505a1c878ca5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2026-10-15T12:35:11Z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