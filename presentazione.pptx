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B5FF3C-425E-46E1-A490-43316528AFE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AA39E4A-BAC3-4155-B68D-7A01455E6A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BB157E-2352-4582-A6B2-FD92C40922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A46B16C-3563-467F-9934-B5177FA758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763BDB-5223-47C4-9862-48FD79CC88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8E1781-0620-4B18-94C1-38F3653EFD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E28F5E-F55C-4CB3-BF78-65847AA74C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5BFC60-A28D-4116-9313-B601A06EAC2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8D89DC2-2393-4A5F-A0B4-8E8582D018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6FE3CD-E983-48D0-A404-AE6ACA7096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4EE982-4245-4568-A786-497CEA3E5CA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EC785A-7363-474D-830B-A210C0A51D9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it-I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it-I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it-IT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it-I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5F101F-D329-4B47-B2DC-9C0940855F1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it-IT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7772400" y="0"/>
            <a:ext cx="4419000" cy="6857640"/>
          </a:xfrm>
          <a:prstGeom prst="rect">
            <a:avLst/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42" name="Connector 2"/>
          <p:cNvCxnSpPr/>
          <p:nvPr/>
        </p:nvCxnSpPr>
        <p:spPr>
          <a:xfrm>
            <a:off x="731520" y="658080"/>
            <a:ext cx="10653120" cy="360"/>
          </a:xfrm>
          <a:prstGeom prst="straightConnector1">
            <a:avLst/>
          </a:prstGeom>
          <a:ln w="11430">
            <a:solidFill>
              <a:srgbClr val="3b4a4c"/>
            </a:solidFill>
            <a:round/>
          </a:ln>
        </p:spPr>
      </p:cxnSp>
      <p:cxnSp>
        <p:nvCxnSpPr>
          <p:cNvPr id="43" name="Connector 3"/>
          <p:cNvCxnSpPr/>
          <p:nvPr/>
        </p:nvCxnSpPr>
        <p:spPr>
          <a:xfrm>
            <a:off x="731520" y="6217920"/>
            <a:ext cx="10653120" cy="360"/>
          </a:xfrm>
          <a:prstGeom prst="straightConnector1">
            <a:avLst/>
          </a:prstGeom>
          <a:ln w="11430">
            <a:solidFill>
              <a:srgbClr val="3b4a4c"/>
            </a:solidFill>
            <a:round/>
          </a:ln>
        </p:spPr>
      </p:cxnSp>
      <p:sp>
        <p:nvSpPr>
          <p:cNvPr id="44" name="TextBox 4"/>
          <p:cNvSpPr/>
          <p:nvPr/>
        </p:nvSpPr>
        <p:spPr>
          <a:xfrm>
            <a:off x="804600" y="987480"/>
            <a:ext cx="621756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UN'AVVENTURA DI RUOLO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Box 5"/>
          <p:cNvSpPr/>
          <p:nvPr/>
        </p:nvSpPr>
        <p:spPr>
          <a:xfrm>
            <a:off x="749880" y="1572840"/>
            <a:ext cx="7040520" cy="70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4600" spc="-1" strike="noStrike">
                <a:solidFill>
                  <a:srgbClr val="f3ebdd"/>
                </a:solidFill>
                <a:latin typeface="DejaVu Serif"/>
              </a:rPr>
              <a:t>SKARHEIM</a:t>
            </a:r>
            <a:endParaRPr b="0" lang="it-IT" sz="46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6" name="Connector 6"/>
          <p:cNvCxnSpPr/>
          <p:nvPr/>
        </p:nvCxnSpPr>
        <p:spPr>
          <a:xfrm>
            <a:off x="822960" y="2953440"/>
            <a:ext cx="4846680" cy="360"/>
          </a:xfrm>
          <a:prstGeom prst="straightConnector1">
            <a:avLst/>
          </a:prstGeom>
          <a:ln w="17780">
            <a:solidFill>
              <a:srgbClr val="d1a35d"/>
            </a:solidFill>
            <a:round/>
          </a:ln>
        </p:spPr>
      </p:cxnSp>
      <p:sp>
        <p:nvSpPr>
          <p:cNvPr id="47" name="TextBox 7"/>
          <p:cNvSpPr/>
          <p:nvPr/>
        </p:nvSpPr>
        <p:spPr>
          <a:xfrm>
            <a:off x="804600" y="3200400"/>
            <a:ext cx="658332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L'Eredità di Daven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831960" y="4069080"/>
            <a:ext cx="603468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700" spc="-1" strike="noStrike">
                <a:solidFill>
                  <a:srgbClr val="b8b7a9"/>
                </a:solidFill>
                <a:latin typeface="DejaVu Sans"/>
              </a:rPr>
              <a:t>Le vostre scelte. Un mondo vivo.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700" spc="-1" strike="noStrike">
                <a:solidFill>
                  <a:srgbClr val="b8b7a9"/>
                </a:solidFill>
                <a:latin typeface="DejaVu Sans"/>
              </a:rPr>
              <a:t>Una storia ancora da scrivere.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Rounded Rectangle 9"/>
          <p:cNvSpPr/>
          <p:nvPr/>
        </p:nvSpPr>
        <p:spPr>
          <a:xfrm>
            <a:off x="822960" y="5257800"/>
            <a:ext cx="1298160" cy="38376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" name="TextBox 10"/>
          <p:cNvSpPr/>
          <p:nvPr/>
        </p:nvSpPr>
        <p:spPr>
          <a:xfrm>
            <a:off x="877680" y="5355000"/>
            <a:ext cx="1188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879985"/>
                </a:solidFill>
                <a:latin typeface="DejaVu Sans"/>
              </a:rPr>
              <a:t>FANTASY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Rounded Rectangle 11"/>
          <p:cNvSpPr/>
          <p:nvPr/>
        </p:nvSpPr>
        <p:spPr>
          <a:xfrm>
            <a:off x="2240280" y="5257800"/>
            <a:ext cx="1188360" cy="38376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" name="TextBox 12"/>
          <p:cNvSpPr/>
          <p:nvPr/>
        </p:nvSpPr>
        <p:spPr>
          <a:xfrm>
            <a:off x="2295000" y="5355000"/>
            <a:ext cx="1078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SURVIVAL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Rounded Rectangle 13"/>
          <p:cNvSpPr/>
          <p:nvPr/>
        </p:nvSpPr>
        <p:spPr>
          <a:xfrm>
            <a:off x="3547800" y="5257800"/>
            <a:ext cx="1142640" cy="38376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" name="TextBox 14"/>
          <p:cNvSpPr/>
          <p:nvPr/>
        </p:nvSpPr>
        <p:spPr>
          <a:xfrm>
            <a:off x="3602880" y="5355000"/>
            <a:ext cx="103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bd7868"/>
                </a:solidFill>
                <a:latin typeface="DejaVu Sans"/>
              </a:rPr>
              <a:t>INTRIGHI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Oval 15"/>
          <p:cNvSpPr/>
          <p:nvPr/>
        </p:nvSpPr>
        <p:spPr>
          <a:xfrm>
            <a:off x="8266320" y="1801440"/>
            <a:ext cx="2523240" cy="2523240"/>
          </a:xfrm>
          <a:prstGeom prst="ellipse">
            <a:avLst/>
          </a:prstGeom>
          <a:noFill/>
          <a:ln w="17780">
            <a:solidFill>
              <a:srgbClr val="d1a35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cxnSp>
        <p:nvCxnSpPr>
          <p:cNvPr id="56" name="Connector 16"/>
          <p:cNvCxnSpPr/>
          <p:nvPr/>
        </p:nvCxnSpPr>
        <p:spPr>
          <a:xfrm>
            <a:off x="10881360" y="3063240"/>
            <a:ext cx="155520" cy="3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57" name="Connector 17"/>
          <p:cNvCxnSpPr/>
          <p:nvPr/>
        </p:nvCxnSpPr>
        <p:spPr>
          <a:xfrm>
            <a:off x="10484640" y="4020120"/>
            <a:ext cx="110520" cy="1101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58" name="Connector 18"/>
          <p:cNvCxnSpPr/>
          <p:nvPr/>
        </p:nvCxnSpPr>
        <p:spPr>
          <a:xfrm>
            <a:off x="9527760" y="4416480"/>
            <a:ext cx="360" cy="15588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59" name="Connector 19"/>
          <p:cNvCxnSpPr/>
          <p:nvPr/>
        </p:nvCxnSpPr>
        <p:spPr>
          <a:xfrm flipH="1">
            <a:off x="8461080" y="4020120"/>
            <a:ext cx="110160" cy="1101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60" name="Connector 20"/>
          <p:cNvCxnSpPr/>
          <p:nvPr/>
        </p:nvCxnSpPr>
        <p:spPr>
          <a:xfrm flipH="1">
            <a:off x="8019000" y="3063240"/>
            <a:ext cx="155880" cy="3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61" name="Connector 21"/>
          <p:cNvCxnSpPr/>
          <p:nvPr/>
        </p:nvCxnSpPr>
        <p:spPr>
          <a:xfrm flipH="1" flipV="1">
            <a:off x="8461080" y="1996200"/>
            <a:ext cx="110160" cy="1101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62" name="Connector 22"/>
          <p:cNvCxnSpPr/>
          <p:nvPr/>
        </p:nvCxnSpPr>
        <p:spPr>
          <a:xfrm flipV="1">
            <a:off x="9527760" y="1554480"/>
            <a:ext cx="360" cy="15552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63" name="Connector 23"/>
          <p:cNvCxnSpPr/>
          <p:nvPr/>
        </p:nvCxnSpPr>
        <p:spPr>
          <a:xfrm flipV="1">
            <a:off x="10484640" y="1996200"/>
            <a:ext cx="110520" cy="110160"/>
          </a:xfrm>
          <a:prstGeom prst="straightConnector1">
            <a:avLst/>
          </a:prstGeom>
          <a:ln w="13970">
            <a:solidFill>
              <a:srgbClr val="d1a35d"/>
            </a:solidFill>
            <a:round/>
          </a:ln>
        </p:spPr>
      </p:cxnSp>
      <p:cxnSp>
        <p:nvCxnSpPr>
          <p:cNvPr id="64" name="Connector 24"/>
          <p:cNvCxnSpPr/>
          <p:nvPr/>
        </p:nvCxnSpPr>
        <p:spPr>
          <a:xfrm>
            <a:off x="9527760" y="2185200"/>
            <a:ext cx="360" cy="1756080"/>
          </a:xfrm>
          <a:prstGeom prst="straightConnector1">
            <a:avLst/>
          </a:prstGeom>
          <a:ln w="10160">
            <a:solidFill>
              <a:srgbClr val="7f8c7c"/>
            </a:solidFill>
            <a:round/>
          </a:ln>
        </p:spPr>
      </p:cxnSp>
      <p:cxnSp>
        <p:nvCxnSpPr>
          <p:cNvPr id="65" name="Connector 25"/>
          <p:cNvCxnSpPr/>
          <p:nvPr/>
        </p:nvCxnSpPr>
        <p:spPr>
          <a:xfrm>
            <a:off x="8650080" y="3063240"/>
            <a:ext cx="1756080" cy="360"/>
          </a:xfrm>
          <a:prstGeom prst="straightConnector1">
            <a:avLst/>
          </a:prstGeom>
          <a:ln w="10160">
            <a:solidFill>
              <a:srgbClr val="7f8c7c"/>
            </a:solidFill>
            <a:round/>
          </a:ln>
        </p:spPr>
      </p:cxnSp>
      <p:cxnSp>
        <p:nvCxnSpPr>
          <p:cNvPr id="66" name="Connector 26"/>
          <p:cNvCxnSpPr/>
          <p:nvPr/>
        </p:nvCxnSpPr>
        <p:spPr>
          <a:xfrm flipV="1">
            <a:off x="8814600" y="2788920"/>
            <a:ext cx="512640" cy="713520"/>
          </a:xfrm>
          <a:prstGeom prst="straightConnector1">
            <a:avLst/>
          </a:prstGeom>
          <a:ln>
            <a:solidFill>
              <a:srgbClr val="d1a35d"/>
            </a:solidFill>
            <a:round/>
          </a:ln>
        </p:spPr>
      </p:cxnSp>
      <p:cxnSp>
        <p:nvCxnSpPr>
          <p:cNvPr id="67" name="Connector 27"/>
          <p:cNvCxnSpPr/>
          <p:nvPr/>
        </p:nvCxnSpPr>
        <p:spPr>
          <a:xfrm>
            <a:off x="9326880" y="2788920"/>
            <a:ext cx="366120" cy="384120"/>
          </a:xfrm>
          <a:prstGeom prst="straightConnector1">
            <a:avLst/>
          </a:prstGeom>
          <a:ln>
            <a:solidFill>
              <a:srgbClr val="d1a35d"/>
            </a:solidFill>
            <a:round/>
          </a:ln>
        </p:spPr>
      </p:cxnSp>
      <p:cxnSp>
        <p:nvCxnSpPr>
          <p:cNvPr id="68" name="Connector 28"/>
          <p:cNvCxnSpPr/>
          <p:nvPr/>
        </p:nvCxnSpPr>
        <p:spPr>
          <a:xfrm flipV="1">
            <a:off x="9692640" y="2532600"/>
            <a:ext cx="439200" cy="640440"/>
          </a:xfrm>
          <a:prstGeom prst="straightConnector1">
            <a:avLst/>
          </a:prstGeom>
          <a:ln>
            <a:solidFill>
              <a:srgbClr val="d1a35d"/>
            </a:solidFill>
            <a:round/>
          </a:ln>
        </p:spPr>
      </p:cxnSp>
      <p:cxnSp>
        <p:nvCxnSpPr>
          <p:cNvPr id="69" name="Connector 29"/>
          <p:cNvCxnSpPr/>
          <p:nvPr/>
        </p:nvCxnSpPr>
        <p:spPr>
          <a:xfrm>
            <a:off x="10131480" y="2532600"/>
            <a:ext cx="146520" cy="969840"/>
          </a:xfrm>
          <a:prstGeom prst="straightConnector1">
            <a:avLst/>
          </a:prstGeom>
          <a:ln>
            <a:solidFill>
              <a:srgbClr val="d1a35d"/>
            </a:solidFill>
            <a:round/>
          </a:ln>
        </p:spPr>
      </p:cxnSp>
      <p:sp>
        <p:nvSpPr>
          <p:cNvPr id="70" name="TextBox 30"/>
          <p:cNvSpPr/>
          <p:nvPr/>
        </p:nvSpPr>
        <p:spPr>
          <a:xfrm>
            <a:off x="7863840" y="4827960"/>
            <a:ext cx="3337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IL MONDO REAGISCE.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31"/>
          <p:cNvSpPr/>
          <p:nvPr/>
        </p:nvSpPr>
        <p:spPr>
          <a:xfrm>
            <a:off x="822960" y="6437520"/>
            <a:ext cx="64004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PRESENTAZIONE DELLA CAMPAGNA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01  /  LA CAMPAGNA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Una storia di scelte e conseguenze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L'Eredità di Daven si svolge nel mondo di Skarheim, tra mito, rischio e politica.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5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76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77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02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Rounded Rectangle 8"/>
          <p:cNvSpPr/>
          <p:nvPr/>
        </p:nvSpPr>
        <p:spPr>
          <a:xfrm>
            <a:off x="713160" y="2212920"/>
            <a:ext cx="3456000" cy="185580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9"/>
          <p:cNvSpPr/>
          <p:nvPr/>
        </p:nvSpPr>
        <p:spPr>
          <a:xfrm>
            <a:off x="877680" y="2432160"/>
            <a:ext cx="50040" cy="141696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1078920" y="2441520"/>
            <a:ext cx="2834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f3ebdd"/>
                </a:solidFill>
                <a:latin typeface="DejaVu Serif"/>
              </a:rPr>
              <a:t>Fantasy medievale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11"/>
          <p:cNvSpPr/>
          <p:nvPr/>
        </p:nvSpPr>
        <p:spPr>
          <a:xfrm>
            <a:off x="1078920" y="30175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Un mondo originale ispirato all'immaginario e alle leggende norrene.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Rounded Rectangle 12"/>
          <p:cNvSpPr/>
          <p:nvPr/>
        </p:nvSpPr>
        <p:spPr>
          <a:xfrm>
            <a:off x="4370760" y="2212920"/>
            <a:ext cx="3456000" cy="185580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ectangle 13"/>
          <p:cNvSpPr/>
          <p:nvPr/>
        </p:nvSpPr>
        <p:spPr>
          <a:xfrm>
            <a:off x="4535280" y="2432160"/>
            <a:ext cx="50040" cy="141696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14"/>
          <p:cNvSpPr/>
          <p:nvPr/>
        </p:nvSpPr>
        <p:spPr>
          <a:xfrm>
            <a:off x="4736520" y="2441520"/>
            <a:ext cx="2834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f3ebdd"/>
                </a:solidFill>
                <a:latin typeface="DejaVu Serif"/>
              </a:rPr>
              <a:t>Ombre e sopravvivenza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4736520" y="30175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Horror, risorse da gestire e decisioni che possono avere un costo.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Rounded Rectangle 16"/>
          <p:cNvSpPr/>
          <p:nvPr/>
        </p:nvSpPr>
        <p:spPr>
          <a:xfrm>
            <a:off x="8028360" y="2212920"/>
            <a:ext cx="3456000" cy="185580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17"/>
          <p:cNvSpPr/>
          <p:nvPr/>
        </p:nvSpPr>
        <p:spPr>
          <a:xfrm>
            <a:off x="8192880" y="2432160"/>
            <a:ext cx="50040" cy="141696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18"/>
          <p:cNvSpPr/>
          <p:nvPr/>
        </p:nvSpPr>
        <p:spPr>
          <a:xfrm>
            <a:off x="8394120" y="2441520"/>
            <a:ext cx="2834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f3ebdd"/>
                </a:solidFill>
                <a:latin typeface="DejaVu Serif"/>
              </a:rPr>
              <a:t>Intrighi e libertà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19"/>
          <p:cNvSpPr/>
          <p:nvPr/>
        </p:nvSpPr>
        <p:spPr>
          <a:xfrm>
            <a:off x="8394120" y="30175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Le scelte dei personaggi guidano la trama e ne determinano gli sviluppi.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20"/>
          <p:cNvSpPr/>
          <p:nvPr/>
        </p:nvSpPr>
        <p:spPr>
          <a:xfrm>
            <a:off x="960120" y="4880520"/>
            <a:ext cx="10240920" cy="3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3ebdd"/>
                </a:solidFill>
                <a:latin typeface="DejaVu Serif"/>
              </a:rPr>
              <a:t>Non siete qui per seguire una trama già scritta: siete qui per darle forma.</a:t>
            </a:r>
            <a:endParaRPr b="0" lang="it-IT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02  /  PRIMA DI INIZIARE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Temi e tono della campagna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La campagna affronta contenuti che potrebbero risultare intensi o delicati.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95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96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97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03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Rounded Rectangle 8"/>
          <p:cNvSpPr/>
          <p:nvPr/>
        </p:nvSpPr>
        <p:spPr>
          <a:xfrm>
            <a:off x="731520" y="2176200"/>
            <a:ext cx="3977280" cy="3401280"/>
          </a:xfrm>
          <a:prstGeom prst="roundRect">
            <a:avLst>
              <a:gd name="adj" fmla="val 16667"/>
            </a:avLst>
          </a:prstGeom>
          <a:solidFill>
            <a:srgbClr val="332a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9"/>
          <p:cNvSpPr/>
          <p:nvPr/>
        </p:nvSpPr>
        <p:spPr>
          <a:xfrm>
            <a:off x="1051560" y="2487240"/>
            <a:ext cx="33829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bd7868"/>
                </a:solidFill>
                <a:latin typeface="DejaVu Sans"/>
              </a:rPr>
              <a:t>AVVISO CONTENUTI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1051560" y="3035880"/>
            <a:ext cx="3291480" cy="10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3ebdd"/>
                </a:solidFill>
                <a:latin typeface="DejaVu Serif"/>
              </a:rPr>
              <a:t>Violenza fisica, mentale, sessuale e verbale; horror; intrighi politici; situazioni moralmente complesse.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Box 11"/>
          <p:cNvSpPr/>
          <p:nvPr/>
        </p:nvSpPr>
        <p:spPr>
          <a:xfrm>
            <a:off x="5166360" y="2331720"/>
            <a:ext cx="61718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UNA STORIA SENZA RISPOSTE SEMPLICI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Box 12"/>
          <p:cNvSpPr/>
          <p:nvPr/>
        </p:nvSpPr>
        <p:spPr>
          <a:xfrm>
            <a:off x="5166360" y="2853000"/>
            <a:ext cx="6171840" cy="82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3ebdd"/>
                </a:solidFill>
                <a:latin typeface="DejaVu Serif"/>
              </a:rPr>
              <a:t>Le decisioni potrebbero non avere una soluzione giusta o sbagliata e le conseguenze non saranno sempre prevedibili.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4" name="Connector 13"/>
          <p:cNvCxnSpPr/>
          <p:nvPr/>
        </p:nvCxnSpPr>
        <p:spPr>
          <a:xfrm>
            <a:off x="5166360" y="4279320"/>
            <a:ext cx="5989680" cy="360"/>
          </a:xfrm>
          <a:prstGeom prst="straightConnector1">
            <a:avLst/>
          </a:prstGeom>
          <a:ln w="11430">
            <a:solidFill>
              <a:srgbClr val="3b4a4c"/>
            </a:solidFill>
            <a:round/>
          </a:ln>
        </p:spPr>
      </p:cxnSp>
      <p:sp>
        <p:nvSpPr>
          <p:cNvPr id="105" name="TextBox 14"/>
          <p:cNvSpPr/>
          <p:nvPr/>
        </p:nvSpPr>
        <p:spPr>
          <a:xfrm>
            <a:off x="5166360" y="4599360"/>
            <a:ext cx="59889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Il fantasy medievale è personalizzato per il tema della campagna, insieme a elementi survival e gestionali.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03  /  AL TAVOLO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Rispetto e spazio per tutti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Regole semplici per proteggere l'esperienza condivisa.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9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110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111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04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Rounded Rectangle 8"/>
          <p:cNvSpPr/>
          <p:nvPr/>
        </p:nvSpPr>
        <p:spPr>
          <a:xfrm>
            <a:off x="7315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9"/>
          <p:cNvSpPr/>
          <p:nvPr/>
        </p:nvSpPr>
        <p:spPr>
          <a:xfrm>
            <a:off x="896040" y="239580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10972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Rispetto durante il roleplay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10972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Non schernire né deridere chi interpreta o interagisce con il mondo.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62179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13"/>
          <p:cNvSpPr/>
          <p:nvPr/>
        </p:nvSpPr>
        <p:spPr>
          <a:xfrm>
            <a:off x="6382440" y="239580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65836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Ascoltare senza interrompere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65836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Aspetta che il master o gli altri giocatori concludano la descrizione o l'interazione.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Rounded Rectangle 16"/>
          <p:cNvSpPr/>
          <p:nvPr/>
        </p:nvSpPr>
        <p:spPr>
          <a:xfrm>
            <a:off x="7315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Rectangle 17"/>
          <p:cNvSpPr/>
          <p:nvPr/>
        </p:nvSpPr>
        <p:spPr>
          <a:xfrm>
            <a:off x="896040" y="398664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18"/>
          <p:cNvSpPr/>
          <p:nvPr/>
        </p:nvSpPr>
        <p:spPr>
          <a:xfrm>
            <a:off x="10972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Partecipazione per tutti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19"/>
          <p:cNvSpPr/>
          <p:nvPr/>
        </p:nvSpPr>
        <p:spPr>
          <a:xfrm>
            <a:off x="10972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Alza la mano se vuoi intervenire senza interrompere: il master ti darà spazio.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Rounded Rectangle 20"/>
          <p:cNvSpPr/>
          <p:nvPr/>
        </p:nvSpPr>
        <p:spPr>
          <a:xfrm>
            <a:off x="62179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Rectangle 21"/>
          <p:cNvSpPr/>
          <p:nvPr/>
        </p:nvSpPr>
        <p:spPr>
          <a:xfrm>
            <a:off x="6382440" y="398664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22"/>
          <p:cNvSpPr/>
          <p:nvPr/>
        </p:nvSpPr>
        <p:spPr>
          <a:xfrm>
            <a:off x="65836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Scherzare, senza rovinare la scena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23"/>
          <p:cNvSpPr/>
          <p:nvPr/>
        </p:nvSpPr>
        <p:spPr>
          <a:xfrm>
            <a:off x="65836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Le battute sono benvenute, finché non compromettono la sessione o il divertimento altrui.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03  /  AL TAVOLO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Fiducia, salute e correttezza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La collaborazione viene prima della competizione tra giocatori.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32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133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134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05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Rounded Rectangle 8"/>
          <p:cNvSpPr/>
          <p:nvPr/>
        </p:nvSpPr>
        <p:spPr>
          <a:xfrm>
            <a:off x="7315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9"/>
          <p:cNvSpPr/>
          <p:nvPr/>
        </p:nvSpPr>
        <p:spPr>
          <a:xfrm>
            <a:off x="896040" y="239580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0"/>
          <p:cNvSpPr/>
          <p:nvPr/>
        </p:nvSpPr>
        <p:spPr>
          <a:xfrm>
            <a:off x="10972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Dubbi e decisioni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11"/>
          <p:cNvSpPr/>
          <p:nvPr/>
        </p:nvSpPr>
        <p:spPr>
          <a:xfrm>
            <a:off x="10972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Per regole e situazioni, chiedi al master: a lui spettano approvazioni, interpretazioni e veti.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12"/>
          <p:cNvSpPr/>
          <p:nvPr/>
        </p:nvSpPr>
        <p:spPr>
          <a:xfrm>
            <a:off x="62179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Rectangle 13"/>
          <p:cNvSpPr/>
          <p:nvPr/>
        </p:nvSpPr>
        <p:spPr>
          <a:xfrm>
            <a:off x="6382440" y="239580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4"/>
          <p:cNvSpPr/>
          <p:nvPr/>
        </p:nvSpPr>
        <p:spPr>
          <a:xfrm>
            <a:off x="65836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Rispetto delle decisioni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Box 15"/>
          <p:cNvSpPr/>
          <p:nvPr/>
        </p:nvSpPr>
        <p:spPr>
          <a:xfrm>
            <a:off x="65836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Le decisioni del master vanno rispettate, anche quando non coincidono con le aspettative.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ounded Rectangle 16"/>
          <p:cNvSpPr/>
          <p:nvPr/>
        </p:nvSpPr>
        <p:spPr>
          <a:xfrm>
            <a:off x="7315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7"/>
          <p:cNvSpPr/>
          <p:nvPr/>
        </p:nvSpPr>
        <p:spPr>
          <a:xfrm>
            <a:off x="896040" y="3986640"/>
            <a:ext cx="50040" cy="91404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8"/>
          <p:cNvSpPr/>
          <p:nvPr/>
        </p:nvSpPr>
        <p:spPr>
          <a:xfrm>
            <a:off x="10972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La vita privata viene prima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19"/>
          <p:cNvSpPr/>
          <p:nvPr/>
        </p:nvSpPr>
        <p:spPr>
          <a:xfrm>
            <a:off x="10972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Se ti ammali, dai priorità alla salute e alla guarigione. Il gioco può aspettare.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Rounded Rectangle 20"/>
          <p:cNvSpPr/>
          <p:nvPr/>
        </p:nvSpPr>
        <p:spPr>
          <a:xfrm>
            <a:off x="62179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Rectangle 21"/>
          <p:cNvSpPr/>
          <p:nvPr/>
        </p:nvSpPr>
        <p:spPr>
          <a:xfrm>
            <a:off x="6382440" y="3986640"/>
            <a:ext cx="50040" cy="91404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22"/>
          <p:cNvSpPr/>
          <p:nvPr/>
        </p:nvSpPr>
        <p:spPr>
          <a:xfrm>
            <a:off x="65836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Tiri di dado trasparenti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23"/>
          <p:cNvSpPr/>
          <p:nvPr/>
        </p:nvSpPr>
        <p:spPr>
          <a:xfrm>
            <a:off x="65836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È vietato falsificare, alterare o modificare il risultato di un tiro.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04  /  I GIOCATORI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Il personaggio è più della scheda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passato e le scelte dei personaggi avranno un peso nella storia.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55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156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157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06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Rounded Rectangle 8"/>
          <p:cNvSpPr/>
          <p:nvPr/>
        </p:nvSpPr>
        <p:spPr>
          <a:xfrm>
            <a:off x="7315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ectangle 9"/>
          <p:cNvSpPr/>
          <p:nvPr/>
        </p:nvSpPr>
        <p:spPr>
          <a:xfrm>
            <a:off x="896040" y="239580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10"/>
          <p:cNvSpPr/>
          <p:nvPr/>
        </p:nvSpPr>
        <p:spPr>
          <a:xfrm>
            <a:off x="10972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Le vostre azioni muovono la trama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1"/>
          <p:cNvSpPr/>
          <p:nvPr/>
        </p:nvSpPr>
        <p:spPr>
          <a:xfrm>
            <a:off x="10972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Le decisioni dei giocatori influenzeranno in larga parte lo sviluppo della campagna.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Rounded Rectangle 12"/>
          <p:cNvSpPr/>
          <p:nvPr/>
        </p:nvSpPr>
        <p:spPr>
          <a:xfrm>
            <a:off x="62179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Rectangle 13"/>
          <p:cNvSpPr/>
          <p:nvPr/>
        </p:nvSpPr>
        <p:spPr>
          <a:xfrm>
            <a:off x="6382440" y="239580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14"/>
          <p:cNvSpPr/>
          <p:nvPr/>
        </p:nvSpPr>
        <p:spPr>
          <a:xfrm>
            <a:off x="65836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Interpretare è al centro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15"/>
          <p:cNvSpPr/>
          <p:nvPr/>
        </p:nvSpPr>
        <p:spPr>
          <a:xfrm>
            <a:off x="65836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gioco di ruolo è incoraggiato. Le statistiche sono linee guida, non l'unico modo di leggere il personaggio.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Rounded Rectangle 16"/>
          <p:cNvSpPr/>
          <p:nvPr/>
        </p:nvSpPr>
        <p:spPr>
          <a:xfrm>
            <a:off x="7315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17"/>
          <p:cNvSpPr/>
          <p:nvPr/>
        </p:nvSpPr>
        <p:spPr>
          <a:xfrm>
            <a:off x="896040" y="398664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18"/>
          <p:cNvSpPr/>
          <p:nvPr/>
        </p:nvSpPr>
        <p:spPr>
          <a:xfrm>
            <a:off x="10972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Le regole si imparano giocando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9"/>
          <p:cNvSpPr/>
          <p:nvPr/>
        </p:nvSpPr>
        <p:spPr>
          <a:xfrm>
            <a:off x="10972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Non serve conoscere il sistema a memoria: giocatori esperti saranno disponibili ad aiutare.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Rounded Rectangle 20"/>
          <p:cNvSpPr/>
          <p:nvPr/>
        </p:nvSpPr>
        <p:spPr>
          <a:xfrm>
            <a:off x="62179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21"/>
          <p:cNvSpPr/>
          <p:nvPr/>
        </p:nvSpPr>
        <p:spPr>
          <a:xfrm>
            <a:off x="6382440" y="398664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22"/>
          <p:cNvSpPr/>
          <p:nvPr/>
        </p:nvSpPr>
        <p:spPr>
          <a:xfrm>
            <a:off x="65836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Costruire un background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23"/>
          <p:cNvSpPr/>
          <p:nvPr/>
        </p:nvSpPr>
        <p:spPr>
          <a:xfrm>
            <a:off x="65836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È richiesto per ogni personaggio; può essere individuale o condiviso, sempre coinvolgendo il master.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05  /  IL MASTER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Il master gioca con voi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Non è un avversario: il suo ruolo è far vivere un'esperienza coinvolgente.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78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179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180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07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Rounded Rectangle 8"/>
          <p:cNvSpPr/>
          <p:nvPr/>
        </p:nvSpPr>
        <p:spPr>
          <a:xfrm>
            <a:off x="7315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9"/>
          <p:cNvSpPr/>
          <p:nvPr/>
        </p:nvSpPr>
        <p:spPr>
          <a:xfrm>
            <a:off x="896040" y="2395800"/>
            <a:ext cx="50040" cy="91404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0"/>
          <p:cNvSpPr/>
          <p:nvPr/>
        </p:nvSpPr>
        <p:spPr>
          <a:xfrm>
            <a:off x="10972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Sfide, non una gara a eliminare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1"/>
          <p:cNvSpPr/>
          <p:nvPr/>
        </p:nvSpPr>
        <p:spPr>
          <a:xfrm>
            <a:off x="10972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master mette i personaggi davanti a situazioni significative: non ha come obiettivo ucciderli.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Rounded Rectangle 12"/>
          <p:cNvSpPr/>
          <p:nvPr/>
        </p:nvSpPr>
        <p:spPr>
          <a:xfrm>
            <a:off x="6217920" y="21762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Rectangle 13"/>
          <p:cNvSpPr/>
          <p:nvPr/>
        </p:nvSpPr>
        <p:spPr>
          <a:xfrm>
            <a:off x="6382440" y="2395800"/>
            <a:ext cx="50040" cy="914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TextBox 14"/>
          <p:cNvSpPr/>
          <p:nvPr/>
        </p:nvSpPr>
        <p:spPr>
          <a:xfrm>
            <a:off x="6583680" y="24048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Una storia condivisa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15"/>
          <p:cNvSpPr/>
          <p:nvPr/>
        </p:nvSpPr>
        <p:spPr>
          <a:xfrm>
            <a:off x="6583680" y="29808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mondo reagisce alle vostre azioni; il master non impone una trama prestabilita.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Rounded Rectangle 16"/>
          <p:cNvSpPr/>
          <p:nvPr/>
        </p:nvSpPr>
        <p:spPr>
          <a:xfrm>
            <a:off x="7315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Rectangle 17"/>
          <p:cNvSpPr/>
          <p:nvPr/>
        </p:nvSpPr>
        <p:spPr>
          <a:xfrm>
            <a:off x="896040" y="398664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8"/>
          <p:cNvSpPr/>
          <p:nvPr/>
        </p:nvSpPr>
        <p:spPr>
          <a:xfrm>
            <a:off x="10972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Spazio e ascolto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Box 19"/>
          <p:cNvSpPr/>
          <p:nvPr/>
        </p:nvSpPr>
        <p:spPr>
          <a:xfrm>
            <a:off x="10972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Tutti avranno l'opportunità di esprimersi e di approfondire il proprio background.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20"/>
          <p:cNvSpPr/>
          <p:nvPr/>
        </p:nvSpPr>
        <p:spPr>
          <a:xfrm>
            <a:off x="6217920" y="3767400"/>
            <a:ext cx="5230080" cy="1352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Rectangle 21"/>
          <p:cNvSpPr/>
          <p:nvPr/>
        </p:nvSpPr>
        <p:spPr>
          <a:xfrm>
            <a:off x="6382440" y="3986640"/>
            <a:ext cx="50040" cy="914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22"/>
          <p:cNvSpPr/>
          <p:nvPr/>
        </p:nvSpPr>
        <p:spPr>
          <a:xfrm>
            <a:off x="6583680" y="3996000"/>
            <a:ext cx="4608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Disponibilità e presenza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Box 23"/>
          <p:cNvSpPr/>
          <p:nvPr/>
        </p:nvSpPr>
        <p:spPr>
          <a:xfrm>
            <a:off x="6583680" y="4572000"/>
            <a:ext cx="46083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master è disponibile per dubbi e chiarimenti e sarà presente alle sessioni, salvo imprevisti.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06  /  IL MONDO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Skarheim è un mondo vivo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Ogni scelta può lasciare traccia, anche quando sembra irrilevante.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01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02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03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08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Box 8"/>
          <p:cNvSpPr/>
          <p:nvPr/>
        </p:nvSpPr>
        <p:spPr>
          <a:xfrm>
            <a:off x="868680" y="2286000"/>
            <a:ext cx="4754520" cy="14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f3ebdd"/>
                </a:solidFill>
                <a:latin typeface="DejaVu Serif"/>
              </a:rPr>
              <a:t>Le persone incontrate, i conflitti affrontati e le decisioni prese cambieranno ciò che accadrà.</a:t>
            </a:r>
            <a:endParaRPr b="0" lang="it-IT" sz="2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06" name="Connector 9"/>
          <p:cNvCxnSpPr/>
          <p:nvPr/>
        </p:nvCxnSpPr>
        <p:spPr>
          <a:xfrm>
            <a:off x="5989320" y="2267640"/>
            <a:ext cx="360" cy="3036240"/>
          </a:xfrm>
          <a:prstGeom prst="straightConnector1">
            <a:avLst/>
          </a:prstGeom>
          <a:ln w="12700">
            <a:solidFill>
              <a:srgbClr val="3b4a4c"/>
            </a:solidFill>
            <a:round/>
          </a:ln>
        </p:spPr>
      </p:cxnSp>
      <p:sp>
        <p:nvSpPr>
          <p:cNvPr id="207" name="TextBox 10"/>
          <p:cNvSpPr/>
          <p:nvPr/>
        </p:nvSpPr>
        <p:spPr>
          <a:xfrm>
            <a:off x="6400800" y="2359080"/>
            <a:ext cx="4571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UNA STORIA GIÀ IN MOVIMENTO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1"/>
          <p:cNvSpPr/>
          <p:nvPr/>
        </p:nvSpPr>
        <p:spPr>
          <a:xfrm>
            <a:off x="6400800" y="2853000"/>
            <a:ext cx="46630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b8b7a9"/>
                </a:solidFill>
                <a:latin typeface="DejaVu Sans"/>
              </a:rPr>
              <a:t>La campagna è anche conseguenza di avventure già vissute a Skarheim.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Box 12"/>
          <p:cNvSpPr/>
          <p:nvPr/>
        </p:nvSpPr>
        <p:spPr>
          <a:xfrm>
            <a:off x="6400800" y="3913560"/>
            <a:ext cx="4571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879985"/>
                </a:solidFill>
                <a:latin typeface="DejaVu Sans"/>
              </a:rPr>
              <a:t>ISPIRAZIONE, NON COPIA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13"/>
          <p:cNvSpPr/>
          <p:nvPr/>
        </p:nvSpPr>
        <p:spPr>
          <a:xfrm>
            <a:off x="6400800" y="4407480"/>
            <a:ext cx="466308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b8b7a9"/>
                </a:solidFill>
                <a:latin typeface="DejaVu Sans"/>
              </a:rPr>
              <a:t>Miti e leggende norrene sono un punto di partenza: questa è una reinterpretazione.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4"/>
          <p:cNvSpPr/>
          <p:nvPr/>
        </p:nvSpPr>
        <p:spPr>
          <a:xfrm>
            <a:off x="868680" y="5139000"/>
            <a:ext cx="10286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i="1" lang="en-US" sz="1700" spc="-1" strike="noStrike">
                <a:solidFill>
                  <a:srgbClr val="d1a35d"/>
                </a:solidFill>
                <a:latin typeface="DejaVu Serif"/>
              </a:rPr>
              <a:t>La nostra storia non è una riproduzione delle leggende.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07  /  PERSONAGGI E RISORSE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Interpretare. Scegliere. Amministrare.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gioco può mettere alla prova sia le convinzioni sia le risorse dei personaggi.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15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16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17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09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Rounded Rectangle 8"/>
          <p:cNvSpPr/>
          <p:nvPr/>
        </p:nvSpPr>
        <p:spPr>
          <a:xfrm>
            <a:off x="731520" y="2194560"/>
            <a:ext cx="5230080" cy="19382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Rectangle 9"/>
          <p:cNvSpPr/>
          <p:nvPr/>
        </p:nvSpPr>
        <p:spPr>
          <a:xfrm>
            <a:off x="896040" y="2414160"/>
            <a:ext cx="50040" cy="149940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10"/>
          <p:cNvSpPr/>
          <p:nvPr/>
        </p:nvSpPr>
        <p:spPr>
          <a:xfrm>
            <a:off x="1097280" y="2423160"/>
            <a:ext cx="4608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Gioca qualcuno di diverso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11"/>
          <p:cNvSpPr/>
          <p:nvPr/>
        </p:nvSpPr>
        <p:spPr>
          <a:xfrm>
            <a:off x="1097280" y="2999160"/>
            <a:ext cx="4608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Non aver paura di interpretare caratteristiche, convinzioni e personalità lontane dalle tue: immedesimarsi fa parte del gioco.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Rounded Rectangle 12"/>
          <p:cNvSpPr/>
          <p:nvPr/>
        </p:nvSpPr>
        <p:spPr>
          <a:xfrm>
            <a:off x="6217920" y="2194560"/>
            <a:ext cx="5230080" cy="19382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Rectangle 13"/>
          <p:cNvSpPr/>
          <p:nvPr/>
        </p:nvSpPr>
        <p:spPr>
          <a:xfrm>
            <a:off x="6382440" y="2414160"/>
            <a:ext cx="50040" cy="149940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14"/>
          <p:cNvSpPr/>
          <p:nvPr/>
        </p:nvSpPr>
        <p:spPr>
          <a:xfrm>
            <a:off x="6583680" y="2423160"/>
            <a:ext cx="4608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Le risorse non sono infinite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5"/>
          <p:cNvSpPr/>
          <p:nvPr/>
        </p:nvSpPr>
        <p:spPr>
          <a:xfrm>
            <a:off x="6583680" y="2999160"/>
            <a:ext cx="46083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Ricchezze e approvvigionamenti potrebbero essere limitati: gestirli farà parte dell'esperienza.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Rounded Rectangle 16"/>
          <p:cNvSpPr/>
          <p:nvPr/>
        </p:nvSpPr>
        <p:spPr>
          <a:xfrm>
            <a:off x="2971800" y="4572000"/>
            <a:ext cx="6235920" cy="74952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17"/>
          <p:cNvSpPr/>
          <p:nvPr/>
        </p:nvSpPr>
        <p:spPr>
          <a:xfrm>
            <a:off x="3154680" y="4783320"/>
            <a:ext cx="5870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900" spc="-1" strike="noStrike">
                <a:solidFill>
                  <a:srgbClr val="d1a35d"/>
                </a:solidFill>
                <a:latin typeface="DejaVu Serif"/>
              </a:rPr>
              <a:t>1 MONETA D'ORO (MO)  =  1 PASTO</a:t>
            </a:r>
            <a:endParaRPr b="0" lang="it-IT" sz="1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08  /  CONFLITTO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Il combattimento non è la risposta automatica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Gli scontri non sono il fulcro dell'avventura e molti saranno evitabili.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32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33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34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10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8"/>
          <p:cNvSpPr/>
          <p:nvPr/>
        </p:nvSpPr>
        <p:spPr>
          <a:xfrm>
            <a:off x="896040" y="2267640"/>
            <a:ext cx="4983120" cy="96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f3ebdd"/>
                </a:solidFill>
                <a:latin typeface="DejaVu Serif"/>
              </a:rPr>
              <a:t>Se cerchi una campagna in cui si combatte a ogni sessione, questa potrebbe non fare per te.</a:t>
            </a:r>
            <a:endParaRPr b="0" lang="it-IT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9"/>
          <p:cNvSpPr/>
          <p:nvPr/>
        </p:nvSpPr>
        <p:spPr>
          <a:xfrm>
            <a:off x="896040" y="404172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d1a35d"/>
                </a:solidFill>
                <a:latin typeface="DejaVu Sans"/>
              </a:rPr>
              <a:t>Le vostre scelte possono portare allo scontro — oppure evitarlo.</a:t>
            </a:r>
            <a:endParaRPr b="0" lang="it-IT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Rounded Rectangle 10"/>
          <p:cNvSpPr/>
          <p:nvPr/>
        </p:nvSpPr>
        <p:spPr>
          <a:xfrm>
            <a:off x="6263640" y="2286000"/>
            <a:ext cx="5120280" cy="77400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6428160" y="2505600"/>
            <a:ext cx="50040" cy="34704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629400" y="2514600"/>
            <a:ext cx="44985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3ebdd"/>
                </a:solidFill>
                <a:latin typeface="DejaVu Serif"/>
              </a:rPr>
              <a:t>Dialogo</a:t>
            </a:r>
            <a:endParaRPr b="0" lang="it-IT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13"/>
          <p:cNvSpPr/>
          <p:nvPr/>
        </p:nvSpPr>
        <p:spPr>
          <a:xfrm>
            <a:off x="6629400" y="2817720"/>
            <a:ext cx="4498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b8b7a9"/>
                </a:solidFill>
                <a:latin typeface="DejaVu Sans"/>
              </a:rPr>
              <a:t>Capire le ragioni degli altri.</a:t>
            </a:r>
            <a:endParaRPr b="0" lang="it-I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Rounded Rectangle 14"/>
          <p:cNvSpPr/>
          <p:nvPr/>
        </p:nvSpPr>
        <p:spPr>
          <a:xfrm>
            <a:off x="6263640" y="3273480"/>
            <a:ext cx="5120280" cy="785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15"/>
          <p:cNvSpPr/>
          <p:nvPr/>
        </p:nvSpPr>
        <p:spPr>
          <a:xfrm>
            <a:off x="6428160" y="3493080"/>
            <a:ext cx="50040" cy="34704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6"/>
          <p:cNvSpPr/>
          <p:nvPr/>
        </p:nvSpPr>
        <p:spPr>
          <a:xfrm>
            <a:off x="6629400" y="3502080"/>
            <a:ext cx="44985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3ebdd"/>
                </a:solidFill>
                <a:latin typeface="DejaVu Serif"/>
              </a:rPr>
              <a:t>Diplomazia</a:t>
            </a:r>
            <a:endParaRPr b="0" lang="it-IT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17"/>
          <p:cNvSpPr/>
          <p:nvPr/>
        </p:nvSpPr>
        <p:spPr>
          <a:xfrm>
            <a:off x="6629400" y="3805200"/>
            <a:ext cx="4498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b8b7a9"/>
                </a:solidFill>
                <a:latin typeface="DejaVu Sans"/>
              </a:rPr>
              <a:t>Cercare un accordo.</a:t>
            </a:r>
            <a:endParaRPr b="0" lang="it-I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18"/>
          <p:cNvSpPr/>
          <p:nvPr/>
        </p:nvSpPr>
        <p:spPr>
          <a:xfrm>
            <a:off x="6263640" y="4260960"/>
            <a:ext cx="5120280" cy="78588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ectangle 19"/>
          <p:cNvSpPr/>
          <p:nvPr/>
        </p:nvSpPr>
        <p:spPr>
          <a:xfrm>
            <a:off x="6428160" y="4480560"/>
            <a:ext cx="50040" cy="34704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20"/>
          <p:cNvSpPr/>
          <p:nvPr/>
        </p:nvSpPr>
        <p:spPr>
          <a:xfrm>
            <a:off x="6629400" y="4489560"/>
            <a:ext cx="44985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3ebdd"/>
                </a:solidFill>
                <a:latin typeface="DejaVu Serif"/>
              </a:rPr>
              <a:t>Inganno e altre vie</a:t>
            </a:r>
            <a:endParaRPr b="0" lang="it-IT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Box 21"/>
          <p:cNvSpPr/>
          <p:nvPr/>
        </p:nvSpPr>
        <p:spPr>
          <a:xfrm>
            <a:off x="6629400" y="4793040"/>
            <a:ext cx="44985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b8b7a9"/>
                </a:solidFill>
                <a:latin typeface="DejaVu Sans"/>
              </a:rPr>
              <a:t>Un conflitto può avere più soluzioni.</a:t>
            </a:r>
            <a:endParaRPr b="0" lang="it-IT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09  /  SISTEMA DI GIOCO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D&amp;D 3.5, con regole su misura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La campagna usa una versione personalizzata e collaudata nel tempo.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53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54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55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11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Rounded Rectangle 8"/>
          <p:cNvSpPr/>
          <p:nvPr/>
        </p:nvSpPr>
        <p:spPr>
          <a:xfrm>
            <a:off x="731520" y="2212920"/>
            <a:ext cx="3456000" cy="178272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Rectangle 9"/>
          <p:cNvSpPr/>
          <p:nvPr/>
        </p:nvSpPr>
        <p:spPr>
          <a:xfrm>
            <a:off x="896040" y="2432160"/>
            <a:ext cx="50040" cy="134388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10"/>
          <p:cNvSpPr/>
          <p:nvPr/>
        </p:nvSpPr>
        <p:spPr>
          <a:xfrm>
            <a:off x="1097280" y="2441520"/>
            <a:ext cx="2834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D20 System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11"/>
          <p:cNvSpPr/>
          <p:nvPr/>
        </p:nvSpPr>
        <p:spPr>
          <a:xfrm>
            <a:off x="1097280" y="3017520"/>
            <a:ext cx="28342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Il sistema di gioco di riferimento.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12"/>
          <p:cNvSpPr/>
          <p:nvPr/>
        </p:nvSpPr>
        <p:spPr>
          <a:xfrm>
            <a:off x="4370760" y="2212920"/>
            <a:ext cx="3456000" cy="178272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Rectangle 13"/>
          <p:cNvSpPr/>
          <p:nvPr/>
        </p:nvSpPr>
        <p:spPr>
          <a:xfrm>
            <a:off x="4535280" y="2432160"/>
            <a:ext cx="50040" cy="134388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14"/>
          <p:cNvSpPr/>
          <p:nvPr/>
        </p:nvSpPr>
        <p:spPr>
          <a:xfrm>
            <a:off x="4736520" y="2441520"/>
            <a:ext cx="2834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Regole homebrew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Box 15"/>
          <p:cNvSpPr/>
          <p:nvPr/>
        </p:nvSpPr>
        <p:spPr>
          <a:xfrm>
            <a:off x="4736520" y="30175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Regole personalizzate saranno presentate durante la campagna.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ounded Rectangle 16"/>
          <p:cNvSpPr/>
          <p:nvPr/>
        </p:nvSpPr>
        <p:spPr>
          <a:xfrm>
            <a:off x="8028360" y="2212920"/>
            <a:ext cx="3456000" cy="178272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Rectangle 17"/>
          <p:cNvSpPr/>
          <p:nvPr/>
        </p:nvSpPr>
        <p:spPr>
          <a:xfrm>
            <a:off x="8192880" y="2432160"/>
            <a:ext cx="50040" cy="1343880"/>
          </a:xfrm>
          <a:prstGeom prst="rect">
            <a:avLst/>
          </a:prstGeom>
          <a:solidFill>
            <a:srgbClr val="bd78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TextBox 18"/>
          <p:cNvSpPr/>
          <p:nvPr/>
        </p:nvSpPr>
        <p:spPr>
          <a:xfrm>
            <a:off x="8394120" y="2441520"/>
            <a:ext cx="2834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Manuali come guida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Box 19"/>
          <p:cNvSpPr/>
          <p:nvPr/>
        </p:nvSpPr>
        <p:spPr>
          <a:xfrm>
            <a:off x="8394120" y="3017520"/>
            <a:ext cx="2834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Le regole ufficiali non sono intoccabili: conta l'approvazione del master.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0"/>
          <p:cNvSpPr/>
          <p:nvPr/>
        </p:nvSpPr>
        <p:spPr>
          <a:xfrm>
            <a:off x="1188720" y="4480560"/>
            <a:ext cx="9829440" cy="7858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21"/>
          <p:cNvSpPr/>
          <p:nvPr/>
        </p:nvSpPr>
        <p:spPr>
          <a:xfrm>
            <a:off x="1417320" y="4748040"/>
            <a:ext cx="937224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700" spc="-1" strike="noStrike">
                <a:solidFill>
                  <a:srgbClr val="f3ebdd"/>
                </a:solidFill>
                <a:latin typeface="DejaVu Serif"/>
              </a:rPr>
              <a:t>Power play fortemente sconsigliato: l'obiettivo è giocare insieme.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10  /  MATERIALI DI GIOCO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Manuali consentiti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Il materiale ufficiale è disponibile: non serve acquistare manuali.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74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75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76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12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8"/>
          <p:cNvSpPr/>
          <p:nvPr/>
        </p:nvSpPr>
        <p:spPr>
          <a:xfrm>
            <a:off x="777240" y="2240280"/>
            <a:ext cx="5074560" cy="22856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TextBox 9"/>
          <p:cNvSpPr/>
          <p:nvPr/>
        </p:nvSpPr>
        <p:spPr>
          <a:xfrm>
            <a:off x="1143000" y="2560320"/>
            <a:ext cx="438876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SISTEMI AMMESSI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Box 10"/>
          <p:cNvSpPr/>
          <p:nvPr/>
        </p:nvSpPr>
        <p:spPr>
          <a:xfrm>
            <a:off x="1170360" y="3063240"/>
            <a:ext cx="438876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2200" spc="-1" strike="noStrike">
                <a:solidFill>
                  <a:srgbClr val="f3ebdd"/>
                </a:solidFill>
                <a:latin typeface="DejaVu Serif"/>
              </a:rPr>
              <a:t>D&amp;D 3.5</a:t>
            </a:r>
            <a:endParaRPr b="0" lang="it-IT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3ebdd"/>
                </a:solidFill>
                <a:latin typeface="DejaVu Serif"/>
              </a:rPr>
              <a:t>Pathfinder</a:t>
            </a:r>
            <a:endParaRPr b="0" lang="it-IT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Rounded Rectangle 11"/>
          <p:cNvSpPr/>
          <p:nvPr/>
        </p:nvSpPr>
        <p:spPr>
          <a:xfrm>
            <a:off x="6172200" y="2240280"/>
            <a:ext cx="5211720" cy="22856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2"/>
          <p:cNvSpPr/>
          <p:nvPr/>
        </p:nvSpPr>
        <p:spPr>
          <a:xfrm>
            <a:off x="6537960" y="2560320"/>
            <a:ext cx="44802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879985"/>
                </a:solidFill>
                <a:latin typeface="DejaVu Sans"/>
              </a:rPr>
              <a:t>PRIMA DI USARLI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Box 13"/>
          <p:cNvSpPr/>
          <p:nvPr/>
        </p:nvSpPr>
        <p:spPr>
          <a:xfrm>
            <a:off x="6537960" y="3063240"/>
            <a:ext cx="443448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b8b7a9"/>
                </a:solidFill>
                <a:latin typeface="DejaVu Sans"/>
              </a:rPr>
              <a:t>Ogni opzione va approvata dal master, soprattutto se entra in conflitto con le regole personalizzate.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14"/>
          <p:cNvSpPr/>
          <p:nvPr/>
        </p:nvSpPr>
        <p:spPr>
          <a:xfrm>
            <a:off x="1005840" y="4983480"/>
            <a:ext cx="1019520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d1a35d"/>
                </a:solidFill>
                <a:latin typeface="DejaVu Serif"/>
              </a:rPr>
              <a:t>I manuali sono già in possesso del master.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11  /  OCCORRENTE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Cosa portare alla sessione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Poche cose pratiche per essere pronti a giocare.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288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289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290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13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749880" y="2212920"/>
            <a:ext cx="3337200" cy="187416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914400" y="2432160"/>
            <a:ext cx="50040" cy="143532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115640" y="2441520"/>
            <a:ext cx="27154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700" spc="-1" strike="noStrike">
                <a:solidFill>
                  <a:srgbClr val="f3ebdd"/>
                </a:solidFill>
                <a:latin typeface="DejaVu Serif"/>
              </a:rPr>
              <a:t>Scrivere e correggere</a:t>
            </a:r>
            <a:endParaRPr b="0" lang="it-IT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1115640" y="3017520"/>
            <a:ext cx="27154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Una matita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Una gomma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Un quaderno o un dispositivo per gli appunti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12"/>
          <p:cNvSpPr/>
          <p:nvPr/>
        </p:nvSpPr>
        <p:spPr>
          <a:xfrm>
            <a:off x="4370760" y="2212920"/>
            <a:ext cx="7040520" cy="187416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709160" y="2487240"/>
            <a:ext cx="6309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SET DI DADI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14"/>
          <p:cNvSpPr/>
          <p:nvPr/>
        </p:nvSpPr>
        <p:spPr>
          <a:xfrm>
            <a:off x="466344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15"/>
          <p:cNvSpPr/>
          <p:nvPr/>
        </p:nvSpPr>
        <p:spPr>
          <a:xfrm>
            <a:off x="470016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d20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ounded Rectangle 16"/>
          <p:cNvSpPr/>
          <p:nvPr/>
        </p:nvSpPr>
        <p:spPr>
          <a:xfrm>
            <a:off x="555948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559620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d100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Rounded Rectangle 18"/>
          <p:cNvSpPr/>
          <p:nvPr/>
        </p:nvSpPr>
        <p:spPr>
          <a:xfrm>
            <a:off x="645552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TextBox 19"/>
          <p:cNvSpPr/>
          <p:nvPr/>
        </p:nvSpPr>
        <p:spPr>
          <a:xfrm>
            <a:off x="649224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d12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20"/>
          <p:cNvSpPr/>
          <p:nvPr/>
        </p:nvSpPr>
        <p:spPr>
          <a:xfrm>
            <a:off x="735192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21"/>
          <p:cNvSpPr/>
          <p:nvPr/>
        </p:nvSpPr>
        <p:spPr>
          <a:xfrm>
            <a:off x="738828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d10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ounded Rectangle 22"/>
          <p:cNvSpPr/>
          <p:nvPr/>
        </p:nvSpPr>
        <p:spPr>
          <a:xfrm>
            <a:off x="824796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828432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d8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4"/>
          <p:cNvSpPr/>
          <p:nvPr/>
        </p:nvSpPr>
        <p:spPr>
          <a:xfrm>
            <a:off x="914400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918072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d6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6"/>
          <p:cNvSpPr/>
          <p:nvPr/>
        </p:nvSpPr>
        <p:spPr>
          <a:xfrm>
            <a:off x="10040040" y="3063240"/>
            <a:ext cx="758520" cy="65808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10076760" y="3260880"/>
            <a:ext cx="68544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f3ebdd"/>
                </a:solidFill>
                <a:latin typeface="DejaVu Serif"/>
              </a:rPr>
              <a:t>d4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4480560" y="4526280"/>
            <a:ext cx="67204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d1a35d"/>
                </a:solidFill>
                <a:latin typeface="DejaVu Serif"/>
              </a:rPr>
              <a:t>Totale: 7 dadi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Box 1"/>
          <p:cNvSpPr/>
          <p:nvPr/>
        </p:nvSpPr>
        <p:spPr>
          <a:xfrm>
            <a:off x="658440" y="393120"/>
            <a:ext cx="804636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d1a35d"/>
                </a:solidFill>
                <a:latin typeface="DejaVu Sans"/>
              </a:rPr>
              <a:t>12  /  PUNTI E COSTI</a:t>
            </a:r>
            <a:endParaRPr b="0" lang="it-I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2"/>
          <p:cNvSpPr/>
          <p:nvPr/>
        </p:nvSpPr>
        <p:spPr>
          <a:xfrm>
            <a:off x="658440" y="749880"/>
            <a:ext cx="10881000" cy="44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2900" spc="-1" strike="noStrike">
                <a:solidFill>
                  <a:srgbClr val="f3ebdd"/>
                </a:solidFill>
                <a:latin typeface="DejaVu Serif"/>
              </a:rPr>
              <a:t>La classifica e la cassa comune</a:t>
            </a:r>
            <a:endParaRPr b="0" lang="it-IT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"/>
          <p:cNvSpPr/>
          <p:nvPr/>
        </p:nvSpPr>
        <p:spPr>
          <a:xfrm>
            <a:off x="685800" y="1389960"/>
            <a:ext cx="106981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rgbClr val="b8b7a9"/>
                </a:solidFill>
                <a:latin typeface="DejaVu Sans"/>
              </a:rPr>
              <a:t>Due aspetti pratici da conoscere prima dell'inizio.</a:t>
            </a:r>
            <a:endParaRPr b="0" lang="it-IT" sz="13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16" name="Connector 4"/>
          <p:cNvCxnSpPr/>
          <p:nvPr/>
        </p:nvCxnSpPr>
        <p:spPr>
          <a:xfrm>
            <a:off x="658080" y="1938240"/>
            <a:ext cx="10863720" cy="360"/>
          </a:xfrm>
          <a:prstGeom prst="straightConnector1">
            <a:avLst/>
          </a:prstGeom>
          <a:ln w="10160">
            <a:solidFill>
              <a:srgbClr val="3b4a4c"/>
            </a:solidFill>
            <a:round/>
          </a:ln>
        </p:spPr>
      </p:cxnSp>
      <p:cxnSp>
        <p:nvCxnSpPr>
          <p:cNvPr id="317" name="Connector 5"/>
          <p:cNvCxnSpPr/>
          <p:nvPr/>
        </p:nvCxnSpPr>
        <p:spPr>
          <a:xfrm>
            <a:off x="658080" y="6473880"/>
            <a:ext cx="10863720" cy="360"/>
          </a:xfrm>
          <a:prstGeom prst="straightConnector1">
            <a:avLst/>
          </a:prstGeom>
          <a:ln w="8890">
            <a:solidFill>
              <a:srgbClr val="3b4a4c"/>
            </a:solidFill>
            <a:round/>
          </a:ln>
        </p:spPr>
      </p:cxnSp>
      <p:sp>
        <p:nvSpPr>
          <p:cNvPr id="318" name="TextBox 6"/>
          <p:cNvSpPr/>
          <p:nvPr/>
        </p:nvSpPr>
        <p:spPr>
          <a:xfrm>
            <a:off x="676800" y="6528960"/>
            <a:ext cx="77720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Box 7"/>
          <p:cNvSpPr/>
          <p:nvPr/>
        </p:nvSpPr>
        <p:spPr>
          <a:xfrm>
            <a:off x="10881360" y="6510600"/>
            <a:ext cx="59400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900" spc="-1" strike="noStrike">
                <a:solidFill>
                  <a:srgbClr val="d1a35d"/>
                </a:solidFill>
                <a:latin typeface="DejaVu Sans"/>
              </a:rPr>
              <a:t>14</a:t>
            </a:r>
            <a:endParaRPr b="0" lang="it-I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Rounded Rectangle 8"/>
          <p:cNvSpPr/>
          <p:nvPr/>
        </p:nvSpPr>
        <p:spPr>
          <a:xfrm>
            <a:off x="777240" y="2240280"/>
            <a:ext cx="5074560" cy="20570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Rectangle 9"/>
          <p:cNvSpPr/>
          <p:nvPr/>
        </p:nvSpPr>
        <p:spPr>
          <a:xfrm>
            <a:off x="941760" y="2459880"/>
            <a:ext cx="50040" cy="1618200"/>
          </a:xfrm>
          <a:prstGeom prst="rect">
            <a:avLst/>
          </a:prstGeom>
          <a:solidFill>
            <a:srgbClr val="d1a3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10"/>
          <p:cNvSpPr/>
          <p:nvPr/>
        </p:nvSpPr>
        <p:spPr>
          <a:xfrm>
            <a:off x="1143000" y="2468880"/>
            <a:ext cx="44528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1 punto a sessione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11"/>
          <p:cNvSpPr/>
          <p:nvPr/>
        </p:nvSpPr>
        <p:spPr>
          <a:xfrm>
            <a:off x="1143000" y="3044880"/>
            <a:ext cx="445284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A fine sessione, ogni giocatore assegna 1 punto a chi, secondo lui, ha interpretato meglio il proprio personaggio. I punti formeranno la classifica finale.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12"/>
          <p:cNvSpPr/>
          <p:nvPr/>
        </p:nvSpPr>
        <p:spPr>
          <a:xfrm>
            <a:off x="6172200" y="2240280"/>
            <a:ext cx="5211720" cy="2057040"/>
          </a:xfrm>
          <a:prstGeom prst="roundRect">
            <a:avLst>
              <a:gd name="adj" fmla="val 16667"/>
            </a:avLst>
          </a:prstGeom>
          <a:solidFill>
            <a:srgbClr val="1c2a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Rectangle 13"/>
          <p:cNvSpPr/>
          <p:nvPr/>
        </p:nvSpPr>
        <p:spPr>
          <a:xfrm>
            <a:off x="6336720" y="2459880"/>
            <a:ext cx="50040" cy="1618200"/>
          </a:xfrm>
          <a:prstGeom prst="rect">
            <a:avLst/>
          </a:prstGeom>
          <a:solidFill>
            <a:srgbClr val="87998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14"/>
          <p:cNvSpPr/>
          <p:nvPr/>
        </p:nvSpPr>
        <p:spPr>
          <a:xfrm>
            <a:off x="6537960" y="2468880"/>
            <a:ext cx="459000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3ebdd"/>
                </a:solidFill>
                <a:latin typeface="DejaVu Serif"/>
              </a:rPr>
              <a:t>Contributo di 1 €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Box 15"/>
          <p:cNvSpPr/>
          <p:nvPr/>
        </p:nvSpPr>
        <p:spPr>
          <a:xfrm>
            <a:off x="6537960" y="3044880"/>
            <a:ext cx="4590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b8b7a9"/>
                </a:solidFill>
                <a:latin typeface="DejaVu Sans"/>
              </a:rPr>
              <a:t>Oltre al pagamento della sala, si verserà 1 € per sessione in una cassa comune.</a:t>
            </a: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Rounded Rectangle 16"/>
          <p:cNvSpPr/>
          <p:nvPr/>
        </p:nvSpPr>
        <p:spPr>
          <a:xfrm>
            <a:off x="1325880" y="4645080"/>
            <a:ext cx="9555120" cy="712800"/>
          </a:xfrm>
          <a:prstGeom prst="roundRect">
            <a:avLst>
              <a:gd name="adj" fmla="val 16667"/>
            </a:avLst>
          </a:prstGeom>
          <a:solidFill>
            <a:srgbClr val="2434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TextBox 17"/>
          <p:cNvSpPr/>
          <p:nvPr/>
        </p:nvSpPr>
        <p:spPr>
          <a:xfrm>
            <a:off x="1554480" y="4861080"/>
            <a:ext cx="909792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f3ebdd"/>
                </a:solidFill>
                <a:latin typeface="DejaVu Serif"/>
              </a:rPr>
              <a:t>A fine campagna: buoni negozio distribuiti secondo la classifica.</a:t>
            </a:r>
            <a:endParaRPr b="0" lang="it-IT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b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Connector 1"/>
          <p:cNvCxnSpPr/>
          <p:nvPr/>
        </p:nvCxnSpPr>
        <p:spPr>
          <a:xfrm>
            <a:off x="731520" y="685800"/>
            <a:ext cx="10698840" cy="360"/>
          </a:xfrm>
          <a:prstGeom prst="straightConnector1">
            <a:avLst/>
          </a:prstGeom>
          <a:ln w="11430">
            <a:solidFill>
              <a:srgbClr val="3b4a4c"/>
            </a:solidFill>
            <a:round/>
          </a:ln>
        </p:spPr>
      </p:cxnSp>
      <p:cxnSp>
        <p:nvCxnSpPr>
          <p:cNvPr id="331" name="Connector 2"/>
          <p:cNvCxnSpPr/>
          <p:nvPr/>
        </p:nvCxnSpPr>
        <p:spPr>
          <a:xfrm>
            <a:off x="731520" y="6235920"/>
            <a:ext cx="10698840" cy="360"/>
          </a:xfrm>
          <a:prstGeom prst="straightConnector1">
            <a:avLst/>
          </a:prstGeom>
          <a:ln w="11430">
            <a:solidFill>
              <a:srgbClr val="3b4a4c"/>
            </a:solidFill>
            <a:round/>
          </a:ln>
        </p:spPr>
      </p:cxnSp>
      <p:sp>
        <p:nvSpPr>
          <p:cNvPr id="332" name="TextBox 3"/>
          <p:cNvSpPr/>
          <p:nvPr/>
        </p:nvSpPr>
        <p:spPr>
          <a:xfrm>
            <a:off x="1005840" y="1124640"/>
            <a:ext cx="1014948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d1a35d"/>
                </a:solidFill>
                <a:latin typeface="DejaVu Sans"/>
              </a:rPr>
              <a:t>IL MONDO VI ASPETTA</a:t>
            </a:r>
            <a:endParaRPr b="0" lang="it-I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4"/>
          <p:cNvSpPr/>
          <p:nvPr/>
        </p:nvSpPr>
        <p:spPr>
          <a:xfrm>
            <a:off x="1097280" y="1874520"/>
            <a:ext cx="9966600" cy="47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100" spc="-1" strike="noStrike">
                <a:solidFill>
                  <a:srgbClr val="f3ebdd"/>
                </a:solidFill>
                <a:latin typeface="DejaVu Serif"/>
              </a:rPr>
              <a:t>Skarheim reagirà alle vostre scelte.</a:t>
            </a:r>
            <a:endParaRPr b="0" lang="it-IT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5"/>
          <p:cNvSpPr/>
          <p:nvPr/>
        </p:nvSpPr>
        <p:spPr>
          <a:xfrm>
            <a:off x="2011680" y="3246120"/>
            <a:ext cx="813780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b8b7a9"/>
                </a:solidFill>
                <a:latin typeface="DejaVu Serif"/>
              </a:rPr>
              <a:t>Il master fornirà il mondo.</a:t>
            </a:r>
            <a:endParaRPr b="0" lang="it-IT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Box 6"/>
          <p:cNvSpPr/>
          <p:nvPr/>
        </p:nvSpPr>
        <p:spPr>
          <a:xfrm>
            <a:off x="2011680" y="4160520"/>
            <a:ext cx="813780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2500" spc="-1" strike="noStrike">
                <a:solidFill>
                  <a:srgbClr val="d1a35d"/>
                </a:solidFill>
                <a:latin typeface="DejaVu Serif"/>
              </a:rPr>
              <a:t>Voi deciderete cosa farne.</a:t>
            </a:r>
            <a:endParaRPr b="0" lang="it-IT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Box 7"/>
          <p:cNvSpPr/>
          <p:nvPr/>
        </p:nvSpPr>
        <p:spPr>
          <a:xfrm>
            <a:off x="1005840" y="6446520"/>
            <a:ext cx="101494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800" spc="-1" strike="noStrike">
                <a:solidFill>
                  <a:srgbClr val="b8b7a9"/>
                </a:solidFill>
                <a:latin typeface="DejaVu Sans"/>
              </a:rPr>
              <a:t>SKARHEIM  /  L'EREDITÀ DI DAVEN</a:t>
            </a:r>
            <a:endParaRPr b="0" lang="it-IT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LibreOffice/7.4.7.2$Windows_X86_64 LibreOffice_project/723314e595e8007d3cf785c16538505a1c878ca5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it-IT</dc:language>
  <cp:lastModifiedBy/>
  <dcterms:modified xsi:type="dcterms:W3CDTF">2026-10-15T12:35:11Z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